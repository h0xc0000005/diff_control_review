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43000"/>
            <a:ext cx="146304" cy="4069080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17320"/>
            <a:ext cx="9875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Differentiable Minimal Mesoscopic Traffic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78892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DDCE4"/>
                </a:solidFill>
                <a:latin typeface="Calibri"/>
              </a:rPr>
              <a:t>Implementation progress through Milestone 0 · Component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50749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Project implementation overview · 28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960120" cy="612648"/>
          </a:xfrm>
          <a:prstGeom prst="roundRect">
            <a:avLst/>
          </a:prstGeom>
          <a:solidFill>
            <a:srgbClr val="208991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234440"/>
            <a:ext cx="9281160" cy="61264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Scientific target and engineering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960120" cy="612648"/>
          </a:xfrm>
          <a:prstGeom prst="roundRect">
            <a:avLst/>
          </a:prstGeom>
          <a:solidFill>
            <a:srgbClr val="208991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176272"/>
            <a:ext cx="9281160" cy="61264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Milestone/phase architecture and implementation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18104"/>
            <a:ext cx="960120" cy="612648"/>
          </a:xfrm>
          <a:prstGeom prst="roundRect">
            <a:avLst/>
          </a:prstGeom>
          <a:solidFill>
            <a:srgbClr val="208991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3118104"/>
            <a:ext cx="9281160" cy="61264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Implemented components 0.1–0.5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5"/>
            <a:ext cx="960120" cy="612648"/>
          </a:xfrm>
          <a:prstGeom prst="roundRect">
            <a:avLst/>
          </a:prstGeom>
          <a:solidFill>
            <a:srgbClr val="208991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059935"/>
            <a:ext cx="9281160" cy="61264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Major design questions considered and resolved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Scientific target → implementation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57800" cy="182880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Research question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How much traffic discreteness is needed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for useful signal-control gradients?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234440"/>
            <a:ext cx="5257800" cy="18288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18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Working hypothesis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Continuous mass + selected discrete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route/order/lane semantics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97880" y="2148840"/>
            <a:ext cx="338328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3703320"/>
            <a:ext cx="10378440" cy="205740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Start from a transparent, differentiable aggregate LTM baseline.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Keep structural identities fixed; differentiate only continuous traffic and control paths.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Add mesoscopic order/lane detail later and test forward fidelity, gradient fidelity, and usefulness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Gated workflow and component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1389888" cy="932688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0.1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FD + units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1368" y="1792224"/>
            <a:ext cx="237744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75688" y="1325880"/>
            <a:ext cx="1389888" cy="932688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0.2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LTM link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65576" y="1792224"/>
            <a:ext cx="237744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39896" y="1325880"/>
            <a:ext cx="1389888" cy="932688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0.3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Movement map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9783" y="1792224"/>
            <a:ext cx="237745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04104" y="1325880"/>
            <a:ext cx="1389888" cy="932688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0.4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Node solver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93992" y="1792224"/>
            <a:ext cx="237744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68312" y="1325880"/>
            <a:ext cx="1389888" cy="932688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0.5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Signal 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58200" y="1792224"/>
            <a:ext cx="237744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32519" y="1325880"/>
            <a:ext cx="1389888" cy="93268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D49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0.6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Rollout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22407" y="1792224"/>
            <a:ext cx="237744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396728" y="1325880"/>
            <a:ext cx="1389888" cy="93268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D49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0.7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Gradients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10698480" cy="233172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Phases A–C froze the complete system before component implementation.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Each component follows Dᵢ implementation → Eᵢ evidence → user checkpoint.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Components 0.1–0.5 are accepted by the latest feedback and validated independently.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Components 0.6–0.7 and milestone integration remain gated future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Milestones, phases, and component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3520440" cy="10515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Milestone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One scientifically distinct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051560"/>
            <a:ext cx="3520440" cy="10515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Phase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One approval or execution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051560"/>
            <a:ext cx="3520440" cy="10515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Component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One dependency-ordered subsystem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06040"/>
            <a:ext cx="1417320" cy="9144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18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A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Propose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3063240"/>
            <a:ext cx="228600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77440" y="2606040"/>
            <a:ext cx="1417320" cy="9144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18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B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Discuss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3063240"/>
            <a:ext cx="228600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606040"/>
            <a:ext cx="1417320" cy="9144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18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C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Freeze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0" y="3063240"/>
            <a:ext cx="228600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60720" y="2606040"/>
            <a:ext cx="1965960" cy="9144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18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Dᵢ/Eᵢ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Build + check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80" y="3063240"/>
            <a:ext cx="228600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2606040"/>
            <a:ext cx="2240280" cy="9144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18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Integration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Compose + check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41280" y="3063240"/>
            <a:ext cx="228600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515600" y="2606040"/>
            <a:ext cx="1417320" cy="9144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18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F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10515600" cy="160020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A component checkpoint establishes a trusted dependency; it is not a new scientific milestone.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Scientific ambiguities stop the gate; implementation-conformance errors may be fixed within scope.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Integration begins only after every component checkpoint is explicitly accepted.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Project milestone design and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914400" cy="530352"/>
          </a:xfrm>
          <a:prstGeom prst="roundRect">
            <a:avLst/>
          </a:prstGeom>
          <a:solidFill>
            <a:srgbClr val="208991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960120"/>
            <a:ext cx="5760720" cy="530352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Differentiable aggregate LTM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73352"/>
            <a:ext cx="91440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61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673352"/>
            <a:ext cx="576072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Ordered continuous route-mass 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86584"/>
            <a:ext cx="91440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61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386584"/>
            <a:ext cx="576072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Per-lane cumulative-mass interaction zone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99815"/>
            <a:ext cx="91440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61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099815"/>
            <a:ext cx="576072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Lane allocation, finite storage, exact FIFO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13048"/>
            <a:ext cx="91440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61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3813048"/>
            <a:ext cx="576072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Matched macro–meso sensitivity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526280"/>
            <a:ext cx="91440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61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4526280"/>
            <a:ext cx="576072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Fixed-time signal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239512"/>
            <a:ext cx="91440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61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239512"/>
            <a:ext cx="5760720" cy="53035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Cross-fidelity transfer to a richer simulator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960120"/>
            <a:ext cx="3794760" cy="480060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Why this separation?</a:t>
            </a:r>
            <a:br/>
            <a:br/>
            <a:r>
              <a:rPr sz="1800" b="0">
                <a:solidFill>
                  <a:srgbClr val="202830"/>
                </a:solidFill>
                <a:latin typeface="Calibri"/>
              </a:rPr>
              <a:t>• Establish aggregate physics before metadata.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• Add local behavior only after conservative coupling.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• Isolate representation effects from optimization effects.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• Test numerical gradients before claiming usefulness.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• Reserve cross-fidelity claims for the final evidence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Implementation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429000" cy="114300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Small semantic modules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One scientific responsibility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43000"/>
            <a:ext cx="3429000" cy="11430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Typed explicit interfaces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Shapes · units · dtype ·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43000"/>
            <a:ext cx="3429000" cy="114300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Pure tensor operations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Out-of-place state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0515600" cy="233172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Keep topology, movement identity, routes, and phase permissions structural.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Keep continuous mass, cumulative counts, flows, and green exposure on the AD path.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Prefer established traffic equations and independently readable reference implementations.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Implement the smallest transparent baseline before optimizing storage or batching.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Important implementation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429000" cy="114300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Conservation first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No silent mass loss or repair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43000"/>
            <a:ext cx="3429000" cy="11430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Piecewise gradients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Stable regimes ≠ event 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43000"/>
            <a:ext cx="3429000" cy="114300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Model boundaries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Do not overclaim fidelity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0515600" cy="233172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Reject invalid scientific inputs; do not clip, normalize, smooth, or add epsilon fallbacks.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Validate hand equations and forward invariants before testing gradients.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Compare reverse AD, JVP, and central differences only away from active-set boundaries.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Separate continuum-signal arithmetic correctness from finite-cycle behavioral fidelity.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Component 0.1 — traffic units and triangular FD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657600" cy="12801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Inputs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v, w, jam density, link length, Δt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234440"/>
            <a:ext cx="3108960" cy="12801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Derived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capacity, storage, τf, τb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234440"/>
            <a:ext cx="3657600" cy="12801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Guard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Δt ≤ min(τf, τb)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52544" y="1874519"/>
            <a:ext cx="146304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44383" y="1874519"/>
            <a:ext cx="146305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3154680"/>
            <a:ext cx="10515600" cy="214884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Continuous vehicle-equivalent mass; SI units are explicit and immutable.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Hand anchor: C=0.5625 veh/s, K=45 veh, τf=20 s, τb=60 s.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Strict structural validation rejects invalid speeds, densities, geometry, and time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Component 0.2 — cumulative-count LTM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926080" cy="10515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History query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linear at shifted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143000"/>
            <a:ext cx="2926080" cy="105156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Sending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min(CΔt, Nᵢₙ(qf)−Nₒᵤₜ)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143000"/>
            <a:ext cx="2926080" cy="105156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Receiving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min(CΔt, Nₒᵤₜ(qb)+K−Nᵢₙ)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84448" y="1664208"/>
            <a:ext cx="1005840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62088" y="1664208"/>
            <a:ext cx="1005840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971800"/>
            <a:ext cx="10607040" cy="242316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Boundary histories are updated out of place; empty prehistory is exactly zero.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Fractional delays preserve continuous mass and retain the PyTorch graph.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Independent scalar oracle covers capacity, storage, congestion, and interpolation.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Stable reverse derivative matches central finite difference; GPU execution is verified.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Component 0.3 — fixed movement projection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2971800" cy="123444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Input sending S[i]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143000"/>
            <a:ext cx="2971800" cy="123444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D[m] = β[m] · S[i(m)]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143000"/>
            <a:ext cx="2971800" cy="123444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Aggregate by input/output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1764792"/>
            <a:ext cx="813816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71231" y="1764792"/>
            <a:ext cx="813817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3063240"/>
            <a:ext cx="10515600" cy="233172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Explicit local link order + canonical lexicographic sparse movement order.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Turning rows use float64, atol=10⁻⁹, and no clipping or renormalization.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Gather/project and grouped reductions preserve conservation and gradients.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Exact Jacobian and mapped-permutation tests protect the cross-component identity contract.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Component 0.4 — two explicit node regimes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205740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ORDINARY_ORCA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Tampère capacity-oriented priorities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Full input FIFO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Finite active-set redistribution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43000"/>
            <a:ext cx="5303520" cy="20574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18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RESTRICTED CONTINUUM SIGNAL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min(demand, green service, green supply share)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No cross-input share redistribution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H1–H4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10515600" cy="178308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Exact ties remain visible; incumbent pivoting is current-solve state only.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Independent scalar solver + rational 2×2 trace validate redistribution and FIFO.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Stable merge derivative dx₀/dR=0.6 matches finite difference and CUDA.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Component 0.5 — continuum fixed-time signal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108960" cy="109728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Physical green g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g≥0, Σg=1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143000"/>
            <a:ext cx="3108960" cy="1097280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Exposure e=A g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Boolean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143000"/>
            <a:ext cx="3108960" cy="109728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02830"/>
                </a:solidFill>
                <a:latin typeface="Calibri"/>
              </a:rPr>
              <a:t>Service μ=gᵢ sᵢ Δt</a:t>
            </a:r>
            <a:br/>
            <a:r>
              <a:rPr sz="1800" b="1">
                <a:solidFill>
                  <a:srgbClr val="202830"/>
                </a:solidFill>
                <a:latin typeface="Calibri"/>
              </a:rPr>
              <a:t>H1/H2 validated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67328" y="1691640"/>
            <a:ext cx="731520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53527" y="1691640"/>
            <a:ext cx="731521" cy="0"/>
          </a:xfrm>
          <a:prstGeom prst="line">
            <a:avLst/>
          </a:prstGeom>
          <a:ln w="19050">
            <a:solidFill>
              <a:srgbClr val="61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971800"/>
            <a:ext cx="10515600" cy="237744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Physical greens are rejected when invalid—never clipped, normalized, or softened.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Analytical exposure Jacobian equals A; fixed-total torch.func.jvp matches exactly.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Han coupling gives flow (1,6), leaves 3 units unused, and gradient (0,10).</a:t>
            </a:r>
          </a:p>
          <a:p>
            <a:pPr>
              <a:spcAft>
                <a:spcPts val="900"/>
              </a:spcAft>
              <a:defRPr sz="1800">
                <a:solidFill>
                  <a:srgbClr val="202830"/>
                </a:solidFill>
                <a:latin typeface="Calibri"/>
              </a:defRPr>
            </a:pPr>
            <a:r>
              <a:rPr sz="1800">
                <a:solidFill>
                  <a:srgbClr val="202830"/>
                </a:solidFill>
                <a:latin typeface="Calibri"/>
              </a:rPr>
              <a:t>Claim is continuum arithmetic/AD correctness, not finite-cycle switching equivalence.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Design questions — propagation and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257800" cy="1874519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G1 · Delay handling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Root: fixed steps do not align with physical travel times.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Choice: query cumulative histories at exact shifted times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with structural linear interpolation.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43000"/>
            <a:ext cx="5257800" cy="1874519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G2 · Movement representation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Root: readable local identity conflicts with global batching.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Choice: canonical node-local sparse maps; any optimized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layout must remain a derived equivalent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29000"/>
            <a:ext cx="5257800" cy="1874519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G4 · Traffic quantity and units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Root: rates, densities, and step masses are easy to mix.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Choice: continuous vehicle-equivalent mass with explicit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rate × time conversions at interfaces.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257800" cy="1874519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Initial LTM state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Root: arbitrary occupancy needs causally consistent history.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Choice: empty-start baseline now; synthetic prehistory only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for isolated references, richer initialization deferred.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2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82A40"/>
                </a:solidFill>
                <a:latin typeface="Calibri"/>
              </a:rPr>
              <a:t>Design questions — node and signal semantics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257800" cy="1874519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G3 · Ordinary node allocation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Root: demand, supply, priority, and FIFO may compete.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Choice: Tampère Branch-T/ORCA with full FIFO and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capacity-oriented finite active-set allocation.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43000"/>
            <a:ext cx="5257800" cy="1874519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G3-S · Signal/node coupling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Root: unused phase share must not become free ORCA supply.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Choice: separate restricted Han service under H1–H4;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no cross-input or cross-phase redistribution.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29000"/>
            <a:ext cx="5257800" cy="1874519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C0.4-Q5 · Constraint ties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Root: several constraints may bind while the derivative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is not unique. Choice: expose all ties; retain a current-solve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incumbent only when forward-equivalent.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257800" cy="1874519"/>
          </a:xfrm>
          <a:prstGeom prst="roundRect">
            <a:avLst/>
          </a:prstGeom>
          <a:solidFill>
            <a:srgbClr val="EBF3F5"/>
          </a:solidFill>
          <a:ln w="15875">
            <a:solidFill>
              <a:srgbClr val="2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02830"/>
                </a:solidFill>
                <a:latin typeface="Calibri"/>
              </a:rPr>
              <a:t>C0.5-Q1/Q2 · Green coordinates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Root: optimizer convenience can hide infeasible controls.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Choice: accept physical unit-simplex greens directly; reject</a:t>
            </a:r>
            <a:br/>
            <a:r>
              <a:rPr sz="1800" b="0">
                <a:solidFill>
                  <a:srgbClr val="202830"/>
                </a:solidFill>
                <a:latin typeface="Calibri"/>
              </a:rPr>
              <a:t>invalid values without clipping or normalization.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
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43000"/>
            <a:ext cx="146304" cy="4069080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173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Differentiable Minimal Mesoscopic Traffic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60604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DDCE4"/>
                </a:solidFill>
                <a:latin typeface="Calibri"/>
              </a:rPr>
              <a:t>Weekly implementation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507492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M0 closure · visualizer · M1 · M2 planning | 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960120" cy="612648"/>
          </a:xfrm>
          <a:prstGeom prst="roundRect">
            <a:avLst/>
          </a:prstGeom>
          <a:solidFill>
            <a:srgbClr val="208991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234440"/>
            <a:ext cx="9281160" cy="612648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Milestone 0 closure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76272"/>
            <a:ext cx="960120" cy="612648"/>
          </a:xfrm>
          <a:prstGeom prst="roundRect">
            <a:avLst/>
          </a:prstGeom>
          <a:solidFill>
            <a:srgbClr val="208991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2176272"/>
            <a:ext cx="9281160" cy="612648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Headless visualizer and two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118104"/>
            <a:ext cx="960120" cy="612648"/>
          </a:xfrm>
          <a:prstGeom prst="roundRect">
            <a:avLst/>
          </a:prstGeom>
          <a:solidFill>
            <a:srgbClr val="208991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3118104"/>
            <a:ext cx="9281160" cy="612648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Milestone 1 ordered route-mass ledger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5"/>
            <a:ext cx="960120" cy="612648"/>
          </a:xfrm>
          <a:prstGeom prst="roundRect">
            <a:avLst/>
          </a:prstGeom>
          <a:solidFill>
            <a:srgbClr val="208991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059935"/>
            <a:ext cx="9281160" cy="612648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Milestone 2 interaction-zone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Milestone 0 closed: trusted differentiable macro backbone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2423160" cy="105156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Triangular FD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+ LTM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097280"/>
            <a:ext cx="2423160" cy="105156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Movement maps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+ node solver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097280"/>
            <a:ext cx="2423160" cy="105156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Continuum signal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+ rollout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097280"/>
            <a:ext cx="2423160" cy="105156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Objectives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+ gradient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15600" cy="25603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Component 0.5 completed signal service; Components 0.6–0.7 closed rollout and evidence.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Continuous vehicle-equivalent mass; fixed topology and phase permissions remain structural.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Hand references → conservation/admissibility → reverse/JVP/finite-difference agreement.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Outcome: a reproducible aggregate baseline against which mesoscopic refinements can be isolated.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M0_a1 visualizer: make dynamics inspectable</a:t>
            </a:r>
          </a:p>
        </p:txBody>
      </p:sp>
      <p:pic>
        <p:nvPicPr>
          <p:cNvPr id="4" name="Picture 3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44980"/>
            <a:ext cx="5669280" cy="3779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1325880"/>
            <a:ext cx="5166360" cy="4389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Headless Matplotlib renderer over recorded simulator histories—not a second simulator.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Shows topology, occupancy/storage, boundary flow, queues, signal service, and conservation.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Deterministic frames and manifests support review, regression diagnosis, and presentations.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Branch-isolated optional tool: no change to the accepted M0 numerical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Visualizer case 1: two-link spillback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17080"/>
                </a:solidFill>
                <a:latin typeface="Calibri"/>
              </a:rPr>
              <a:t>Embedded MP4 at ~1 frame/s; click to play in slide-show mode</a:t>
            </a:r>
          </a:p>
        </p:txBody>
      </p:sp>
      <p:pic>
        <p:nvPicPr>
          <p:cNvPr id="5" name="spillback_chain_1fp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1480" y="1249680"/>
            <a:ext cx="7498079" cy="49987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1325880"/>
            <a:ext cx="3657600" cy="4389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Downstream storage fills first.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Receiving falls and constrains upstream inflow.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The queue propagates backward without losing mass.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6 intervals; TST = 21 veh-eq·s; residual = 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Spillback case: what the accounting proves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2926080" cy="114300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Arrivals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enter source accounting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143000"/>
            <a:ext cx="2926080" cy="114300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Resident mass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links + source queue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143000"/>
            <a:ext cx="2926080" cy="114300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Departures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enter sink accounting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39312" y="1719072"/>
            <a:ext cx="950976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71231" y="1719072"/>
            <a:ext cx="950977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971800"/>
            <a:ext cx="10424160" cy="2286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Every internal boundary uses the same realized mass as upstream outflow and downstream inflow.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Storage limits receiving; rejected inflow remains upstream rather than being clipped.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Cumulative arrivals = resident mass + cumulative exits at every recorded boundary.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The animation connects the causal queue pattern to an exact zero conservation residual.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Visualizer case 2: full 2×2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17080"/>
                </a:solidFill>
                <a:latin typeface="Calibri"/>
              </a:rPr>
              <a:t>Embedded MP4 at ~1 frame/s; click to play in slide-show mode</a:t>
            </a:r>
          </a:p>
        </p:txBody>
      </p:sp>
      <p:pic>
        <p:nvPicPr>
          <p:cNvPr id="5" name="grid_2x2_1fp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040" y="1158240"/>
            <a:ext cx="7772400" cy="51815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234440"/>
            <a:ext cx="3611880" cy="4572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Four intersections share a network-wide flow history.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Selected and background routes compete through common nodes.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Signals regulate movement service and downstream occupancy.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18 intervals; TST = 550.025 veh-eq·s.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2×2 grid: network-wide traffic accounting</a:t>
            </a:r>
          </a:p>
        </p:txBody>
      </p:sp>
      <p:pic>
        <p:nvPicPr>
          <p:cNvPr id="4" name="Picture 3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5460"/>
            <a:ext cx="5715000" cy="3809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5080" y="1143000"/>
            <a:ext cx="5394960" cy="48463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18 directed links are accounted consistently across sources, internal nodes, and sinks.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Each node movement is simultaneously an input-link exit and output-link entry.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Source queues retain demand rejected by entry capacity; sink totals retain completed mass.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Network identity: generated mass = source queues + link occupancy + cumulative sink exits.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Maximum recorded residual: 7.105×10⁻¹⁵ veh-eq (floating-point scale).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Milestone 1: why retain ordered route mass?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3291840" cy="123444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Macro state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continuous totals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143000"/>
            <a:ext cx="3291840" cy="123444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+ ordered route ledger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continuous mass blocks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43000"/>
            <a:ext cx="3291840" cy="123444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Future meso behavior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route/order-aware service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59352" y="1755648"/>
            <a:ext cx="448056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54112" y="1755648"/>
            <a:ext cx="448056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3063240"/>
            <a:ext cx="10424160" cy="2194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Question: retain semantic discreteness without integerizing physical vehicle flow.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Routes remain structural table references; each local entry stores route position and divisible mass.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Current movement is projected from route metadata rather than duplicated in persistent state.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M1 component chain and accepted interfaces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1691640" cy="105156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02830"/>
                </a:solidFill>
                <a:latin typeface="Calibri"/>
              </a:rPr>
              <a:t>Route table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0" y="1764792"/>
            <a:ext cx="210312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86000" y="1234440"/>
            <a:ext cx="1691640" cy="105156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02830"/>
                </a:solidFill>
                <a:latin typeface="Calibri"/>
              </a:rPr>
              <a:t>Ordered ledger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1764792"/>
            <a:ext cx="210313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51959" y="1234440"/>
            <a:ext cx="1691640" cy="105156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02830"/>
                </a:solidFill>
                <a:latin typeface="Calibri"/>
              </a:rPr>
              <a:t>Movement</a:t>
            </a:r>
            <a:br/>
            <a:r>
              <a:rPr sz="1700" b="1">
                <a:solidFill>
                  <a:srgbClr val="202830"/>
                </a:solidFill>
                <a:latin typeface="Calibri"/>
              </a:rPr>
              <a:t>projection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" y="1764792"/>
            <a:ext cx="210312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19" y="1234440"/>
            <a:ext cx="1691640" cy="105156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02830"/>
                </a:solidFill>
                <a:latin typeface="Calibri"/>
              </a:rPr>
              <a:t>Split / forward /</a:t>
            </a:r>
            <a:br/>
            <a:r>
              <a:rPr sz="1700" b="1">
                <a:solidFill>
                  <a:srgbClr val="202830"/>
                </a:solidFill>
                <a:latin typeface="Calibri"/>
              </a:rPr>
              <a:t>exact merge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09559" y="1764792"/>
            <a:ext cx="210312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83879" y="1234440"/>
            <a:ext cx="1691640" cy="105156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02830"/>
                </a:solidFill>
                <a:latin typeface="Calibri"/>
              </a:rPr>
              <a:t>Route-aware</a:t>
            </a:r>
            <a:br/>
            <a:r>
              <a:rPr sz="1700" b="1">
                <a:solidFill>
                  <a:srgbClr val="202830"/>
                </a:solidFill>
                <a:latin typeface="Calibri"/>
              </a:rPr>
              <a:t>rollout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75519" y="1764792"/>
            <a:ext cx="210313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49840" y="1234440"/>
            <a:ext cx="1691640" cy="105156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02830"/>
                </a:solidFill>
                <a:latin typeface="Calibri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71800"/>
            <a:ext cx="10607040" cy="24231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One exact ordered authority per location; aggregate LTM remains the physical backbone.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Continuous partial transfers split mass and interpolate eligibility time affinely.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Only adjacent entries with identical route state and continuous timing merge losslessly.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Every component closed through implementation, validation, and user checkpoint.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M1 case: state, notation, and time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05840"/>
            <a:ext cx="3657600" cy="132588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Network and routes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source 0 → link 0 ↘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                         link 2 → link 3 (A) / link 4 (B)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source 1 → link 1 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05840"/>
            <a:ext cx="3657600" cy="132588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Boundary b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complete state after interval [b−1,b)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Boundary 0 is empty; Δt = 1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005840"/>
            <a:ext cx="3611880" cy="132588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Where mass can exist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S0/S1 = source queues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L0…L4 = link ledgers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C = completed route mass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97480"/>
            <a:ext cx="6995160" cy="141732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One entry: A@p0 : 0.25 [−1.0,−0.5]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route A · position 0 · mass 0.25 veh-eq · front/tail eligibility times in seconds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Entries inside [ … ] are ordered downstream-first; the order is exact FIFO metadata.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697480"/>
            <a:ext cx="3977639" cy="141732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Route table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A: L0 → L2 → L3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B: L1 → L2 → L4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p increments after each node crossing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835640" cy="11887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Nodes are transactions, not storage: during an interval they transfer mass; at a boundary every pack is in S, L, or C.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When a pack enters a link, its eligibility profile is shifted by that link's 1 s free-flow delay.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M1 case: complete quantitative state evolution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5623560" cy="1874519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34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INTERVAL [0,1) → B1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Before transfer at sources: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S0=[A 0.25(−1,−0.5), A 0.25(−0.5,0)]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S1=[B 0.50(−1,0)]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Admit all; shift +1 s; exact-merge A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B1: L0=[A@p0 0.50(1,2)]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       L1=[B@p0 0.50(1,2)]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960120"/>
            <a:ext cx="5623560" cy="1874519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D49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INTERVAL [1,2) → B2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New S0=[A@p0 0.125(0,1)]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New S1=[B@p0 0.125(0,1)]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Source entry capacity is zero: retain both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L0/L1 cross merge node; p0→p1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B2: S0=A0.125; S1=B0.125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       L2=[A 0.50(2,3), B 0.50(2,3)]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017520"/>
            <a:ext cx="5623560" cy="1874519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INTERVALS [2,4) → B3/B4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Queued 0.125 packs enter L0/L1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L2 order [A,B] is preserved; no merge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Diverge projects A→L3, B→L4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B3: L0=A0.125(3,4); L1=B0.125(3,4)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       L3=A0.50(3,3.5); L4=B0.50(3.5,4)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B4: C=[0.50,0.50]; L2=[A0.125,B0.125]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3017520"/>
            <a:ext cx="5623560" cy="1874519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INTERVALS [4,6) → B5/B6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Remaining [A0.125,B0.125] diverges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B5: L3=A@p2 0.125(5,5.5)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       L4=B@p2 0.125(5.5,6)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B6: all S/L ledgers empty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       C=[A 0.625, B 0.625]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B7: unchanged terminal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166360"/>
            <a:ext cx="11155680" cy="82296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Closure: generated 1.25 = completed A 0.625 + B 0.625; all queues/links empty; residual = 0.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L2 keeps [A,B] and route positions: correct divergence, one exact merge, route mismatch safely not merged.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M1 key choices and engineering difficulty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429000" cy="123444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Selective discreteness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IDs/order fixed; mass continuous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143000"/>
            <a:ext cx="3429000" cy="123444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Two synchronized views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ledger authority; totals derived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143000"/>
            <a:ext cx="3429000" cy="123444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Piecewise AD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check stable signatures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607040" cy="22402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The hard boundary is semantic: exact lossless merge is allowed; behavioral compression is not.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Immutable tuples and differentiable tensors must preserve graphs through split/forward operations.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A corrective integration pass repaired coupling evidence without weakening scientific criteria.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Milestone 2: per-lane cumulative-mass interaction zone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3108960" cy="128016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Uₐ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aggregate upstream LTM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143000"/>
            <a:ext cx="3108960" cy="128016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Zₐ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per-lane rank grid + ledger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143000"/>
            <a:ext cx="3108960" cy="128016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Node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neutral M2 service seam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39312" y="1783080"/>
            <a:ext cx="859536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62672" y="1783080"/>
            <a:ext cx="859536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3063240"/>
            <a:ext cx="10607040" cy="2286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Physical link is partitioned once: upstream propagation plus downstream lane-local refinement.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Equal-width bins index cumulative traffic mass, not physical distance; partial final bins preserve storage.</a:t>
            </a:r>
          </a:p>
          <a:p>
            <a:pPr>
              <a:spcAft>
                <a:spcPts val="8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M2 builds conservative representation/coupling; M3 owns lane allocation and FIFO/blockage behavior.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M2 planning: 6 global + 19 component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2788920" cy="544068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14984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A40"/>
                </a:solidFill>
                <a:latin typeface="Calibri"/>
              </a:rPr>
              <a:t>GLOBAL BACKBONE — 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316736"/>
            <a:ext cx="2569463" cy="503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830"/>
                </a:solidFill>
                <a:latin typeface="Calibri"/>
              </a:rPr>
              <a:t>G1  Physical partition + storage/delay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G2  U/Z transfer + time indexing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G3  Equal-bin tensor/cache contract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G4  Neutral node-service boundary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G5  Matched equivalence evidence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G6  Differentiability + signatures</a:t>
            </a:r>
            <a:br/>
            <a:br/>
            <a:r>
              <a:rPr sz="1000" b="0">
                <a:solidFill>
                  <a:srgbClr val="202830"/>
                </a:solidFill>
                <a:latin typeface="Calibri"/>
              </a:rPr>
              <a:t>Closed first; these constrain every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component-local decision below.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960120"/>
            <a:ext cx="2743200" cy="16642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0149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A40"/>
                </a:solidFill>
                <a:latin typeface="Calibri"/>
              </a:rPr>
              <a:t>2.1  GEOMETRY /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1316736"/>
            <a:ext cx="252374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830"/>
                </a:solidFill>
                <a:latin typeface="Calibri"/>
              </a:rPr>
              <a:t>Q1  Record + reconciliation owner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Q2  Per-lane physical heterogeneity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Q3  Lane order + permission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960120"/>
            <a:ext cx="2743200" cy="1664208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0149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A40"/>
                </a:solidFill>
                <a:latin typeface="Calibri"/>
              </a:rPr>
              <a:t>2.2  ORDERED LANE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1316736"/>
            <a:ext cx="252374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830"/>
                </a:solidFill>
                <a:latin typeface="Calibri"/>
              </a:rPr>
              <a:t>Q1  Lane-ledger record boundary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Q2  Commitment map + validation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Q3  Exact merge + fragmentation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960120"/>
            <a:ext cx="2743200" cy="166420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0149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A40"/>
                </a:solidFill>
                <a:latin typeface="Calibri"/>
              </a:rPr>
              <a:t>2.3  RANK GRID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1316736"/>
            <a:ext cx="252374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830"/>
                </a:solidFill>
                <a:latin typeface="Calibri"/>
              </a:rPr>
              <a:t>Q1  Bin/partial-capacity schema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Q2  Edge convention + signature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Q3  Cached-grid ownership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788920"/>
            <a:ext cx="2743200" cy="201168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8437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A40"/>
                </a:solidFill>
                <a:latin typeface="Calibri"/>
              </a:rPr>
              <a:t>2.4  INTERNAL PHYSICS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3145536"/>
            <a:ext cx="2523744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830"/>
                </a:solidFill>
                <a:latin typeface="Calibri"/>
              </a:rPr>
              <a:t>Q1  Lane capacity + delays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Q2  Commitment-feasible receiving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Q3  Zone eligibility representation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Q4  Storage roundoff/failure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788920"/>
            <a:ext cx="2743200" cy="20116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8437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A40"/>
                </a:solidFill>
                <a:latin typeface="Calibri"/>
              </a:rPr>
              <a:t>2.5  ROLLOUT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145536"/>
            <a:ext cx="2523744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830"/>
                </a:solidFill>
                <a:latin typeface="Calibri"/>
              </a:rPr>
              <a:t>Q1  Scenario/state/result histories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Q2  Refined/unrefined orchestration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Q3  Boundary conservation context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2788920"/>
            <a:ext cx="2743200" cy="201168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8437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A40"/>
                </a:solidFill>
                <a:latin typeface="Calibri"/>
              </a:rPr>
              <a:t>2.6 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3145536"/>
            <a:ext cx="2523744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830"/>
                </a:solidFill>
                <a:latin typeface="Calibri"/>
              </a:rPr>
              <a:t>Q1  Independent scalar-oracle floor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Q2  FD/tolerance/signature schema</a:t>
            </a:r>
            <a:br/>
            <a:r>
              <a:rPr sz="1000" b="0">
                <a:solidFill>
                  <a:srgbClr val="202830"/>
                </a:solidFill>
                <a:latin typeface="Calibri"/>
              </a:rPr>
              <a:t>Q3  Artifact + provenance contract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5010912"/>
            <a:ext cx="8503920" cy="96012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02830"/>
                </a:solidFill>
                <a:latin typeface="Calibri"/>
              </a:rPr>
              <a:t>Dependency order: 2.1 → 2.2 → 2.3 → 2.4 → 2.5 → 2.6</a:t>
            </a:r>
            <a:br/>
            <a:r>
              <a:rPr sz="1400" b="1">
                <a:solidFill>
                  <a:srgbClr val="202830"/>
                </a:solidFill>
                <a:latin typeface="Calibri"/>
              </a:rPr>
              <a:t>Phase B is resolving the interfaces before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
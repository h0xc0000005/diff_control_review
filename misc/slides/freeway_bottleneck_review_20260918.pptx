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move from a model-first development sequence to task-anchored methodological design. Starting question: what traffic resolution is necessary for credible, useful control gradients? The current urban simulator is not a fixed constraint on the independent freeway branch. The top sequence presents the risks of choosing detail before evidence; it does not claim earlier implementation was invalid. The bottom sequence states the conditional working line: task and strong baseline, hidden-state decision value, then justified state refinement and separate gradient tests.</a:t>
            </a:r>
          </a:p>
          <a:p>
            <a:r>
              <a:t>Sources: ../differentiable_freeway_bottleneck_task_pre_review/pre_review_closure_and_handoff.md, sections3 P1-P7; ../differentiable_freeway_bottleneck_task_review/01_review_recap_through_s06.md, section1.</a:t>
            </a:r>
          </a:p>
          <a:p/>
          <a:p>
            <a:r>
              <a:t>Working-line amendment: the lower sequence replaces the earlier construction diagram. The control task defines the comparison; the strongest aggregate alternative determines what must be hidden; a useful decision difference, not richer forward behavior alone, conditionally justifies added state. Refinement and gradient tests are later obligations, not approved construction. Next slide fixes the task, objective and baseline.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operational anchor is an exogenous freeway lane reduction. Initial prospective reference: homogeneous permanent three-to-two narrowing. One infrastructure speed recommendation is shared by all lanes in the advice zone and changes desired free speed; actual motion remains endogenous. No direct vehicle trajectories, forced lane changing or differentiated lane actions. Source mass and waiting must not disappear at the observation boundary. Temporary closure conclusions additionally need reopening and recovery accounting.</a:t>
            </a:r>
          </a:p>
          <a:p>
            <a:r>
              <a:t>Sources: review recap section1; reporting/s01_30_n1_user_gate.md; reporting/s02_35_feedback23_task_and_minimum_information_response.md, section2. Diagram is conceptual, not a simulated road trajectory.</a:t>
            </a:r>
          </a:p>
          <a:p/>
          <a:p>
            <a:r>
              <a:t>Logical hand-off: common actions and full waiting accounting make the control comparison meaningful. Before attributing value to lane information, review the strongest aggregate response/history alternative; a weak baseline would confound the root question.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Combines task framing and predecessor/contrast reviews. Strong aggregate response/history is already credible: Frejo2019 calibrates mean response, Wei2025 retains entry-speed history. Lane transfer models establish plausible behavior, not minimum-information necessity. Seliman2020 macro/micro reoptimization changes objectives, search effort and sometimes actions; Chen2025 lane CTM/MPC compares VSL/no-VSL, not state-only usefulness under the same shared advice. Fixed classes and individual order remain conditional. No first-of-kind or global absence claim.</a:t>
            </a:r>
          </a:p>
          <a:p>
            <a:r>
              <a:t>Sources: reporting/s02_20_n2_findings_and_gate.md sections3-5; reporting/s02_36_feedback23_amendment_novelty_and_component_necessity.md; reporting/s03_20_rb_findings_and_gate.md. Primary anchors: https://doi.org/10.1016/j.trc.2019.01.001 ; https://doi.org/10.1111/mice.13492 ; https://doi.org/10.1061/JTEPBS.0000395 ; https://doi.org/10.1016/j.physa.2025.130876 .</a:t>
            </a:r>
          </a:p>
          <a:p/>
          <a:p>
            <a:r>
              <a:t>Logical hand-off: because aggregate response/history already explains important behavior, and richer-control comparisons can change actions or objectives, the next step isolates information value. Equal totals alone are inadequate: the declared retained history must match, with the same advice menu and cost definition. Classes, lanes and order remain conditional rather than assumed necessities.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contrast, not a reachable matched-history result. Both totals are30 vehicle-equivalents; ending/continuing group totals are15/15 versus5/25. Continuing lanes are combined for illustration, so this is not a sufficient-state claim. Matching totals alone is weak: the exact-information claim requires equality of the declared strong spatial observation/history channel. Hidden past lane-entry allocations are different unknown past forcing. A particular observer's failure is a distinct model-quality claim. Distinct best actions or a pairwise ranking reversal is insufficient if another common acceptable action exists. Finite-menu evidence does not establish continuous-space or feedback-policy necessity.</a:t>
            </a:r>
          </a:p>
          <a:p>
            <a:r>
              <a:t>Sources: reporting/s04_20_rb_diagnostic_methodology_findings_and_gate.md and recap sections1/S04; current review's lane-contrast explanation. No plot data were measured or simulated.</a:t>
            </a:r>
          </a:p>
          <a:p/>
          <a:p>
            <a:r>
              <a:t>Logical hand-off: the matched-history contract states what would count as lost information, but does not establish that such information changes useful advice. The next analytical step must jointly supply hidden contrast and decision relevance, including the possibility of a common acceptable action.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Conditional original deductions: conservative transfers cancel from aggregate mass in a homogeneous free-flow branch, allowing an early hidden lane contrast without certifying native near-drop preparations. In the separate work-conserving fixed-service subcase, advice-independent service and fastest-arrival dominance make highest advice a common best action, with source/approach waiting counted. This is not universal no-benefit from speed advice. Need endogenous service/receiving/propagation or failure of arrival dominance plus hidden-state dependence and benefit exceeding slowing delay. Native coupling is mechanism evidence only, not a proof that advice is beneficial. A missing held-highest-advice stress probe can leave a common better action outside a pulse menu.</a:t>
            </a:r>
          </a:p>
          <a:p>
            <a:r>
              <a:t>Sources: reporting/s05_20_rb_certificate_findings_and_gate.md; synthesis/rb_certificate_analysis.pdf; reporting/s06_20_reference_bridge_findings_and_gate.md. Native model: Jakob Erdmann2015, https://elib.dlr.de/102254/1/Springer-SUMOs_Lane_changing_model.pdf . No borrowed discrete resets, random mass shifts, smoothing or invented penalty is approved.</a:t>
            </a:r>
          </a:p>
          <a:p/>
          <a:p>
            <a:r>
              <a:t>Logical hand-off: the hidden-state construction and fixed-service obstruction are separate conditional deductions, not a combined native certificate. They explain why the subsequent reference-first review inspects endogenous merge interactions rather than inserting an arbitrary penalty. A credible mechanism must still be instantiated in reachable preparations with matched declared history and no common acceptable advice.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synthesis: no complete positive or negative conclusion for the joint information-to-useful-advice claim. Advisory aggregate-feedback benefits (FB0005) and occupancy-conditioned lane fractions (FB0039) strengthen the aggregate alternative, without proving sufficiency. Native gap/speed/cooperation and field redistribution are precedents, not minimum-state or useful-gradient evidence. Strong regulatory low-speed lane-drop outcomes (Zhang2023) do not transfer automatically to moderate voluntary advice. Preparation must be reachable and survive native anticipation; later interaction may expose the difference in mean-speed/history. The proposed40/60s times cannot reach the final400m under intended road-start/speed bounds;80s remains sparse under conditional entry defaults. No server/simulation result was used. Diagram shows the semantic tension between earlier hidden information and near-merge consequences, not an approved scenario change.</a:t>
            </a:r>
          </a:p>
          <a:p>
            <a:r>
              <a:t>Sources: reporting/s06_20_reference_bridge_findings_and_gate.md; extraction/s06_reference_mechanism_source_audit.md; recap section3. New primary lane-drop manuscript: https://ira.lib.polyu.edu.hk/bitstream/10397/92568/1/Zhang_Optimization_Speed_Freeway.pdf . Future minimal-refinement, forward, internal gradient and independent usefulness obligations remain separate. Review/communication does not authorize construction or experiments.</a:t>
            </a:r>
          </a:p>
          <a:p/>
          <a:p>
            <a:r>
              <a:t>Logical synthesis: source-supported mechanisms do not close the joint witness. The remaining review step concerns reachable contrast preparation under the full retained-history contract. Only a demonstrated decision-value witness can motivate the smallest conservative refinement; forward fidelity, gradient correctness and independent control usefulness then require distinct evidence. Failure to find a witness is not a global sufficiency theorem. Current review gate remains open; this deck amendment approves neither a preparation change nor any experiment.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Anchor traffic resolution to a control decision"/>
          <p:cNvSpPr txBox="1"/>
          <p:nvPr/>
        </p:nvSpPr>
        <p:spPr>
          <a:xfrm>
            <a:off x="594360" y="365760"/>
            <a:ext cx="10972800" cy="621792"/>
          </a:xfrm>
          <a:prstGeom prst="rect">
            <a:avLst/>
          </a:prstGeom>
          <a:noFill/>
        </p:spPr>
        <p:txBody>
          <a:bodyPr wrap="none" lIns="36576" rIns="36576" tIns="18288" bIns="18288" anchor="t">
            <a:spAutoFit/>
          </a:bodyPr>
          <a:lstStyle/>
          <a:p>
            <a:pPr algn="l">
              <a:spcBef>
                <a:spcPts val="0"/>
              </a:spcBef>
              <a:spcAft>
                <a:spcPts val="0"/>
              </a:spcAft>
              <a:defRPr sz="3200" b="1">
                <a:solidFill>
                  <a:srgbClr val="243341"/>
                </a:solidFill>
                <a:latin typeface="Calibri"/>
              </a:defRPr>
            </a:pPr>
            <a:r>
              <a:t>Anchor traffic resolution to a control decision</a:t>
            </a:r>
          </a:p>
        </p:txBody>
      </p:sp>
      <p:sp>
        <p:nvSpPr>
          <p:cNvPr id="3" name="body:Model-first risks unnecessary detail and a task chosen to fit it."/>
          <p:cNvSpPr txBox="1"/>
          <p:nvPr/>
        </p:nvSpPr>
        <p:spPr>
          <a:xfrm>
            <a:off x="777240" y="1353312"/>
            <a:ext cx="10698480" cy="365760"/>
          </a:xfrm>
          <a:prstGeom prst="rect">
            <a:avLst/>
          </a:prstGeom>
          <a:noFill/>
        </p:spPr>
        <p:txBody>
          <a:bodyPr wrap="none" lIns="36576" rIns="36576" tIns="18288" bIns="18288" anchor="t">
            <a:spAutoFit/>
          </a:bodyPr>
          <a:lstStyle/>
          <a:p>
            <a:pPr algn="l">
              <a:spcBef>
                <a:spcPts val="0"/>
              </a:spcBef>
              <a:spcAft>
                <a:spcPts val="0"/>
              </a:spcAft>
              <a:defRPr sz="1800" b="1">
                <a:solidFill>
                  <a:srgbClr val="7D8791"/>
                </a:solidFill>
                <a:latin typeface="Calibri"/>
              </a:defRPr>
            </a:pPr>
            <a:r>
              <a:t>Model-first risks unnecessary detail and a task chosen to fit it.</a:t>
            </a:r>
          </a:p>
        </p:txBody>
      </p:sp>
      <p:grpSp>
        <p:nvGrpSpPr>
          <p:cNvPr id="12" name="Model-first sequence"/>
          <p:cNvGrpSpPr/>
          <p:nvPr/>
        </p:nvGrpSpPr>
        <p:grpSpPr>
          <a:xfrm>
            <a:off x="914400" y="1965960"/>
            <a:ext cx="10332720" cy="868680"/>
            <a:chOff x="914400" y="1965960"/>
            <a:chExt cx="10332720" cy="868680"/>
          </a:xfrm>
        </p:grpSpPr>
        <p:sp>
          <p:nvSpPr>
            <p:cNvPr id="4" name="Rectangle 3"/>
            <p:cNvSpPr/>
            <p:nvPr/>
          </p:nvSpPr>
          <p:spPr>
            <a:xfrm>
              <a:off x="914400" y="1965960"/>
              <a:ext cx="3017520" cy="868680"/>
            </a:xfrm>
            <a:prstGeom prst="rect">
              <a:avLst/>
            </a:prstGeom>
            <a:solidFill>
              <a:srgbClr val="F1F4F6"/>
            </a:solidFill>
            <a:ln w="1524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ody:Choose model"/>
            <p:cNvSpPr txBox="1"/>
            <p:nvPr/>
          </p:nvSpPr>
          <p:spPr>
            <a:xfrm>
              <a:off x="960120" y="2103120"/>
              <a:ext cx="2926079"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Choose model</a:t>
              </a:r>
            </a:p>
          </p:txBody>
        </p:sp>
        <p:sp>
          <p:nvSpPr>
            <p:cNvPr id="6" name="Rectangle 5"/>
            <p:cNvSpPr/>
            <p:nvPr/>
          </p:nvSpPr>
          <p:spPr>
            <a:xfrm>
              <a:off x="4572000" y="1965960"/>
              <a:ext cx="3017520" cy="868680"/>
            </a:xfrm>
            <a:prstGeom prst="rect">
              <a:avLst/>
            </a:prstGeom>
            <a:solidFill>
              <a:srgbClr val="F1F4F6"/>
            </a:solidFill>
            <a:ln w="1524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ody:Implement"/>
            <p:cNvSpPr txBox="1"/>
            <p:nvPr/>
          </p:nvSpPr>
          <p:spPr>
            <a:xfrm>
              <a:off x="4617720" y="2103120"/>
              <a:ext cx="2926079"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Implement</a:t>
              </a:r>
            </a:p>
          </p:txBody>
        </p:sp>
        <p:sp>
          <p:nvSpPr>
            <p:cNvPr id="8" name="Rectangle 7"/>
            <p:cNvSpPr/>
            <p:nvPr/>
          </p:nvSpPr>
          <p:spPr>
            <a:xfrm>
              <a:off x="8229600" y="1965960"/>
              <a:ext cx="3017520" cy="868680"/>
            </a:xfrm>
            <a:prstGeom prst="rect">
              <a:avLst/>
            </a:prstGeom>
            <a:solidFill>
              <a:srgbClr val="F1F4F6"/>
            </a:solidFill>
            <a:ln w="1524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ody:Find task"/>
            <p:cNvSpPr txBox="1"/>
            <p:nvPr/>
          </p:nvSpPr>
          <p:spPr>
            <a:xfrm>
              <a:off x="8275320" y="2103120"/>
              <a:ext cx="2926079"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Find task</a:t>
              </a:r>
            </a:p>
          </p:txBody>
        </p:sp>
        <p:sp>
          <p:nvSpPr>
            <p:cNvPr id="10" name="Right Arrow 9"/>
            <p:cNvSpPr/>
            <p:nvPr/>
          </p:nvSpPr>
          <p:spPr>
            <a:xfrm>
              <a:off x="4069080" y="2295144"/>
              <a:ext cx="420624" cy="201168"/>
            </a:xfrm>
            <a:prstGeom prst="rightArrow">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7726679" y="2295144"/>
              <a:ext cx="420624" cy="201168"/>
            </a:xfrm>
            <a:prstGeom prst="rightArrow">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3" name="body:Working line: establish decision value before choosing richer traffic state."/>
          <p:cNvSpPr txBox="1"/>
          <p:nvPr/>
        </p:nvSpPr>
        <p:spPr>
          <a:xfrm>
            <a:off x="777240" y="3657600"/>
            <a:ext cx="10698480" cy="365760"/>
          </a:xfrm>
          <a:prstGeom prst="rect">
            <a:avLst/>
          </a:prstGeom>
          <a:noFill/>
        </p:spPr>
        <p:txBody>
          <a:bodyPr wrap="none" lIns="36576" rIns="36576" tIns="18288" bIns="18288" anchor="t">
            <a:spAutoFit/>
          </a:bodyPr>
          <a:lstStyle/>
          <a:p>
            <a:pPr algn="l">
              <a:spcBef>
                <a:spcPts val="0"/>
              </a:spcBef>
              <a:spcAft>
                <a:spcPts val="0"/>
              </a:spcAft>
              <a:defRPr sz="1800" b="1">
                <a:solidFill>
                  <a:srgbClr val="267D86"/>
                </a:solidFill>
                <a:latin typeface="Calibri"/>
              </a:defRPr>
            </a:pPr>
            <a:r>
              <a:t>Working line: establish decision value before choosing richer traffic state.</a:t>
            </a:r>
          </a:p>
        </p:txBody>
      </p:sp>
      <p:grpSp>
        <p:nvGrpSpPr>
          <p:cNvPr id="22" name="Task-to-information-value-to-justified-refinement working line"/>
          <p:cNvGrpSpPr/>
          <p:nvPr/>
        </p:nvGrpSpPr>
        <p:grpSpPr>
          <a:xfrm>
            <a:off x="914400" y="4343400"/>
            <a:ext cx="10332720" cy="868680"/>
            <a:chOff x="914400" y="4343400"/>
            <a:chExt cx="10332720" cy="868680"/>
          </a:xfrm>
        </p:grpSpPr>
        <p:sp>
          <p:nvSpPr>
            <p:cNvPr id="14" name="Rectangle 13"/>
            <p:cNvSpPr/>
            <p:nvPr/>
          </p:nvSpPr>
          <p:spPr>
            <a:xfrm>
              <a:off x="914400" y="4343400"/>
              <a:ext cx="3017520" cy="868680"/>
            </a:xfrm>
            <a:prstGeom prst="rect">
              <a:avLst/>
            </a:prstGeom>
            <a:solidFill>
              <a:srgbClr val="EDF5F6"/>
            </a:solid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ody:Task + baseline"/>
            <p:cNvSpPr txBox="1"/>
            <p:nvPr/>
          </p:nvSpPr>
          <p:spPr>
            <a:xfrm>
              <a:off x="960120" y="4480560"/>
              <a:ext cx="2926079"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Task + baseline</a:t>
              </a:r>
            </a:p>
          </p:txBody>
        </p:sp>
        <p:sp>
          <p:nvSpPr>
            <p:cNvPr id="16" name="Rectangle 15"/>
            <p:cNvSpPr/>
            <p:nvPr/>
          </p:nvSpPr>
          <p:spPr>
            <a:xfrm>
              <a:off x="4572000" y="4343400"/>
              <a:ext cx="3017520" cy="868680"/>
            </a:xfrm>
            <a:prstGeom prst="rect">
              <a:avLst/>
            </a:prstGeom>
            <a:solidFill>
              <a:srgbClr val="EDF5F6"/>
            </a:solid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ody:Hidden-state value?"/>
            <p:cNvSpPr txBox="1"/>
            <p:nvPr/>
          </p:nvSpPr>
          <p:spPr>
            <a:xfrm>
              <a:off x="4617720" y="4480560"/>
              <a:ext cx="2926079"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Hidden-state value?</a:t>
              </a:r>
            </a:p>
          </p:txBody>
        </p:sp>
        <p:sp>
          <p:nvSpPr>
            <p:cNvPr id="18" name="Rectangle 17"/>
            <p:cNvSpPr/>
            <p:nvPr/>
          </p:nvSpPr>
          <p:spPr>
            <a:xfrm>
              <a:off x="8229600" y="4343400"/>
              <a:ext cx="3017520" cy="868680"/>
            </a:xfrm>
            <a:prstGeom prst="rect">
              <a:avLst/>
            </a:prstGeom>
            <a:solidFill>
              <a:srgbClr val="EDF5F6"/>
            </a:solid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ody:State + gradients"/>
            <p:cNvSpPr txBox="1"/>
            <p:nvPr/>
          </p:nvSpPr>
          <p:spPr>
            <a:xfrm>
              <a:off x="8275320" y="4480560"/>
              <a:ext cx="2926079"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State + gradients</a:t>
              </a:r>
            </a:p>
          </p:txBody>
        </p:sp>
        <p:sp>
          <p:nvSpPr>
            <p:cNvPr id="20" name="Right Arrow 19"/>
            <p:cNvSpPr/>
            <p:nvPr/>
          </p:nvSpPr>
          <p:spPr>
            <a:xfrm>
              <a:off x="4069080" y="4672584"/>
              <a:ext cx="420624"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ight Arrow 20"/>
            <p:cNvSpPr/>
            <p:nvPr/>
          </p:nvSpPr>
          <p:spPr>
            <a:xfrm>
              <a:off x="7726679" y="4672584"/>
              <a:ext cx="420624"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A narrowing makes the question concrete"/>
          <p:cNvSpPr txBox="1"/>
          <p:nvPr/>
        </p:nvSpPr>
        <p:spPr>
          <a:xfrm>
            <a:off x="594360" y="365760"/>
            <a:ext cx="10972800" cy="621792"/>
          </a:xfrm>
          <a:prstGeom prst="rect">
            <a:avLst/>
          </a:prstGeom>
          <a:noFill/>
        </p:spPr>
        <p:txBody>
          <a:bodyPr wrap="none" lIns="36576" rIns="36576" tIns="18288" bIns="18288" anchor="t">
            <a:spAutoFit/>
          </a:bodyPr>
          <a:lstStyle/>
          <a:p>
            <a:pPr algn="l">
              <a:spcBef>
                <a:spcPts val="0"/>
              </a:spcBef>
              <a:spcAft>
                <a:spcPts val="0"/>
              </a:spcAft>
              <a:defRPr sz="3200" b="1">
                <a:solidFill>
                  <a:srgbClr val="243341"/>
                </a:solidFill>
                <a:latin typeface="Calibri"/>
              </a:defRPr>
            </a:pPr>
            <a:r>
              <a:t>A narrowing makes the question concrete</a:t>
            </a:r>
          </a:p>
        </p:txBody>
      </p:sp>
      <p:sp>
        <p:nvSpPr>
          <p:cNvPr id="3" name="body:One speed recommendation for all lanes"/>
          <p:cNvSpPr txBox="1"/>
          <p:nvPr/>
        </p:nvSpPr>
        <p:spPr>
          <a:xfrm>
            <a:off x="777240" y="1234440"/>
            <a:ext cx="10652760" cy="347472"/>
          </a:xfrm>
          <a:prstGeom prst="rect">
            <a:avLst/>
          </a:prstGeom>
          <a:noFill/>
        </p:spPr>
        <p:txBody>
          <a:bodyPr wrap="none" lIns="36576" rIns="36576" tIns="18288" bIns="18288" anchor="t">
            <a:spAutoFit/>
          </a:bodyPr>
          <a:lstStyle/>
          <a:p>
            <a:pPr algn="ctr">
              <a:spcBef>
                <a:spcPts val="0"/>
              </a:spcBef>
              <a:spcAft>
                <a:spcPts val="0"/>
              </a:spcAft>
              <a:defRPr sz="1800" b="1">
                <a:solidFill>
                  <a:srgbClr val="267D86"/>
                </a:solidFill>
                <a:latin typeface="Calibri"/>
              </a:defRPr>
            </a:pPr>
            <a:r>
              <a:t>One speed recommendation for all lanes</a:t>
            </a:r>
          </a:p>
        </p:txBody>
      </p:sp>
      <p:grpSp>
        <p:nvGrpSpPr>
          <p:cNvPr id="14" name="Common-advice road narrowing"/>
          <p:cNvGrpSpPr/>
          <p:nvPr/>
        </p:nvGrpSpPr>
        <p:grpSpPr>
          <a:xfrm>
            <a:off x="914400" y="1645920"/>
            <a:ext cx="10287000" cy="2633472"/>
            <a:chOff x="914400" y="1645920"/>
            <a:chExt cx="10287000" cy="2633472"/>
          </a:xfrm>
        </p:grpSpPr>
        <p:sp>
          <p:nvSpPr>
            <p:cNvPr id="4" name="Rectangle 3"/>
            <p:cNvSpPr/>
            <p:nvPr/>
          </p:nvSpPr>
          <p:spPr>
            <a:xfrm>
              <a:off x="914400" y="1993392"/>
              <a:ext cx="10287000" cy="548640"/>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ight Arrow 4"/>
            <p:cNvSpPr/>
            <p:nvPr/>
          </p:nvSpPr>
          <p:spPr>
            <a:xfrm>
              <a:off x="10497312" y="2167128"/>
              <a:ext cx="420624" cy="201168"/>
            </a:xfrm>
            <a:prstGeom prst="rightArrow">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2770632"/>
              <a:ext cx="10287000" cy="548640"/>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ight Arrow 6"/>
            <p:cNvSpPr/>
            <p:nvPr/>
          </p:nvSpPr>
          <p:spPr>
            <a:xfrm>
              <a:off x="10497312" y="2944368"/>
              <a:ext cx="420624" cy="201168"/>
            </a:xfrm>
            <a:prstGeom prst="rightArrow">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4400" y="3547872"/>
              <a:ext cx="6766560" cy="548640"/>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flipV="1">
              <a:off x="7680960" y="3044952"/>
              <a:ext cx="1143000" cy="777239"/>
            </a:xfrm>
            <a:prstGeom prst="line">
              <a:avLst/>
            </a:prstGeom>
            <a:ln w="25400">
              <a:solidFill>
                <a:srgbClr val="7D8791"/>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862072" y="1810512"/>
              <a:ext cx="3108960" cy="2468880"/>
            </a:xfrm>
            <a:prstGeom prst="rect">
              <a:avLst/>
            </a:prstGeom>
            <a:no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4416552" y="1645920"/>
              <a:ext cx="0" cy="164592"/>
            </a:xfrm>
            <a:prstGeom prst="line">
              <a:avLst/>
            </a:prstGeom>
            <a:ln w="25400">
              <a:solidFill>
                <a:srgbClr val="267D86"/>
              </a:solidFill>
              <a:tailEnd type="triangle"/>
            </a:ln>
          </p:spPr>
          <p:style>
            <a:lnRef idx="2">
              <a:schemeClr val="accent1"/>
            </a:lnRef>
            <a:fillRef idx="0">
              <a:schemeClr val="accent1"/>
            </a:fillRef>
            <a:effectRef idx="1">
              <a:schemeClr val="accent1"/>
            </a:effectRef>
            <a:fontRef idx="minor">
              <a:schemeClr val="tx1"/>
            </a:fontRef>
          </p:style>
        </p:cxnSp>
        <p:sp>
          <p:nvSpPr>
            <p:cNvPr id="12" name="body:Continuing lanes"/>
            <p:cNvSpPr txBox="1"/>
            <p:nvPr/>
          </p:nvSpPr>
          <p:spPr>
            <a:xfrm>
              <a:off x="7406640" y="2139696"/>
              <a:ext cx="3520440" cy="329184"/>
            </a:xfrm>
            <a:prstGeom prst="rect">
              <a:avLst/>
            </a:prstGeom>
            <a:noFill/>
          </p:spPr>
          <p:txBody>
            <a:bodyPr wrap="none" lIns="36576" rIns="36576" tIns="18288" bIns="18288" anchor="t">
              <a:spAutoFit/>
            </a:bodyPr>
            <a:lstStyle/>
            <a:p>
              <a:pPr algn="ctr">
                <a:spcBef>
                  <a:spcPts val="0"/>
                </a:spcBef>
                <a:spcAft>
                  <a:spcPts val="0"/>
                </a:spcAft>
                <a:defRPr sz="1800" b="0">
                  <a:solidFill>
                    <a:srgbClr val="243341"/>
                  </a:solidFill>
                  <a:latin typeface="Calibri"/>
                </a:defRPr>
              </a:pPr>
              <a:r>
                <a:t>Continuing lanes</a:t>
              </a:r>
            </a:p>
          </p:txBody>
        </p:sp>
        <p:sp>
          <p:nvSpPr>
            <p:cNvPr id="13" name="body:Ending lane"/>
            <p:cNvSpPr txBox="1"/>
            <p:nvPr/>
          </p:nvSpPr>
          <p:spPr>
            <a:xfrm>
              <a:off x="1069848" y="3666744"/>
              <a:ext cx="1755648" cy="329184"/>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Ending lane</a:t>
              </a:r>
            </a:p>
          </p:txBody>
        </p:sp>
      </p:grpSp>
      <p:sp>
        <p:nvSpPr>
          <p:cNvPr id="15" name="body:Advice changes desired speed; traffic interactions determine actual motion."/>
          <p:cNvSpPr txBox="1"/>
          <p:nvPr/>
        </p:nvSpPr>
        <p:spPr>
          <a:xfrm>
            <a:off x="777240" y="4681728"/>
            <a:ext cx="10652760" cy="347472"/>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Advice changes desired speed; traffic interactions determine actual motion.</a:t>
            </a:r>
          </a:p>
        </p:txBody>
      </p:sp>
      <p:sp>
        <p:nvSpPr>
          <p:cNvPr id="16" name="body:Strong baseline: spatial traffic, mean response, queues and full history."/>
          <p:cNvSpPr txBox="1"/>
          <p:nvPr/>
        </p:nvSpPr>
        <p:spPr>
          <a:xfrm>
            <a:off x="777240" y="5129784"/>
            <a:ext cx="10652760" cy="347472"/>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Strong baseline: spatial traffic, mean response, queues and full history.</a:t>
            </a:r>
          </a:p>
        </p:txBody>
      </p:sp>
      <p:sp>
        <p:nvSpPr>
          <p:cNvPr id="17" name="body:Outcome: total travel and waiting time, including upstream queues."/>
          <p:cNvSpPr txBox="1"/>
          <p:nvPr/>
        </p:nvSpPr>
        <p:spPr>
          <a:xfrm>
            <a:off x="777240" y="5577840"/>
            <a:ext cx="10652760" cy="347472"/>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Outcome: total travel and waiting time, including upstream queues.</a:t>
            </a:r>
          </a:p>
        </p:txBody>
      </p:sp>
      <p:sp>
        <p:nvSpPr>
          <p:cNvPr id="18" name="body:Next: what can the strongest aggregate baseline already explain?"/>
          <p:cNvSpPr txBox="1"/>
          <p:nvPr/>
        </p:nvSpPr>
        <p:spPr>
          <a:xfrm>
            <a:off x="777240" y="6025896"/>
            <a:ext cx="10652760" cy="347472"/>
          </a:xfrm>
          <a:prstGeom prst="rect">
            <a:avLst/>
          </a:prstGeom>
          <a:noFill/>
        </p:spPr>
        <p:txBody>
          <a:bodyPr wrap="none" lIns="36576" rIns="36576" tIns="18288" bIns="18288" anchor="t">
            <a:spAutoFit/>
          </a:bodyPr>
          <a:lstStyle/>
          <a:p>
            <a:pPr algn="l">
              <a:spcBef>
                <a:spcPts val="0"/>
              </a:spcBef>
              <a:spcAft>
                <a:spcPts val="0"/>
              </a:spcAft>
              <a:defRPr sz="1800" b="1">
                <a:solidFill>
                  <a:srgbClr val="267D86"/>
                </a:solidFill>
                <a:latin typeface="Calibri"/>
              </a:defRPr>
            </a:pPr>
            <a:r>
              <a:t>Next: what can the strongest aggregate baseline already explain?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What literature does—and does not—justify"/>
          <p:cNvSpPr txBox="1"/>
          <p:nvPr/>
        </p:nvSpPr>
        <p:spPr>
          <a:xfrm>
            <a:off x="594360" y="365760"/>
            <a:ext cx="10972800" cy="621792"/>
          </a:xfrm>
          <a:prstGeom prst="rect">
            <a:avLst/>
          </a:prstGeom>
          <a:noFill/>
        </p:spPr>
        <p:txBody>
          <a:bodyPr wrap="none" lIns="36576" rIns="36576" tIns="18288" bIns="18288" anchor="t">
            <a:spAutoFit/>
          </a:bodyPr>
          <a:lstStyle/>
          <a:p>
            <a:pPr algn="l">
              <a:spcBef>
                <a:spcPts val="0"/>
              </a:spcBef>
              <a:spcAft>
                <a:spcPts val="0"/>
              </a:spcAft>
              <a:defRPr sz="3200" b="1">
                <a:solidFill>
                  <a:srgbClr val="243341"/>
                </a:solidFill>
                <a:latin typeface="Calibri"/>
              </a:defRPr>
            </a:pPr>
            <a:r>
              <a:t>What literature does—and does not—justify</a:t>
            </a:r>
          </a:p>
        </p:txBody>
      </p:sp>
      <p:grpSp>
        <p:nvGrpSpPr>
          <p:cNvPr id="18" name="Predecessor evidence and its limits"/>
          <p:cNvGrpSpPr/>
          <p:nvPr/>
        </p:nvGrpSpPr>
        <p:grpSpPr>
          <a:xfrm>
            <a:off x="749808" y="1481328"/>
            <a:ext cx="10689336" cy="3099816"/>
            <a:chOff x="749808" y="1481328"/>
            <a:chExt cx="10689336" cy="3099816"/>
          </a:xfrm>
        </p:grpSpPr>
        <p:sp>
          <p:nvSpPr>
            <p:cNvPr id="3" name="Rectangle 2"/>
            <p:cNvSpPr/>
            <p:nvPr/>
          </p:nvSpPr>
          <p:spPr>
            <a:xfrm>
              <a:off x="749808" y="1481328"/>
              <a:ext cx="4343400" cy="868680"/>
            </a:xfrm>
            <a:prstGeom prst="rect">
              <a:avLst/>
            </a:prstGeom>
            <a:solidFill>
              <a:srgbClr val="F1F4F6"/>
            </a:solidFill>
            <a:ln w="15240">
              <a:solidFill>
                <a:srgbClr val="416F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ody:Aggregate response + history"/>
            <p:cNvSpPr txBox="1"/>
            <p:nvPr/>
          </p:nvSpPr>
          <p:spPr>
            <a:xfrm>
              <a:off x="795528" y="1618488"/>
              <a:ext cx="4251960"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Aggregate response + history</a:t>
              </a:r>
            </a:p>
          </p:txBody>
        </p:sp>
        <p:sp>
          <p:nvSpPr>
            <p:cNvPr id="5" name="Right Arrow 4"/>
            <p:cNvSpPr/>
            <p:nvPr/>
          </p:nvSpPr>
          <p:spPr>
            <a:xfrm>
              <a:off x="5349240" y="1819656"/>
              <a:ext cx="475488" cy="201168"/>
            </a:xfrm>
            <a:prstGeom prst="rightArrow">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08192" y="1481328"/>
              <a:ext cx="5330952" cy="868680"/>
            </a:xfrm>
            <a:prstGeom prst="rect">
              <a:avLst/>
            </a:prstGeom>
            <a:solidFill>
              <a:srgbClr val="EDF5F6"/>
            </a:solid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ody:Strong baseline—not full obedience"/>
            <p:cNvSpPr txBox="1"/>
            <p:nvPr/>
          </p:nvSpPr>
          <p:spPr>
            <a:xfrm>
              <a:off x="6153912" y="1618488"/>
              <a:ext cx="5239512"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Strong baseline—not full obedience</a:t>
              </a:r>
            </a:p>
          </p:txBody>
        </p:sp>
        <p:sp>
          <p:nvSpPr>
            <p:cNvPr id="8" name="Rectangle 7"/>
            <p:cNvSpPr/>
            <p:nvPr/>
          </p:nvSpPr>
          <p:spPr>
            <a:xfrm>
              <a:off x="749808" y="2596896"/>
              <a:ext cx="4343400" cy="868680"/>
            </a:xfrm>
            <a:prstGeom prst="rect">
              <a:avLst/>
            </a:prstGeom>
            <a:solidFill>
              <a:srgbClr val="F1F4F6"/>
            </a:solidFill>
            <a:ln w="15240">
              <a:solidFill>
                <a:srgbClr val="416F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ody:Lane distribution + transfer"/>
            <p:cNvSpPr txBox="1"/>
            <p:nvPr/>
          </p:nvSpPr>
          <p:spPr>
            <a:xfrm>
              <a:off x="795528" y="2734056"/>
              <a:ext cx="4251960"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Lane distribution + transfer</a:t>
              </a:r>
            </a:p>
          </p:txBody>
        </p:sp>
        <p:sp>
          <p:nvSpPr>
            <p:cNvPr id="10" name="Right Arrow 9"/>
            <p:cNvSpPr/>
            <p:nvPr/>
          </p:nvSpPr>
          <p:spPr>
            <a:xfrm>
              <a:off x="5349240" y="2935224"/>
              <a:ext cx="475488" cy="201168"/>
            </a:xfrm>
            <a:prstGeom prst="rightArrow">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08192" y="2596896"/>
              <a:ext cx="5330952" cy="868680"/>
            </a:xfrm>
            <a:prstGeom prst="rect">
              <a:avLst/>
            </a:prstGeom>
            <a:solidFill>
              <a:srgbClr val="EDF5F6"/>
            </a:solid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ody:Mechanism evidence—not necessity"/>
            <p:cNvSpPr txBox="1"/>
            <p:nvPr/>
          </p:nvSpPr>
          <p:spPr>
            <a:xfrm>
              <a:off x="6153912" y="2734056"/>
              <a:ext cx="5239512"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Mechanism evidence—not necessity</a:t>
              </a:r>
            </a:p>
          </p:txBody>
        </p:sp>
        <p:sp>
          <p:nvSpPr>
            <p:cNvPr id="13" name="Rectangle 12"/>
            <p:cNvSpPr/>
            <p:nvPr/>
          </p:nvSpPr>
          <p:spPr>
            <a:xfrm>
              <a:off x="749808" y="3712464"/>
              <a:ext cx="4343400" cy="868680"/>
            </a:xfrm>
            <a:prstGeom prst="rect">
              <a:avLst/>
            </a:prstGeom>
            <a:solidFill>
              <a:srgbClr val="F1F4F6"/>
            </a:solidFill>
            <a:ln w="15240">
              <a:solidFill>
                <a:srgbClr val="416F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ody:Richer-model control gains"/>
            <p:cNvSpPr txBox="1"/>
            <p:nvPr/>
          </p:nvSpPr>
          <p:spPr>
            <a:xfrm>
              <a:off x="795528" y="3849624"/>
              <a:ext cx="4251960"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Richer-model control gains</a:t>
              </a:r>
            </a:p>
          </p:txBody>
        </p:sp>
        <p:sp>
          <p:nvSpPr>
            <p:cNvPr id="15" name="Right Arrow 14"/>
            <p:cNvSpPr/>
            <p:nvPr/>
          </p:nvSpPr>
          <p:spPr>
            <a:xfrm>
              <a:off x="5349240" y="4050792"/>
              <a:ext cx="475488" cy="201168"/>
            </a:xfrm>
            <a:prstGeom prst="rightArrow">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08192" y="3712464"/>
              <a:ext cx="5330952" cy="868680"/>
            </a:xfrm>
            <a:prstGeom prst="rect">
              <a:avLst/>
            </a:prstGeom>
            <a:solidFill>
              <a:srgbClr val="EDF5F6"/>
            </a:solid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ody:Check action/objective confounds"/>
            <p:cNvSpPr txBox="1"/>
            <p:nvPr/>
          </p:nvSpPr>
          <p:spPr>
            <a:xfrm>
              <a:off x="6153912" y="3849624"/>
              <a:ext cx="5239512"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Check action/objective confounds</a:t>
              </a:r>
            </a:p>
          </p:txBody>
        </p:sp>
      </p:grpSp>
      <p:sp>
        <p:nvSpPr>
          <p:cNvPr id="19" name="body:Classes, lanes and individual order are not a mandatory development ladder."/>
          <p:cNvSpPr txBox="1"/>
          <p:nvPr/>
        </p:nvSpPr>
        <p:spPr>
          <a:xfrm>
            <a:off x="777240" y="5257800"/>
            <a:ext cx="10652760" cy="347472"/>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Classes, lanes and individual order are not a mandatory development ladder.</a:t>
            </a:r>
          </a:p>
        </p:txBody>
      </p:sp>
      <p:sp>
        <p:nvSpPr>
          <p:cNvPr id="20" name="body:Next: match full aggregate history, advice choices and objective."/>
          <p:cNvSpPr txBox="1"/>
          <p:nvPr/>
        </p:nvSpPr>
        <p:spPr>
          <a:xfrm>
            <a:off x="777240" y="5760720"/>
            <a:ext cx="10652760" cy="347472"/>
          </a:xfrm>
          <a:prstGeom prst="rect">
            <a:avLst/>
          </a:prstGeom>
          <a:noFill/>
        </p:spPr>
        <p:txBody>
          <a:bodyPr wrap="none" lIns="36576" rIns="36576" tIns="18288" bIns="18288" anchor="t">
            <a:spAutoFit/>
          </a:bodyPr>
          <a:lstStyle/>
          <a:p>
            <a:pPr algn="l">
              <a:spcBef>
                <a:spcPts val="0"/>
              </a:spcBef>
              <a:spcAft>
                <a:spcPts val="0"/>
              </a:spcAft>
              <a:defRPr sz="1800" b="1">
                <a:solidFill>
                  <a:srgbClr val="267D86"/>
                </a:solidFill>
                <a:latin typeface="Calibri"/>
              </a:defRPr>
            </a:pPr>
            <a:r>
              <a:t>Next: match full aggregate history, advice choices and objective.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Lane differences need not change decisions"/>
          <p:cNvSpPr txBox="1"/>
          <p:nvPr/>
        </p:nvSpPr>
        <p:spPr>
          <a:xfrm>
            <a:off x="594360" y="365760"/>
            <a:ext cx="10972800" cy="621792"/>
          </a:xfrm>
          <a:prstGeom prst="rect">
            <a:avLst/>
          </a:prstGeom>
          <a:noFill/>
        </p:spPr>
        <p:txBody>
          <a:bodyPr wrap="none" lIns="36576" rIns="36576" tIns="18288" bIns="18288" anchor="t">
            <a:spAutoFit/>
          </a:bodyPr>
          <a:lstStyle/>
          <a:p>
            <a:pPr algn="l">
              <a:spcBef>
                <a:spcPts val="0"/>
              </a:spcBef>
              <a:spcAft>
                <a:spcPts val="0"/>
              </a:spcAft>
              <a:defRPr sz="3200" b="1">
                <a:solidFill>
                  <a:srgbClr val="243341"/>
                </a:solidFill>
                <a:latin typeface="Calibri"/>
              </a:defRPr>
            </a:pPr>
            <a:r>
              <a:t>Lane differences need not change decisions</a:t>
            </a:r>
          </a:p>
        </p:txBody>
      </p:sp>
      <p:sp>
        <p:nvSpPr>
          <p:cNvPr id="3" name="body:Illustration only: equal totals, not a certified full-history match."/>
          <p:cNvSpPr txBox="1"/>
          <p:nvPr/>
        </p:nvSpPr>
        <p:spPr>
          <a:xfrm>
            <a:off x="777240" y="1188720"/>
            <a:ext cx="10652760" cy="347472"/>
          </a:xfrm>
          <a:prstGeom prst="rect">
            <a:avLst/>
          </a:prstGeom>
          <a:noFill/>
        </p:spPr>
        <p:txBody>
          <a:bodyPr wrap="none" lIns="36576" rIns="36576" tIns="18288" bIns="18288" anchor="t">
            <a:spAutoFit/>
          </a:bodyPr>
          <a:lstStyle/>
          <a:p>
            <a:pPr algn="l">
              <a:spcBef>
                <a:spcPts val="0"/>
              </a:spcBef>
              <a:spcAft>
                <a:spcPts val="0"/>
              </a:spcAft>
              <a:defRPr sz="1800" b="0">
                <a:solidFill>
                  <a:srgbClr val="7D8791"/>
                </a:solidFill>
                <a:latin typeface="Calibri"/>
              </a:defRPr>
            </a:pPr>
            <a:r>
              <a:t>Illustration only: equal totals, not a certified full-history match.</a:t>
            </a:r>
          </a:p>
        </p:txBody>
      </p:sp>
      <p:grpSp>
        <p:nvGrpSpPr>
          <p:cNvPr id="18" name="Illustrative 30-vehicle-equivalent lane-allocation plot"/>
          <p:cNvGrpSpPr/>
          <p:nvPr/>
        </p:nvGrpSpPr>
        <p:grpSpPr>
          <a:xfrm>
            <a:off x="868680" y="1828800"/>
            <a:ext cx="10451592" cy="2020824"/>
            <a:chOff x="868680" y="1828800"/>
            <a:chExt cx="10451592" cy="2020824"/>
          </a:xfrm>
        </p:grpSpPr>
        <p:sp>
          <p:nvSpPr>
            <p:cNvPr id="4" name="plot:Situation 1"/>
            <p:cNvSpPr txBox="1"/>
            <p:nvPr/>
          </p:nvSpPr>
          <p:spPr>
            <a:xfrm>
              <a:off x="868680" y="1828800"/>
              <a:ext cx="4882896" cy="347472"/>
            </a:xfrm>
            <a:prstGeom prst="rect">
              <a:avLst/>
            </a:prstGeom>
            <a:noFill/>
          </p:spPr>
          <p:txBody>
            <a:bodyPr wrap="none" lIns="36576" rIns="36576" tIns="18288" bIns="18288" anchor="t">
              <a:spAutoFit/>
            </a:bodyPr>
            <a:lstStyle/>
            <a:p>
              <a:pPr algn="ctr">
                <a:spcBef>
                  <a:spcPts val="0"/>
                </a:spcBef>
                <a:spcAft>
                  <a:spcPts val="0"/>
                </a:spcAft>
                <a:defRPr sz="1800" b="1">
                  <a:solidFill>
                    <a:srgbClr val="243341"/>
                  </a:solidFill>
                  <a:latin typeface="Calibri"/>
                </a:defRPr>
              </a:pPr>
              <a:r>
                <a:t>Situation 1</a:t>
              </a:r>
            </a:p>
          </p:txBody>
        </p:sp>
        <p:sp>
          <p:nvSpPr>
            <p:cNvPr id="5" name="Rectangle 4"/>
            <p:cNvSpPr/>
            <p:nvPr/>
          </p:nvSpPr>
          <p:spPr>
            <a:xfrm>
              <a:off x="868680" y="2423160"/>
              <a:ext cx="2441448" cy="685800"/>
            </a:xfrm>
            <a:prstGeom prst="rect">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310128" y="2423160"/>
              <a:ext cx="2441448" cy="685800"/>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ot:15"/>
            <p:cNvSpPr txBox="1"/>
            <p:nvPr/>
          </p:nvSpPr>
          <p:spPr>
            <a:xfrm>
              <a:off x="886968" y="2542032"/>
              <a:ext cx="2404872" cy="411480"/>
            </a:xfrm>
            <a:prstGeom prst="rect">
              <a:avLst/>
            </a:prstGeom>
            <a:noFill/>
          </p:spPr>
          <p:txBody>
            <a:bodyPr wrap="none" lIns="36576" rIns="36576" tIns="18288" bIns="18288" anchor="t">
              <a:spAutoFit/>
            </a:bodyPr>
            <a:lstStyle/>
            <a:p>
              <a:pPr algn="ctr">
                <a:spcBef>
                  <a:spcPts val="0"/>
                </a:spcBef>
                <a:spcAft>
                  <a:spcPts val="0"/>
                </a:spcAft>
                <a:defRPr sz="1800" b="1">
                  <a:solidFill>
                    <a:srgbClr val="FFFFFF"/>
                  </a:solidFill>
                  <a:latin typeface="Calibri"/>
                </a:defRPr>
              </a:pPr>
              <a:r>
                <a:t>15</a:t>
              </a:r>
            </a:p>
          </p:txBody>
        </p:sp>
        <p:sp>
          <p:nvSpPr>
            <p:cNvPr id="8" name="plot:15"/>
            <p:cNvSpPr txBox="1"/>
            <p:nvPr/>
          </p:nvSpPr>
          <p:spPr>
            <a:xfrm>
              <a:off x="3328416" y="2542032"/>
              <a:ext cx="2404872" cy="411480"/>
            </a:xfrm>
            <a:prstGeom prst="rect">
              <a:avLst/>
            </a:prstGeom>
            <a:noFill/>
          </p:spPr>
          <p:txBody>
            <a:bodyPr wrap="none" lIns="36576" rIns="36576" tIns="18288" bIns="18288" anchor="t">
              <a:spAutoFit/>
            </a:bodyPr>
            <a:lstStyle/>
            <a:p>
              <a:pPr algn="ctr">
                <a:spcBef>
                  <a:spcPts val="0"/>
                </a:spcBef>
                <a:spcAft>
                  <a:spcPts val="0"/>
                </a:spcAft>
                <a:defRPr sz="1800" b="1">
                  <a:solidFill>
                    <a:srgbClr val="FFFFFF"/>
                  </a:solidFill>
                  <a:latin typeface="Calibri"/>
                </a:defRPr>
              </a:pPr>
              <a:r>
                <a:t>15</a:t>
              </a:r>
            </a:p>
          </p:txBody>
        </p:sp>
        <p:sp>
          <p:nvSpPr>
            <p:cNvPr id="9" name="plot:Situation 2"/>
            <p:cNvSpPr txBox="1"/>
            <p:nvPr/>
          </p:nvSpPr>
          <p:spPr>
            <a:xfrm>
              <a:off x="6437376" y="1828800"/>
              <a:ext cx="4882896" cy="347472"/>
            </a:xfrm>
            <a:prstGeom prst="rect">
              <a:avLst/>
            </a:prstGeom>
            <a:noFill/>
          </p:spPr>
          <p:txBody>
            <a:bodyPr wrap="none" lIns="36576" rIns="36576" tIns="18288" bIns="18288" anchor="t">
              <a:spAutoFit/>
            </a:bodyPr>
            <a:lstStyle/>
            <a:p>
              <a:pPr algn="ctr">
                <a:spcBef>
                  <a:spcPts val="0"/>
                </a:spcBef>
                <a:spcAft>
                  <a:spcPts val="0"/>
                </a:spcAft>
                <a:defRPr sz="1800" b="1">
                  <a:solidFill>
                    <a:srgbClr val="243341"/>
                  </a:solidFill>
                  <a:latin typeface="Calibri"/>
                </a:defRPr>
              </a:pPr>
              <a:r>
                <a:t>Situation 2</a:t>
              </a:r>
            </a:p>
          </p:txBody>
        </p:sp>
        <p:sp>
          <p:nvSpPr>
            <p:cNvPr id="10" name="Rectangle 9"/>
            <p:cNvSpPr/>
            <p:nvPr/>
          </p:nvSpPr>
          <p:spPr>
            <a:xfrm>
              <a:off x="6437376" y="2423160"/>
              <a:ext cx="813816" cy="685800"/>
            </a:xfrm>
            <a:prstGeom prst="rect">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51192" y="2423160"/>
              <a:ext cx="4069080" cy="685800"/>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lot:5"/>
            <p:cNvSpPr txBox="1"/>
            <p:nvPr/>
          </p:nvSpPr>
          <p:spPr>
            <a:xfrm>
              <a:off x="6455664" y="2542032"/>
              <a:ext cx="777240" cy="411480"/>
            </a:xfrm>
            <a:prstGeom prst="rect">
              <a:avLst/>
            </a:prstGeom>
            <a:noFill/>
          </p:spPr>
          <p:txBody>
            <a:bodyPr wrap="none" lIns="36576" rIns="36576" tIns="18288" bIns="18288" anchor="t">
              <a:spAutoFit/>
            </a:bodyPr>
            <a:lstStyle/>
            <a:p>
              <a:pPr algn="ctr">
                <a:spcBef>
                  <a:spcPts val="0"/>
                </a:spcBef>
                <a:spcAft>
                  <a:spcPts val="0"/>
                </a:spcAft>
                <a:defRPr sz="1800" b="1">
                  <a:solidFill>
                    <a:srgbClr val="FFFFFF"/>
                  </a:solidFill>
                  <a:latin typeface="Calibri"/>
                </a:defRPr>
              </a:pPr>
              <a:r>
                <a:t>5</a:t>
              </a:r>
            </a:p>
          </p:txBody>
        </p:sp>
        <p:sp>
          <p:nvSpPr>
            <p:cNvPr id="13" name="plot:25"/>
            <p:cNvSpPr txBox="1"/>
            <p:nvPr/>
          </p:nvSpPr>
          <p:spPr>
            <a:xfrm>
              <a:off x="7269479" y="2542032"/>
              <a:ext cx="4032504" cy="411480"/>
            </a:xfrm>
            <a:prstGeom prst="rect">
              <a:avLst/>
            </a:prstGeom>
            <a:noFill/>
          </p:spPr>
          <p:txBody>
            <a:bodyPr wrap="none" lIns="36576" rIns="36576" tIns="18288" bIns="18288" anchor="t">
              <a:spAutoFit/>
            </a:bodyPr>
            <a:lstStyle/>
            <a:p>
              <a:pPr algn="ctr">
                <a:spcBef>
                  <a:spcPts val="0"/>
                </a:spcBef>
                <a:spcAft>
                  <a:spcPts val="0"/>
                </a:spcAft>
                <a:defRPr sz="1800" b="1">
                  <a:solidFill>
                    <a:srgbClr val="FFFFFF"/>
                  </a:solidFill>
                  <a:latin typeface="Calibri"/>
                </a:defRPr>
              </a:pPr>
              <a:r>
                <a:t>25</a:t>
              </a:r>
            </a:p>
          </p:txBody>
        </p:sp>
        <p:sp>
          <p:nvSpPr>
            <p:cNvPr id="14" name="Rectangle 13"/>
            <p:cNvSpPr/>
            <p:nvPr/>
          </p:nvSpPr>
          <p:spPr>
            <a:xfrm>
              <a:off x="2816352" y="3566160"/>
              <a:ext cx="201168" cy="201168"/>
            </a:xfrm>
            <a:prstGeom prst="rect">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lot:Ending lane"/>
            <p:cNvSpPr txBox="1"/>
            <p:nvPr/>
          </p:nvSpPr>
          <p:spPr>
            <a:xfrm>
              <a:off x="3127248" y="3520440"/>
              <a:ext cx="1847088" cy="329184"/>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Ending lane</a:t>
              </a:r>
            </a:p>
          </p:txBody>
        </p:sp>
        <p:sp>
          <p:nvSpPr>
            <p:cNvPr id="16" name="Rectangle 15"/>
            <p:cNvSpPr/>
            <p:nvPr/>
          </p:nvSpPr>
          <p:spPr>
            <a:xfrm>
              <a:off x="6464808" y="3566160"/>
              <a:ext cx="201168" cy="201168"/>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lot:Continuing lanes"/>
            <p:cNvSpPr txBox="1"/>
            <p:nvPr/>
          </p:nvSpPr>
          <p:spPr>
            <a:xfrm>
              <a:off x="6766560" y="3520440"/>
              <a:ext cx="2971800" cy="329184"/>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Continuing lanes</a:t>
              </a:r>
            </a:p>
          </p:txBody>
        </p:sp>
      </p:grpSp>
      <p:sp>
        <p:nvSpPr>
          <p:cNvPr id="19" name="body:Required: match the complete retained aggregate observations and history."/>
          <p:cNvSpPr txBox="1"/>
          <p:nvPr/>
        </p:nvSpPr>
        <p:spPr>
          <a:xfrm>
            <a:off x="777240" y="4251960"/>
            <a:ext cx="10652760" cy="347472"/>
          </a:xfrm>
          <a:prstGeom prst="rect">
            <a:avLst/>
          </a:prstGeom>
          <a:noFill/>
        </p:spPr>
        <p:txBody>
          <a:bodyPr wrap="none" lIns="36576" rIns="36576" tIns="18288" bIns="18288" anchor="t">
            <a:spAutoFit/>
          </a:bodyPr>
          <a:lstStyle/>
          <a:p>
            <a:pPr algn="l">
              <a:spcBef>
                <a:spcPts val="0"/>
              </a:spcBef>
              <a:spcAft>
                <a:spcPts val="0"/>
              </a:spcAft>
              <a:defRPr sz="1800" b="1">
                <a:solidFill>
                  <a:srgbClr val="243341"/>
                </a:solidFill>
                <a:latin typeface="Calibri"/>
              </a:defRPr>
            </a:pPr>
            <a:r>
              <a:t>Required: match the complete retained aggregate observations and history.</a:t>
            </a:r>
          </a:p>
        </p:txBody>
      </p:sp>
      <p:sp>
        <p:nvSpPr>
          <p:cNvPr id="20" name="body:Information loss: identical inputs still conceal decision-relevant differences."/>
          <p:cNvSpPr txBox="1"/>
          <p:nvPr/>
        </p:nvSpPr>
        <p:spPr>
          <a:xfrm>
            <a:off x="777240" y="4709160"/>
            <a:ext cx="10652760" cy="347472"/>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Information loss: identical inputs still conceal decision-relevant differences.</a:t>
            </a:r>
          </a:p>
        </p:txBody>
      </p:sp>
      <p:sp>
        <p:nvSpPr>
          <p:cNvPr id="21" name="body:Model inadequacy: available information is used poorly by one model."/>
          <p:cNvSpPr txBox="1"/>
          <p:nvPr/>
        </p:nvSpPr>
        <p:spPr>
          <a:xfrm>
            <a:off x="777240" y="5166360"/>
            <a:ext cx="10652760" cy="347472"/>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Model inadequacy: available information is used poorly by one model.</a:t>
            </a:r>
          </a:p>
        </p:txBody>
      </p:sp>
      <p:sp>
        <p:nvSpPr>
          <p:cNvPr id="22" name="body:Decision-loss test: no common acceptable advice in the tested menu."/>
          <p:cNvSpPr txBox="1"/>
          <p:nvPr/>
        </p:nvSpPr>
        <p:spPr>
          <a:xfrm>
            <a:off x="777240" y="5623560"/>
            <a:ext cx="10652760" cy="347472"/>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Decision-loss test: no common acceptable advice in the tested menu.</a:t>
            </a:r>
          </a:p>
        </p:txBody>
      </p:sp>
      <p:sp>
        <p:nvSpPr>
          <p:cNvPr id="23" name="body:Next: can hidden lane state alter the value of common advice?"/>
          <p:cNvSpPr txBox="1"/>
          <p:nvPr/>
        </p:nvSpPr>
        <p:spPr>
          <a:xfrm>
            <a:off x="777240" y="6080760"/>
            <a:ext cx="10652760" cy="347472"/>
          </a:xfrm>
          <a:prstGeom prst="rect">
            <a:avLst/>
          </a:prstGeom>
          <a:noFill/>
        </p:spPr>
        <p:txBody>
          <a:bodyPr wrap="none" lIns="36576" rIns="36576" tIns="18288" bIns="18288" anchor="t">
            <a:spAutoFit/>
          </a:bodyPr>
          <a:lstStyle/>
          <a:p>
            <a:pPr algn="l">
              <a:spcBef>
                <a:spcPts val="0"/>
              </a:spcBef>
              <a:spcAft>
                <a:spcPts val="0"/>
              </a:spcAft>
              <a:defRPr sz="1800" b="1">
                <a:solidFill>
                  <a:srgbClr val="267D86"/>
                </a:solidFill>
                <a:latin typeface="Calibri"/>
              </a:defRPr>
            </a:pPr>
            <a:r>
              <a:t>Next: can hidden lane state alter the value of common advice?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Hidden state must change useful decisions"/>
          <p:cNvSpPr txBox="1"/>
          <p:nvPr/>
        </p:nvSpPr>
        <p:spPr>
          <a:xfrm>
            <a:off x="594360" y="365760"/>
            <a:ext cx="10972800" cy="621792"/>
          </a:xfrm>
          <a:prstGeom prst="rect">
            <a:avLst/>
          </a:prstGeom>
          <a:noFill/>
        </p:spPr>
        <p:txBody>
          <a:bodyPr wrap="none" lIns="36576" rIns="36576" tIns="18288" bIns="18288" anchor="t">
            <a:spAutoFit/>
          </a:bodyPr>
          <a:lstStyle/>
          <a:p>
            <a:pPr algn="l">
              <a:spcBef>
                <a:spcPts val="0"/>
              </a:spcBef>
              <a:spcAft>
                <a:spcPts val="0"/>
              </a:spcAft>
              <a:defRPr sz="3200" b="1">
                <a:solidFill>
                  <a:srgbClr val="243341"/>
                </a:solidFill>
                <a:latin typeface="Calibri"/>
              </a:defRPr>
            </a:pPr>
            <a:r>
              <a:t>Hidden state must change useful decisions</a:t>
            </a:r>
          </a:p>
        </p:txBody>
      </p:sp>
      <p:grpSp>
        <p:nvGrpSpPr>
          <p:cNvPr id="14" name="Advice-response-interaction-usefulness chain"/>
          <p:cNvGrpSpPr/>
          <p:nvPr/>
        </p:nvGrpSpPr>
        <p:grpSpPr>
          <a:xfrm>
            <a:off x="749808" y="1600200"/>
            <a:ext cx="10689336" cy="868680"/>
            <a:chOff x="749808" y="1600200"/>
            <a:chExt cx="10689336" cy="868680"/>
          </a:xfrm>
        </p:grpSpPr>
        <p:sp>
          <p:nvSpPr>
            <p:cNvPr id="3" name="Rectangle 2"/>
            <p:cNvSpPr/>
            <p:nvPr/>
          </p:nvSpPr>
          <p:spPr>
            <a:xfrm>
              <a:off x="749808" y="1600200"/>
              <a:ext cx="2240280" cy="868680"/>
            </a:xfrm>
            <a:prstGeom prst="rect">
              <a:avLst/>
            </a:prstGeom>
            <a:solidFill>
              <a:srgbClr val="EDF5F6"/>
            </a:solid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ody:Shared advice"/>
            <p:cNvSpPr txBox="1"/>
            <p:nvPr/>
          </p:nvSpPr>
          <p:spPr>
            <a:xfrm>
              <a:off x="795528" y="1737360"/>
              <a:ext cx="2148840"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Shared advice</a:t>
              </a:r>
            </a:p>
          </p:txBody>
        </p:sp>
        <p:sp>
          <p:nvSpPr>
            <p:cNvPr id="5" name="Rectangle 4"/>
            <p:cNvSpPr/>
            <p:nvPr/>
          </p:nvSpPr>
          <p:spPr>
            <a:xfrm>
              <a:off x="3566160" y="1600200"/>
              <a:ext cx="2240280" cy="868680"/>
            </a:xfrm>
            <a:prstGeom prst="rect">
              <a:avLst/>
            </a:prstGeom>
            <a:solidFill>
              <a:srgbClr val="EDF5F6"/>
            </a:solid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ody:Desired speed"/>
            <p:cNvSpPr txBox="1"/>
            <p:nvPr/>
          </p:nvSpPr>
          <p:spPr>
            <a:xfrm>
              <a:off x="3611879" y="1737360"/>
              <a:ext cx="2148840"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Desired speed</a:t>
              </a:r>
            </a:p>
          </p:txBody>
        </p:sp>
        <p:sp>
          <p:nvSpPr>
            <p:cNvPr id="7" name="Rectangle 6"/>
            <p:cNvSpPr/>
            <p:nvPr/>
          </p:nvSpPr>
          <p:spPr>
            <a:xfrm>
              <a:off x="6382512" y="1600200"/>
              <a:ext cx="2240280" cy="868680"/>
            </a:xfrm>
            <a:prstGeom prst="rect">
              <a:avLst/>
            </a:prstGeom>
            <a:solidFill>
              <a:srgbClr val="EDF5F6"/>
            </a:solid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ody:Merging"/>
            <p:cNvSpPr txBox="1"/>
            <p:nvPr/>
          </p:nvSpPr>
          <p:spPr>
            <a:xfrm>
              <a:off x="6428232" y="1737360"/>
              <a:ext cx="2148840"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Merging</a:t>
              </a:r>
            </a:p>
          </p:txBody>
        </p:sp>
        <p:sp>
          <p:nvSpPr>
            <p:cNvPr id="9" name="Rectangle 8"/>
            <p:cNvSpPr/>
            <p:nvPr/>
          </p:nvSpPr>
          <p:spPr>
            <a:xfrm>
              <a:off x="9198864" y="1600200"/>
              <a:ext cx="2240280" cy="868680"/>
            </a:xfrm>
            <a:prstGeom prst="rect">
              <a:avLst/>
            </a:prstGeom>
            <a:solidFill>
              <a:srgbClr val="EDF5F6"/>
            </a:solid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ody:Outcome?"/>
            <p:cNvSpPr txBox="1"/>
            <p:nvPr/>
          </p:nvSpPr>
          <p:spPr>
            <a:xfrm>
              <a:off x="9244584" y="1737360"/>
              <a:ext cx="2148840"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Outcome?</a:t>
              </a:r>
            </a:p>
          </p:txBody>
        </p:sp>
        <p:sp>
          <p:nvSpPr>
            <p:cNvPr id="11" name="Right Arrow 10"/>
            <p:cNvSpPr/>
            <p:nvPr/>
          </p:nvSpPr>
          <p:spPr>
            <a:xfrm>
              <a:off x="3108960" y="1929384"/>
              <a:ext cx="329184"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5925312" y="1929384"/>
              <a:ext cx="329184"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8741664" y="1929384"/>
              <a:ext cx="329184"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5" name="body:Hidden contrast is possible in conditional free flow—but that is not enough."/>
          <p:cNvSpPr txBox="1"/>
          <p:nvPr/>
        </p:nvSpPr>
        <p:spPr>
          <a:xfrm>
            <a:off x="777240" y="3154680"/>
            <a:ext cx="10652760" cy="420624"/>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Hidden contrast is possible in conditional free flow—but that is not enough.</a:t>
            </a:r>
          </a:p>
        </p:txBody>
      </p:sp>
      <p:sp>
        <p:nvSpPr>
          <p:cNvPr id="16" name="body:Fixed-service subcase: earlier arrivals make highest advice a common best."/>
          <p:cNvSpPr txBox="1"/>
          <p:nvPr/>
        </p:nvSpPr>
        <p:spPr>
          <a:xfrm>
            <a:off x="777240" y="3858768"/>
            <a:ext cx="10652760" cy="420624"/>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Fixed-service subcase: earlier arrivals make highest advice a common best.</a:t>
            </a:r>
          </a:p>
        </p:txBody>
      </p:sp>
      <p:sp>
        <p:nvSpPr>
          <p:cNvPr id="17" name="body:Thus inspect native merging: can state-dependent benefits outweigh delay?"/>
          <p:cNvSpPr txBox="1"/>
          <p:nvPr/>
        </p:nvSpPr>
        <p:spPr>
          <a:xfrm>
            <a:off x="777240" y="4562856"/>
            <a:ext cx="10652760" cy="420624"/>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Thus inspect native merging: can state-dependent benefits outweigh delay?</a:t>
            </a:r>
          </a:p>
        </p:txBody>
      </p:sp>
      <p:sp>
        <p:nvSpPr>
          <p:cNvPr id="18" name="body:Next: find a reachable hidden-state contrast with different useful advice."/>
          <p:cNvSpPr txBox="1"/>
          <p:nvPr/>
        </p:nvSpPr>
        <p:spPr>
          <a:xfrm>
            <a:off x="777240" y="5266944"/>
            <a:ext cx="10652760" cy="420624"/>
          </a:xfrm>
          <a:prstGeom prst="rect">
            <a:avLst/>
          </a:prstGeom>
          <a:noFill/>
        </p:spPr>
        <p:txBody>
          <a:bodyPr wrap="none" lIns="36576" rIns="36576" tIns="18288" bIns="18288" anchor="t">
            <a:spAutoFit/>
          </a:bodyPr>
          <a:lstStyle/>
          <a:p>
            <a:pPr algn="l">
              <a:spcBef>
                <a:spcPts val="0"/>
              </a:spcBef>
              <a:spcAft>
                <a:spcPts val="0"/>
              </a:spcAft>
              <a:defRPr sz="1800" b="1">
                <a:solidFill>
                  <a:srgbClr val="267D86"/>
                </a:solidFill>
                <a:latin typeface="Calibri"/>
              </a:defRPr>
            </a:pPr>
            <a:r>
              <a:t>Next: find a reachable hidden-state contrast with different useful advice.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Mechanisms exist; information value is open"/>
          <p:cNvSpPr txBox="1"/>
          <p:nvPr/>
        </p:nvSpPr>
        <p:spPr>
          <a:xfrm>
            <a:off x="594360" y="365760"/>
            <a:ext cx="10972800" cy="621792"/>
          </a:xfrm>
          <a:prstGeom prst="rect">
            <a:avLst/>
          </a:prstGeom>
          <a:noFill/>
        </p:spPr>
        <p:txBody>
          <a:bodyPr wrap="none" lIns="36576" rIns="36576" tIns="18288" bIns="18288" anchor="t">
            <a:spAutoFit/>
          </a:bodyPr>
          <a:lstStyle/>
          <a:p>
            <a:pPr algn="l">
              <a:spcBef>
                <a:spcPts val="0"/>
              </a:spcBef>
              <a:spcAft>
                <a:spcPts val="0"/>
              </a:spcAft>
              <a:defRPr sz="3200" b="1">
                <a:solidFill>
                  <a:srgbClr val="243341"/>
                </a:solidFill>
                <a:latin typeface="Calibri"/>
              </a:defRPr>
            </a:pPr>
            <a:r>
              <a:t>Mechanisms exist; information value is open</a:t>
            </a:r>
          </a:p>
        </p:txBody>
      </p:sp>
      <p:sp>
        <p:nvSpPr>
          <p:cNvPr id="3" name="body:Supported: strong aggregate alternatives and plausible merge mechanisms."/>
          <p:cNvSpPr txBox="1"/>
          <p:nvPr/>
        </p:nvSpPr>
        <p:spPr>
          <a:xfrm>
            <a:off x="777240" y="1234440"/>
            <a:ext cx="10652760" cy="365760"/>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Supported: strong aggregate alternatives and plausible merge mechanisms.</a:t>
            </a:r>
          </a:p>
        </p:txBody>
      </p:sp>
      <p:sp>
        <p:nvSpPr>
          <p:cNvPr id="4" name="body:Missing: a reachable full-history match requiring different useful advice."/>
          <p:cNvSpPr txBox="1"/>
          <p:nvPr/>
        </p:nvSpPr>
        <p:spPr>
          <a:xfrm>
            <a:off x="777240" y="1719072"/>
            <a:ext cx="10652760" cy="365760"/>
          </a:xfrm>
          <a:prstGeom prst="rect">
            <a:avLst/>
          </a:prstGeom>
          <a:noFill/>
        </p:spPr>
        <p:txBody>
          <a:bodyPr wrap="none" lIns="36576" rIns="36576" tIns="18288" bIns="18288" anchor="t">
            <a:spAutoFit/>
          </a:bodyPr>
          <a:lstStyle/>
          <a:p>
            <a:pPr algn="l">
              <a:spcBef>
                <a:spcPts val="0"/>
              </a:spcBef>
              <a:spcAft>
                <a:spcPts val="0"/>
              </a:spcAft>
              <a:defRPr sz="1800" b="1">
                <a:solidFill>
                  <a:srgbClr val="267D86"/>
                </a:solidFill>
                <a:latin typeface="Calibri"/>
              </a:defRPr>
            </a:pPr>
            <a:r>
              <a:t>Missing: a reachable full-history match requiring different useful advice.</a:t>
            </a:r>
          </a:p>
        </p:txBody>
      </p:sp>
      <p:grpSp>
        <p:nvGrpSpPr>
          <p:cNvPr id="13" name="Where hidden lane contrast can survive"/>
          <p:cNvGrpSpPr/>
          <p:nvPr/>
        </p:nvGrpSpPr>
        <p:grpSpPr>
          <a:xfrm>
            <a:off x="914400" y="2404872"/>
            <a:ext cx="10332720" cy="1984248"/>
            <a:chOff x="914400" y="2404872"/>
            <a:chExt cx="10332720" cy="1984248"/>
          </a:xfrm>
        </p:grpSpPr>
        <p:sp>
          <p:nvSpPr>
            <p:cNvPr id="5" name="Rectangle 4"/>
            <p:cNvSpPr/>
            <p:nvPr/>
          </p:nvSpPr>
          <p:spPr>
            <a:xfrm>
              <a:off x="914400" y="2560320"/>
              <a:ext cx="10332720" cy="265176"/>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2999232"/>
              <a:ext cx="10332720" cy="265176"/>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3438144"/>
              <a:ext cx="7278624" cy="265176"/>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flipV="1">
              <a:off x="8193024" y="3127248"/>
              <a:ext cx="1042416" cy="438912"/>
            </a:xfrm>
            <a:prstGeom prst="line">
              <a:avLst/>
            </a:prstGeom>
            <a:ln w="19050">
              <a:solidFill>
                <a:srgbClr val="7D8791"/>
              </a:solidFill>
              <a:tailEnd type="triangle"/>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2670048" y="2404872"/>
              <a:ext cx="877824" cy="1481328"/>
            </a:xfrm>
            <a:prstGeom prst="ellipse">
              <a:avLst/>
            </a:prstGeom>
            <a:no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50608" y="2404872"/>
              <a:ext cx="877824" cy="1481328"/>
            </a:xfrm>
            <a:prstGeom prst="ellipse">
              <a:avLst/>
            </a:prstGeom>
            <a:no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ody:Earlier upstream"/>
            <p:cNvSpPr txBox="1"/>
            <p:nvPr/>
          </p:nvSpPr>
          <p:spPr>
            <a:xfrm>
              <a:off x="1865376" y="4023360"/>
              <a:ext cx="2487168" cy="365760"/>
            </a:xfrm>
            <a:prstGeom prst="rect">
              <a:avLst/>
            </a:prstGeom>
            <a:noFill/>
          </p:spPr>
          <p:txBody>
            <a:bodyPr wrap="none" lIns="36576" rIns="36576" tIns="18288" bIns="18288" anchor="t">
              <a:spAutoFit/>
            </a:bodyPr>
            <a:lstStyle/>
            <a:p>
              <a:pPr algn="ctr">
                <a:spcBef>
                  <a:spcPts val="0"/>
                </a:spcBef>
                <a:spcAft>
                  <a:spcPts val="0"/>
                </a:spcAft>
                <a:defRPr sz="1800" b="0">
                  <a:solidFill>
                    <a:srgbClr val="243341"/>
                  </a:solidFill>
                  <a:latin typeface="Calibri"/>
                </a:defRPr>
              </a:pPr>
              <a:r>
                <a:t>Earlier upstream</a:t>
              </a:r>
            </a:p>
          </p:txBody>
        </p:sp>
        <p:sp>
          <p:nvSpPr>
            <p:cNvPr id="12" name="body:Near the narrowing"/>
            <p:cNvSpPr txBox="1"/>
            <p:nvPr/>
          </p:nvSpPr>
          <p:spPr>
            <a:xfrm>
              <a:off x="6099048" y="4023360"/>
              <a:ext cx="2980944" cy="365760"/>
            </a:xfrm>
            <a:prstGeom prst="rect">
              <a:avLst/>
            </a:prstGeom>
            <a:noFill/>
          </p:spPr>
          <p:txBody>
            <a:bodyPr wrap="none" lIns="36576" rIns="36576" tIns="18288" bIns="18288" anchor="t">
              <a:spAutoFit/>
            </a:bodyPr>
            <a:lstStyle/>
            <a:p>
              <a:pPr algn="ctr">
                <a:spcBef>
                  <a:spcPts val="0"/>
                </a:spcBef>
                <a:spcAft>
                  <a:spcPts val="0"/>
                </a:spcAft>
                <a:defRPr sz="1800" b="0">
                  <a:solidFill>
                    <a:srgbClr val="243341"/>
                  </a:solidFill>
                  <a:latin typeface="Calibri"/>
                </a:defRPr>
              </a:pPr>
              <a:r>
                <a:t>Near the narrowing</a:t>
              </a:r>
            </a:p>
          </p:txBody>
        </p:sp>
      </p:grpSp>
      <p:sp>
        <p:nvSpPr>
          <p:cNvPr id="14" name="body:Next: make the contrast reachable without omitting informative history."/>
          <p:cNvSpPr txBox="1"/>
          <p:nvPr/>
        </p:nvSpPr>
        <p:spPr>
          <a:xfrm>
            <a:off x="777240" y="4727448"/>
            <a:ext cx="10652760" cy="365760"/>
          </a:xfrm>
          <a:prstGeom prst="rect">
            <a:avLst/>
          </a:prstGeom>
          <a:noFill/>
        </p:spPr>
        <p:txBody>
          <a:bodyPr wrap="none" lIns="36576" rIns="36576" tIns="18288" bIns="18288" anchor="t">
            <a:spAutoFit/>
          </a:bodyPr>
          <a:lstStyle/>
          <a:p>
            <a:pPr algn="l">
              <a:spcBef>
                <a:spcPts val="0"/>
              </a:spcBef>
              <a:spcAft>
                <a:spcPts val="0"/>
              </a:spcAft>
              <a:defRPr sz="1800" b="1">
                <a:solidFill>
                  <a:srgbClr val="267D86"/>
                </a:solidFill>
                <a:latin typeface="Calibri"/>
              </a:defRPr>
            </a:pPr>
            <a:r>
              <a:t>Next: make the contrast reachable without omitting informative history.</a:t>
            </a:r>
          </a:p>
        </p:txBody>
      </p:sp>
      <p:sp>
        <p:nvSpPr>
          <p:cNvPr id="15" name="body:If useful advice must differ, test the smallest conservative added state."/>
          <p:cNvSpPr txBox="1"/>
          <p:nvPr/>
        </p:nvSpPr>
        <p:spPr>
          <a:xfrm>
            <a:off x="777240" y="5230368"/>
            <a:ext cx="10652760" cy="365760"/>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If useful advice must differ, test the smallest conservative added state.</a:t>
            </a:r>
          </a:p>
        </p:txBody>
      </p:sp>
      <p:sp>
        <p:nvSpPr>
          <p:cNvPr id="16" name="body:Then test gradient correctness and independent usefulness separately."/>
          <p:cNvSpPr txBox="1"/>
          <p:nvPr/>
        </p:nvSpPr>
        <p:spPr>
          <a:xfrm>
            <a:off x="777240" y="5733288"/>
            <a:ext cx="10652760" cy="365760"/>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Then test gradient correctness and independent usefulness separately.</a:t>
            </a:r>
          </a:p>
        </p:txBody>
      </p:sp>
      <p:sp>
        <p:nvSpPr>
          <p:cNvPr id="17" name="body:Without that evidence, do not infer that richer traffic detail is necessary."/>
          <p:cNvSpPr txBox="1"/>
          <p:nvPr/>
        </p:nvSpPr>
        <p:spPr>
          <a:xfrm>
            <a:off x="777240" y="6236208"/>
            <a:ext cx="10652760" cy="365760"/>
          </a:xfrm>
          <a:prstGeom prst="rect">
            <a:avLst/>
          </a:prstGeom>
          <a:noFill/>
        </p:spPr>
        <p:txBody>
          <a:bodyPr wrap="none" lIns="36576" rIns="36576" tIns="18288" bIns="18288" anchor="t">
            <a:spAutoFit/>
          </a:bodyPr>
          <a:lstStyle/>
          <a:p>
            <a:pPr algn="l">
              <a:spcBef>
                <a:spcPts val="0"/>
              </a:spcBef>
              <a:spcAft>
                <a:spcPts val="0"/>
              </a:spcAft>
              <a:defRPr sz="1800" b="1">
                <a:solidFill>
                  <a:srgbClr val="267D86"/>
                </a:solidFill>
                <a:latin typeface="Calibri"/>
              </a:defRPr>
            </a:pPr>
            <a:r>
              <a:t>Without that evidence, do not infer that richer traffic detail is necessary.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Traffic resolution anchored to useful speed advice</dc:title>
  <dc:subject>Freeway bottleneck review: methodological findings through 18 September 2026</dc:subject>
  <dc:creator>Research review</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
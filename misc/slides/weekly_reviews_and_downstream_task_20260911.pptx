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051560"/>
            <a:ext cx="137160" cy="4297680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9966960" cy="12344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Selective Discreteness</a:t>
            </a:r>
            <a:br/>
            <a:r>
              <a:rPr sz="3200" b="1">
                <a:solidFill>
                  <a:srgbClr val="FFFFFF"/>
                </a:solidFill>
                <a:latin typeface="Calibri"/>
              </a:rPr>
              <a:t>to a Testable Control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788920"/>
            <a:ext cx="960120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100" b="0">
                <a:solidFill>
                  <a:srgbClr val="CDDDE4"/>
                </a:solidFill>
                <a:latin typeface="Calibri"/>
              </a:rPr>
              <a:t>Literature positioning · baseline design · green-allocation derivative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5166360"/>
            <a:ext cx="9692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Weekly research review | 11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960120" cy="62179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1234440"/>
            <a:ext cx="923544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Why task-first changes the research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960120" cy="62179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2194560"/>
            <a:ext cx="923544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Review 1 — novelty, gap, and baseline ladder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960120" cy="62179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3154680"/>
            <a:ext cx="923544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Review 2 — downstream task and controlled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114800"/>
            <a:ext cx="960120" cy="62179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4114800"/>
            <a:ext cx="923544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Derivative paths and current decision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Why anchor the model to a downstream task?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42415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AE4C45"/>
                </a:solidFill>
                <a:latin typeface="Calibri"/>
              </a:rPr>
              <a:t>MODEL-FIRST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36192"/>
            <a:ext cx="1417320" cy="82296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536192"/>
            <a:ext cx="1417320" cy="82296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536192"/>
            <a:ext cx="1417320" cy="82296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Find task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1947672"/>
            <a:ext cx="301752" cy="0"/>
          </a:xfrm>
          <a:prstGeom prst="line">
            <a:avLst/>
          </a:prstGeom>
          <a:ln w="21590">
            <a:solidFill>
              <a:srgbClr val="AE4C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49039" y="1947672"/>
            <a:ext cx="301752" cy="0"/>
          </a:xfrm>
          <a:prstGeom prst="line">
            <a:avLst/>
          </a:prstGeom>
          <a:ln w="21590">
            <a:solidFill>
              <a:srgbClr val="AE4C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761488"/>
            <a:ext cx="4709160" cy="233172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Risk: retain detail without knowing whether it changes a decision.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Risk: a convenient task may not isolate the proposed mechanism.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042415"/>
            <a:ext cx="48006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388B5C"/>
                </a:solidFill>
                <a:latin typeface="Calibri"/>
              </a:rPr>
              <a:t>TASK-ANCHORED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2011680" cy="74980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Methodological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61488"/>
            <a:ext cx="2011680" cy="74980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761488"/>
            <a:ext cx="2011680" cy="74980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Task + evidence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543800" y="2176272"/>
            <a:ext cx="868680" cy="566928"/>
          </a:xfrm>
          <a:prstGeom prst="line">
            <a:avLst/>
          </a:prstGeom>
          <a:ln w="21590">
            <a:solidFill>
              <a:srgbClr val="38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430768" y="3136392"/>
            <a:ext cx="1078992" cy="0"/>
          </a:xfrm>
          <a:prstGeom prst="line">
            <a:avLst/>
          </a:prstGeom>
          <a:ln w="21590">
            <a:solidFill>
              <a:srgbClr val="38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8887968" y="2176272"/>
            <a:ext cx="594360" cy="960120"/>
          </a:xfrm>
          <a:prstGeom prst="line">
            <a:avLst/>
          </a:prstGeom>
          <a:ln w="21590">
            <a:solidFill>
              <a:srgbClr val="38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92240" y="3977639"/>
            <a:ext cx="4983480" cy="164592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Task defines which information and gradient paths must survive.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Matched baselines make every extra state earn its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Review 1: is the scientific position credible?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143000"/>
            <a:ext cx="150876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069848"/>
            <a:ext cx="909828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Test novelty and define a safe claim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21991"/>
            <a:ext cx="150876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148839"/>
            <a:ext cx="909828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Protocol search + screening + full-text extraction + snowballing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00984"/>
            <a:ext cx="150876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227832"/>
            <a:ext cx="909828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37 extracted studies across aggregate, mesoscopic, micro, and hybrid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79976"/>
            <a:ext cx="1508760" cy="43891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Conclusion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4306824"/>
            <a:ext cx="9098280" cy="62179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A narrow open intersection—not a universal priority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78992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AE4C45"/>
                </a:solidFill>
                <a:latin typeface="Calibri"/>
              </a:rPr>
              <a:t>The strongest threat is empirical: lane/storage aggregates may already provide equally useful control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The defensible gap and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2011680" cy="438912"/>
          </a:xfrm>
          <a:prstGeom prst="roundRect">
            <a:avLst/>
          </a:prstGeom>
          <a:solidFill>
            <a:srgbClr val="F3F6F8"/>
          </a:solidFill>
          <a:ln w="15240">
            <a:solidFill>
              <a:srgbClr val="406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Inherited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978407"/>
            <a:ext cx="8732520" cy="65836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406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LWR/LTM propagation · node constraints · continuous service · route commodities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21991"/>
            <a:ext cx="2011680" cy="438912"/>
          </a:xfrm>
          <a:prstGeom prst="roundRect">
            <a:avLst/>
          </a:prstGeom>
          <a:solidFill>
            <a:srgbClr val="F3F6F8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Adapted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148839"/>
            <a:ext cx="8732520" cy="65836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Divisible mass + persistent semantic order · localized lane/storage 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392424"/>
            <a:ext cx="2011680" cy="438912"/>
          </a:xfrm>
          <a:prstGeom prst="roundRect">
            <a:avLst/>
          </a:prstGeom>
          <a:solidFill>
            <a:srgbClr val="F3F6F8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Potentially novel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319272"/>
            <a:ext cx="8732520" cy="65836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Selective-discreteness stack + matched evidence of better decision gradients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62856"/>
            <a:ext cx="2011680" cy="438912"/>
          </a:xfrm>
          <a:prstGeom prst="roundRect">
            <a:avLst/>
          </a:prstGeom>
          <a:solidFill>
            <a:srgbClr val="F3F6F8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Unsafe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489704"/>
            <a:ext cx="8732520" cy="65836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“First differentiable simulator” · universal mesoscopic fidelity · usefulness from finite gradients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3564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Claim: preserve selected local order/access information in a continuous-mass derivative path—and test whether it matters.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Baseline ladder: make the contribution falsifiable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60704"/>
            <a:ext cx="109728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B0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014983"/>
            <a:ext cx="251460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Homogeneous macro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014983"/>
            <a:ext cx="717804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Seo differentiable LTM + van de Weg signal allocation → matched effective-service/TST macro; controls implementation-only 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93391"/>
            <a:ext cx="109728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B1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947672"/>
            <a:ext cx="251460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Movement / partial FIFO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947672"/>
            <a:ext cx="717804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Wei turn queues + Wright partial FIFO → adopt one movement-queue/restriction formulation; tests whether movement structure suffices.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109728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B2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2880360"/>
            <a:ext cx="251460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Lane + finite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880360"/>
            <a:ext cx="717804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Gong multilane allocation + Liu/Wong/Gao storage → transcribe a declared aggregate lane/bay model; tests storage sufficiency.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58768"/>
            <a:ext cx="1097280" cy="43891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B3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3813048"/>
            <a:ext cx="251460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Selective semantic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3813048"/>
            <a:ext cx="717804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Individual-tracking LTM + differentiable-simulation precedents → project-owned composition; tests exact realized accessibility.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91456"/>
            <a:ext cx="109728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R1 / R2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4745736"/>
            <a:ext cx="251460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Ordered / microscopic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4745736"/>
            <a:ext cx="7178040" cy="804672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Individual/event mesoscopic models + SUMO → reproduce bounded order cases and directly reuse SUMO; tests external transfer.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8356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Direct adoption is limited: equations anchor B0–B2, composition defines B3, and maintained software supports the external evaluator.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Why these three mesoscopic ingredients?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401568" cy="6675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993392"/>
            <a:ext cx="3182112" cy="6217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FIFO rank / semantic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43200"/>
            <a:ext cx="3163824" cy="1965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232B32"/>
                </a:solidFill>
                <a:latin typeface="Calibri"/>
              </a:rPr>
              <a:t>Literature: individual LTM + LIFT retain realized order.</a:t>
            </a:r>
            <a:br/>
            <a:r>
              <a:rPr sz="1800" b="0">
                <a:solidFill>
                  <a:srgbClr val="232B32"/>
                </a:solidFill>
                <a:latin typeface="Calibri"/>
              </a:rPr>
              <a:t>Evolution: adapt identity/order into a continuous-mass semantic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0791" y="242316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700" b="1">
                <a:solidFill>
                  <a:srgbClr val="1D848B"/>
                </a:solidFill>
                <a:latin typeface="Calibri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143000"/>
            <a:ext cx="3401568" cy="6675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93392"/>
            <a:ext cx="3182112" cy="6217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Lane intent ≠ realized reachability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743200"/>
            <a:ext cx="3163824" cy="1965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232B32"/>
                </a:solidFill>
                <a:latin typeface="Calibri"/>
              </a:rPr>
              <a:t>Literature: Wright + Wei establish restricted movement service.</a:t>
            </a:r>
            <a:br/>
            <a:r>
              <a:rPr sz="1800" b="0">
                <a:solidFill>
                  <a:srgbClr val="232B32"/>
                </a:solidFill>
                <a:latin typeface="Calibri"/>
              </a:rPr>
              <a:t>Evolution: modify and glue it to ledger-conditioned exact accessibility.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423160"/>
            <a:ext cx="502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2700" b="1">
                <a:solidFill>
                  <a:srgbClr val="1D848B"/>
                </a:solidFill>
                <a:latin typeface="Calibr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1143000"/>
            <a:ext cx="3401568" cy="6675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993392"/>
            <a:ext cx="3182112" cy="6217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Finite bay occupancy + spillback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743200"/>
            <a:ext cx="3163824" cy="1965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232B32"/>
                </a:solidFill>
                <a:latin typeface="Calibri"/>
              </a:rPr>
              <a:t>Literature: Liu–Chang, Wong–Lee, Gao + Gong establish storage and lane effects.</a:t>
            </a:r>
            <a:br/>
            <a:r>
              <a:rPr sz="1800" b="0">
                <a:solidFill>
                  <a:srgbClr val="232B32"/>
                </a:solidFill>
                <a:latin typeface="Calibri"/>
              </a:rPr>
              <a:t>Evolution: adopt these locally and couple them to aggregate LTM.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074920"/>
            <a:ext cx="10698480" cy="74980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No ingredient is claimed as invented alone: the novelty candidate is their selective continuous-mass composition plus the matched derivative/usefulness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Scope boundary by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3949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388B5C"/>
                </a:solidFill>
                <a:latin typeface="Calibri"/>
              </a:rPr>
              <a:t>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05840"/>
            <a:ext cx="53949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AE4C45"/>
                </a:solidFill>
                <a:latin typeface="Calibri"/>
              </a:rPr>
              <a:t>OUT OF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90472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✓  Continuous vehicle-equivalent mass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90472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×  Integerizing vehicles or microscopic car-following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✓  Lane-local order/access near a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2331720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×  Full-network lane expansion or lane-changing dynamics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172968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✓  Fixed routes, permissions, phase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3172968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×  Dynamic route choice or phase-sequence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014216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✓  Effective green/service allocation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14216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×  Executable cycle, yellow/all-red, offsets, actuation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855464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✓  Matched gradients + richer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4855464"/>
            <a:ext cx="528523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AE4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×  Claiming usefulness from differentiability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0448"/>
            <a:ext cx="10744200" cy="3017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The project tests a selective representation—not a universally richer traffic simulator.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Review 2: which downstream task can expose the mechanism?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97280"/>
            <a:ext cx="3063240" cy="91440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Primary family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fixed-time green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1097280"/>
            <a:ext cx="3063240" cy="91440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First meaning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continuous effective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0496" y="1097280"/>
            <a:ext cx="3063240" cy="914400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Deferred meaning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executable signal timing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39312" y="1554480"/>
            <a:ext cx="886968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26096" y="1554480"/>
            <a:ext cx="886968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578608"/>
            <a:ext cx="10652760" cy="265176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Candidate families reviewed: signal allocation, gradient perturbation, corridor coupling, multi-fidelity optimization, and robust evaluation.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First target: allocate service among fixed protected movement groups at one junction.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Why first: low-dimensional action, direct capacity path, and clean matching across model representations.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Current state: near the end of task definition, still open to implementation-driven calibration and approved refinements.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Concrete task: symmetric four-leg service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868680"/>
            <a:ext cx="1828800" cy="4937760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679191"/>
            <a:ext cx="5943600" cy="131673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2834639"/>
            <a:ext cx="11887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Junction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14400"/>
            <a:ext cx="13258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5D6C79"/>
                </a:solidFill>
                <a:latin typeface="Calibri"/>
              </a:rPr>
              <a:t>West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14400"/>
            <a:ext cx="132588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1800" b="0">
                <a:solidFill>
                  <a:srgbClr val="5D6C79"/>
                </a:solidFill>
                <a:latin typeface="Calibri"/>
              </a:rPr>
              <a:t>East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621792"/>
            <a:ext cx="1371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North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879592"/>
            <a:ext cx="1371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South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051560"/>
            <a:ext cx="4434840" cy="603504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406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g₁  N–S through/right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965960"/>
            <a:ext cx="4434840" cy="603504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g₂  N–S protected left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880360"/>
            <a:ext cx="4434840" cy="603504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g₃  E–W through/right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794760"/>
            <a:ext cx="4434840" cy="603504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g₄  E–W protected 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901184"/>
            <a:ext cx="4434840" cy="109728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Fixed topology and routes</a:t>
            </a:r>
          </a:p>
          <a:p>
            <a:pPr>
              <a:spcAft>
                <a:spcPts val="700"/>
              </a:spcAft>
              <a:defRPr sz="16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Clearance is not a fifth group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Derivative contract: what do x, f, and df/dx mean?</a:t>
            </a:r>
          </a:p>
        </p:txBody>
      </p:sp>
      <p:pic>
        <p:nvPicPr>
          <p:cNvPr id="4" name="Picture 3" descr="task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31" y="1051560"/>
            <a:ext cx="10208657" cy="3337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4663440"/>
            <a:ext cx="3154680" cy="82296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x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physical service fractions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7992" y="4663440"/>
            <a:ext cx="3154680" cy="82296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f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clearance-complete total system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663440"/>
            <a:ext cx="3154680" cy="82296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df/dx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vehicle-seconds per service fraction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8992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Nnet counts every vehicle-equivalent inside the network—moving or queued; it is not a queue-only objective.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V0–V4: add one causal challenge at a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91440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978408"/>
            <a:ext cx="2331720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exclusive lanes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6512" y="978408"/>
            <a:ext cx="3977639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macro equivalence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978408"/>
            <a:ext cx="3401568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75104"/>
            <a:ext cx="91440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72768" y="1929384"/>
            <a:ext cx="2331720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shared 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29384"/>
            <a:ext cx="3977639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head-of-line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929384"/>
            <a:ext cx="3401568" cy="585216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+ ordered prefix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91440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2880360"/>
            <a:ext cx="2331720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finite left bay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2" y="2880360"/>
            <a:ext cx="3977639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storage + spillback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880360"/>
            <a:ext cx="3401568" cy="585216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+ bay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77056"/>
            <a:ext cx="914400" cy="438912"/>
          </a:xfrm>
          <a:prstGeom prst="roundRect">
            <a:avLst/>
          </a:prstGeom>
          <a:solidFill>
            <a:srgbClr val="1D848B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3831336"/>
            <a:ext cx="2331720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same finite bay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2" y="3831336"/>
            <a:ext cx="3977639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order-conditioned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831336"/>
            <a:ext cx="3401568" cy="585216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+ exact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28032"/>
            <a:ext cx="914400" cy="43891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72768" y="4782312"/>
            <a:ext cx="2331720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held-out family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6512" y="4782312"/>
            <a:ext cx="3977639" cy="585216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robustness by stratum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782312"/>
            <a:ext cx="3401568" cy="585216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32B32"/>
                </a:solidFill>
                <a:latin typeface="Calibri"/>
              </a:rPr>
              <a:t>+ scenario 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79592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V3 is decisive only after V0 verifies equivalence and V2 isolates storage without binding 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Which literature-backed baseline enters each variant?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914400" cy="502920"/>
          </a:xfrm>
          <a:prstGeom prst="roundRect">
            <a:avLst/>
          </a:prstGeom>
          <a:solidFill>
            <a:srgbClr val="192B40"/>
          </a:solidFill>
          <a:ln w="15240">
            <a:solidFill>
              <a:srgbClr val="19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6192" y="1005840"/>
            <a:ext cx="3657600" cy="502920"/>
          </a:xfrm>
          <a:prstGeom prst="roundRect">
            <a:avLst/>
          </a:prstGeom>
          <a:solidFill>
            <a:srgbClr val="192B40"/>
          </a:solidFill>
          <a:ln w="15240">
            <a:solidFill>
              <a:srgbClr val="19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Required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005840"/>
            <a:ext cx="6291072" cy="502920"/>
          </a:xfrm>
          <a:prstGeom prst="roundRect">
            <a:avLst/>
          </a:prstGeom>
          <a:solidFill>
            <a:srgbClr val="192B40"/>
          </a:solidFill>
          <a:ln w="15240">
            <a:solidFill>
              <a:srgbClr val="19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Method / engineering affinity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914400" cy="56692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6192" y="1664208"/>
            <a:ext cx="3657600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B0–B3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64208"/>
            <a:ext cx="629107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Seo: differentiable LTM patterns · van de Weg/COS: signal-node equations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96312"/>
            <a:ext cx="914400" cy="56692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6192" y="2496312"/>
            <a:ext cx="3657600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B0–B3 + R1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496312"/>
            <a:ext cx="629107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Wei: turn queues · Wright: partial FIFO · individual LTM: ordered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28416"/>
            <a:ext cx="914400" cy="56692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36192" y="3328416"/>
            <a:ext cx="3657600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B0, B2, B3 + R1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328416"/>
            <a:ext cx="629107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Gong: multilane allocation · Liu/Wong/Gao: finite storage and blockage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914400" cy="56692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36192" y="4160520"/>
            <a:ext cx="3657600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B0–B3 + R1/R2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4160520"/>
            <a:ext cx="629107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Same aggregate controls · selective order · SUMO external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4"/>
            <a:ext cx="914400" cy="56692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6192" y="4992624"/>
            <a:ext cx="3657600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B0–B3 + R2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992624"/>
            <a:ext cx="6291072" cy="56692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E9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32B32"/>
                </a:solidFill>
                <a:latin typeface="Calibri"/>
              </a:rPr>
              <a:t>Matched scenario bank · replicated SUMO seeds · optimizer kept separate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925312"/>
            <a:ext cx="108813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Adoption unit: equations for B0–B2; documented composition for B3; direct software reuse for SUMO.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General gradient path: control → physics →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1572768" cy="93268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59152"/>
            <a:ext cx="1572768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service</a:t>
            </a:r>
            <a:br/>
            <a:r>
              <a:rPr sz="1800" b="0">
                <a:solidFill>
                  <a:srgbClr val="5D6C79"/>
                </a:solidFill>
                <a:latin typeface="Calibri"/>
              </a:rPr>
              <a:t>allocation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1792224"/>
            <a:ext cx="301752" cy="0"/>
          </a:xfrm>
          <a:prstGeom prst="line">
            <a:avLst/>
          </a:prstGeom>
          <a:ln w="25400">
            <a:solidFill>
              <a:srgbClr val="1D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58568" y="1325880"/>
            <a:ext cx="1572768" cy="93268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cₘ(g)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8568" y="2359152"/>
            <a:ext cx="1572768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movement</a:t>
            </a:r>
            <a:br/>
            <a:r>
              <a:rPr sz="1800" b="0">
                <a:solidFill>
                  <a:srgbClr val="5D6C79"/>
                </a:solidFill>
                <a:latin typeface="Calibri"/>
              </a:rPr>
              <a:t>capacity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1792224"/>
            <a:ext cx="301752" cy="0"/>
          </a:xfrm>
          <a:prstGeom prst="line">
            <a:avLst/>
          </a:prstGeom>
          <a:ln w="25400">
            <a:solidFill>
              <a:srgbClr val="1D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97096" y="1325880"/>
            <a:ext cx="1572768" cy="93268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yₘ,ₖ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2359152"/>
            <a:ext cx="1572768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realized</a:t>
            </a:r>
            <a:br/>
            <a:r>
              <a:rPr sz="1800" b="0">
                <a:solidFill>
                  <a:srgbClr val="5D6C79"/>
                </a:solidFill>
                <a:latin typeface="Calibri"/>
              </a:rPr>
              <a:t>discharge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7296" y="1792224"/>
            <a:ext cx="301752" cy="0"/>
          </a:xfrm>
          <a:prstGeom prst="line">
            <a:avLst/>
          </a:prstGeom>
          <a:ln w="25400">
            <a:solidFill>
              <a:srgbClr val="1D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35624" y="1325880"/>
            <a:ext cx="1572768" cy="93268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Xₖ₊₁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359152"/>
            <a:ext cx="1572768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next traffic</a:t>
            </a:r>
            <a:br/>
            <a:r>
              <a:rPr sz="1800" b="0">
                <a:solidFill>
                  <a:srgbClr val="5D6C79"/>
                </a:solidFill>
                <a:latin typeface="Calibri"/>
              </a:rPr>
              <a:t>state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35824" y="1792224"/>
            <a:ext cx="301751" cy="0"/>
          </a:xfrm>
          <a:prstGeom prst="line">
            <a:avLst/>
          </a:prstGeom>
          <a:ln w="25400">
            <a:solidFill>
              <a:srgbClr val="1D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74152" y="1325880"/>
            <a:ext cx="1572768" cy="93268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Nsrc,Nnet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359152"/>
            <a:ext cx="1572768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system</a:t>
            </a:r>
            <a:br/>
            <a:r>
              <a:rPr sz="1800" b="0">
                <a:solidFill>
                  <a:srgbClr val="5D6C79"/>
                </a:solidFill>
                <a:latin typeface="Calibri"/>
              </a:rPr>
              <a:t>occupancy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74352" y="1792224"/>
            <a:ext cx="301752" cy="0"/>
          </a:xfrm>
          <a:prstGeom prst="line">
            <a:avLst/>
          </a:prstGeom>
          <a:ln w="25400">
            <a:solidFill>
              <a:srgbClr val="1D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12680" y="1325880"/>
            <a:ext cx="1572768" cy="932688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32B32"/>
                </a:solidFill>
                <a:latin typeface="Calibri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359152"/>
            <a:ext cx="1572768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total system</a:t>
            </a:r>
            <a:br/>
            <a:r>
              <a:rPr sz="1800" b="0">
                <a:solidFill>
                  <a:srgbClr val="5D6C79"/>
                </a:solidFill>
                <a:latin typeface="Calibri"/>
              </a:rPr>
              <a:t>time</a:t>
            </a:r>
          </a:p>
        </p:txBody>
      </p:sp>
      <p:pic>
        <p:nvPicPr>
          <p:cNvPr id="21" name="Picture 20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743" y="3246120"/>
            <a:ext cx="7786032" cy="2057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Aₖ transports earlier control effects; Bₖ adds the current step’s direct control effect. Reverse-mode AD computes the same chain.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Derivative validity and usefulness are different tests</a:t>
            </a:r>
          </a:p>
        </p:txBody>
      </p:sp>
      <p:pic>
        <p:nvPicPr>
          <p:cNvPr id="4" name="Picture 3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82" y="1097280"/>
            <a:ext cx="9245675" cy="2331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3840480"/>
            <a:ext cx="3337560" cy="96012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406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1  Internal correctness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AD ≈ central difference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3840480"/>
            <a:ext cx="3337560" cy="96012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2  Direction quality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sign +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4" y="3840480"/>
            <a:ext cx="3337560" cy="96012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3  External usefulness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realized improvement in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57800"/>
            <a:ext cx="10835640" cy="62179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Differentiate continuous mass only within a stable active-set / prefix signature. Report event-boundary cases separately; do not invent derivatives through labels, permutations, or branch changes.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Representative V1 path: shared-lane order changes future service</a:t>
            </a:r>
          </a:p>
        </p:txBody>
      </p:sp>
      <p:pic>
        <p:nvPicPr>
          <p:cNvPr id="4" name="Picture 3" descr="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02" y="987552"/>
            <a:ext cx="8917714" cy="868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92608" y="2240280"/>
            <a:ext cx="1600200" cy="80467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108960"/>
            <a:ext cx="16002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11095" y="2642616"/>
            <a:ext cx="301753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40279" y="2240280"/>
            <a:ext cx="1600200" cy="80467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yₖ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3108960"/>
            <a:ext cx="16002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discharge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58768" y="2642616"/>
            <a:ext cx="301752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87952" y="2240280"/>
            <a:ext cx="1600200" cy="80467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residual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108960"/>
            <a:ext cx="16002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continuous mass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642616"/>
            <a:ext cx="301752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35624" y="2240280"/>
            <a:ext cx="1600200" cy="80467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Eₖ₊₁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3108960"/>
            <a:ext cx="16002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eligible prefix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54112" y="2642616"/>
            <a:ext cx="301752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83296" y="2240280"/>
            <a:ext cx="1600200" cy="80467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yₖ₊₁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3108960"/>
            <a:ext cx="16002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future discharge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01784" y="2642616"/>
            <a:ext cx="301752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30967" y="2240280"/>
            <a:ext cx="1600200" cy="804672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1D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7" y="3108960"/>
            <a:ext cx="16002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5D6C79"/>
                </a:solidFill>
                <a:latin typeface="Calibri"/>
              </a:rPr>
              <a:t>system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5212080" cy="111556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Fixed structural scenario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route labels · movement labels · ordering skeleton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3977639"/>
            <a:ext cx="5212080" cy="1115568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Differentiated quantities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prefix mass · partial removal · residual mass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3564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Aggregate-matched order pairs share totals and g, but their fixed order scenarios can produce different f and ∂f/∂g.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Representative V3 path: order-conditioned bay accessibility</a:t>
            </a:r>
          </a:p>
        </p:txBody>
      </p:sp>
      <p:pic>
        <p:nvPicPr>
          <p:cNvPr id="4" name="Picture 3" descr="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987552"/>
            <a:ext cx="9326880" cy="1554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2971800"/>
            <a:ext cx="3383280" cy="1143000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406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BAY STORAGE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occupancy → receiving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2971800"/>
            <a:ext cx="3383280" cy="1143000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REALIZED ACCESS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which intended users reach bay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7888" y="2971800"/>
            <a:ext cx="3383280" cy="1143000"/>
          </a:xfrm>
          <a:prstGeom prst="roundRect">
            <a:avLst/>
          </a:prstGeom>
          <a:solidFill>
            <a:srgbClr val="F7F9FA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ORDERED LEDGER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continuous masses, fixed labels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9352" y="3547872"/>
            <a:ext cx="420624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99831" y="3547872"/>
            <a:ext cx="420625" cy="0"/>
          </a:xfrm>
          <a:prstGeom prst="line">
            <a:avLst/>
          </a:prstGeom>
          <a:ln w="21590">
            <a:solidFill>
              <a:srgbClr val="5D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4590288"/>
            <a:ext cx="10607040" cy="114300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B2 can share occupancy and receiving room, but lacks the exact ledger-conditioned accessibility path.</a:t>
            </a:r>
          </a:p>
          <a:p>
            <a:pPr>
              <a:spcAft>
                <a:spcPts val="700"/>
              </a:spcAft>
              <a:defRPr sz="17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The exact Jacobian of A depends on the approved operator design and must be fixed during development.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556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192B40"/>
                </a:solidFill>
                <a:latin typeface="Calibri"/>
              </a:rPr>
              <a:t>Where the task review stands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3429000" cy="96012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DEFINED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scientific input, objective,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97280"/>
            <a:ext cx="3429000" cy="96012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38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STRUCTURED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V0–V4 + matched baseline ladder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97280"/>
            <a:ext cx="3429000" cy="960120"/>
          </a:xfrm>
          <a:prstGeom prst="roundRect">
            <a:avLst/>
          </a:prstGeom>
          <a:solidFill>
            <a:srgbClr val="E9F3F5"/>
          </a:solidFill>
          <a:ln w="15240">
            <a:solidFill>
              <a:srgbClr val="CC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2B32"/>
                </a:solidFill>
                <a:latin typeface="Calibri"/>
              </a:rPr>
              <a:t>OPEN TO EVIDENCE</a:t>
            </a:r>
            <a:br/>
            <a:r>
              <a:rPr sz="1800" b="1">
                <a:solidFill>
                  <a:srgbClr val="232B32"/>
                </a:solidFill>
                <a:latin typeface="Calibri"/>
              </a:rPr>
              <a:t>calibration + exact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Framework-level gradient chain is complete and acts as a model-design anchor.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Exact lane-allocation, storage, ordered-access, and service derivatives follow their milestone equations.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Numerical geometry, demand regimes, tolerances, seeds, and budgets are calibrated after interfaces exist—then frozen before confirmation.</a:t>
            </a:r>
          </a:p>
          <a:p>
            <a:pPr>
              <a:spcAft>
                <a:spcPts val="700"/>
              </a:spcAft>
              <a:defRPr sz="1800">
                <a:solidFill>
                  <a:srgbClr val="232B32"/>
                </a:solidFill>
                <a:latin typeface="Calibri"/>
              </a:defRPr>
            </a:pPr>
            <a:r>
              <a:rPr sz="1800">
                <a:solidFill>
                  <a:srgbClr val="232B32"/>
                </a:solidFill>
                <a:latin typeface="Calibri"/>
              </a:rPr>
              <a:t>The review is near its endpoint, but implementation evidence may trigger the smallest explicit refinement rather than silent adaptation.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7442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192B40"/>
                </a:solidFill>
                <a:latin typeface="Calibri"/>
              </a:rPr>
              <a:t>Target conclusion remains conditional: learn where selective semantic order improves decisions—and where simpler aggregates are enough.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Selective Discreteness to a Testable Control Task</dc:title>
  <dc:subject>Weekly literature-positioning and downstream-task review</dc:subject>
  <dc:creator>diff_minimal_meso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
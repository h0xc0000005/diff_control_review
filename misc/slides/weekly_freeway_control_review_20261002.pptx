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weekly_vector_1.svg" ContentType="image/svg+xml"/>
  <Override PartName="/ppt/media/weekly_vector_2.svg" ContentType="image/svg+xml"/>
  <Override PartName="/ppt/media/weekly_vector_3.svg" ContentType="image/svg+xml"/>
  <Override PartName="/ppt/media/weekly_vector_4.svg" ContentType="image/svg+xml"/>
  <Override PartName="/ppt/media/weekly_vector_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Weekly colleague presentation requested in feedback item 6. Scope starts with VSL task definition and ends with the current method-first ramp review. The VSL result is a closed conditional analytical certificate; the ramp information/action test remains open. This is presentation synthesis, not a new review or experiment.</a:t>
            </a:r>
          </a:p>
          <a:p/>
          <a:p>
            <a:r>
              <a:t>Sources:</a:t>
            </a:r>
          </a:p>
          <a:p>
            <a:r>
              <a:t>misc/differentiable_freeway_bottleneck_task_review/reporting/s13/s13_99_m2_certificate_sprint_closure.md</a:t>
            </a:r>
          </a:p>
          <a:p>
            <a:r>
              <a:t>misc/selective_discreteness_ramp_metering_review/reporting/rm9_current_handoff.md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mirrors the requested syllabus. Method-first principles and research questions frame both tasks. VSL includes its causal mechanism, exact conditional information/action result, gradient and study boundary. Ramp metering receives the same treatment where evidence exists, with open claims clearly identified.</a:t>
            </a:r>
          </a:p>
          <a:p/>
          <a:p>
            <a:r>
              <a:t>Sources:</a:t>
            </a:r>
          </a:p>
          <a:p>
            <a:r>
              <a:t>temp_content/feedback/feedback.md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historical implementation-anchored approach sought a compatible freeway task. The independent reviews instead start with a task and a strong aggregate comparator, then ask whether unavailable information changes useful actions. Current project code is not a model-family admission constraint. This does not claim existing simulator implementation was invalid.</a:t>
            </a:r>
          </a:p>
          <a:p/>
          <a:p>
            <a:r>
              <a:t>Sources:</a:t>
            </a:r>
          </a:p>
          <a:p>
            <a:r>
              <a:t>misc/differentiable_freeway_bottleneck_task_review/01_review_recap_through_s06.md</a:t>
            </a:r>
          </a:p>
          <a:p>
            <a:r>
              <a:t>misc/selective_discreteness_ramp_metering_review/reporting/rm7_20_method_first_task_formulation_and_gate.md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persistent core review questions. Information loss means a difference unavailable to the complete declared aggregate observation history, not merely different lane snapshots. All comparisons use the same action family, known forcing and complete population objective. Useful gradient evidence differs from differentiability or lower internal loss.</a:t>
            </a:r>
          </a:p>
          <a:p/>
          <a:p>
            <a:r>
              <a:t>Sources:</a:t>
            </a:r>
          </a:p>
          <a:p>
            <a:r>
              <a:t>misc/differentiable_freeway_bottleneck_task_review/reporting/s13/s13_35_study_sufficiency_and_extension_audit.md</a:t>
            </a:r>
          </a:p>
          <a:p>
            <a:r>
              <a:t>misc/selective_discreteness_ramp_metering_review/synthesis/rm8_predecessor_and_information_map.md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shared lane-uniform infrastructure advice speed is varied over a bounded interval. The selected analytical branch converts advice to traversal time; this is not an assertion of universal field compliance. The permanent drop removes reopening/recovery bookkeeping. Keeping one actuator avoids confounding information value with extra lane-specific control authority. The final proof uses ending-versus-continuing groups under continuing-group symmetry.</a:t>
            </a:r>
          </a:p>
          <a:p/>
          <a:p>
            <a:r>
              <a:t>Sources:</a:t>
            </a:r>
          </a:p>
          <a:p>
            <a:r>
              <a:t>misc/differentiable_freeway_bottleneck_task_review/synthesis/s13/s13_m2_model_contract.tex</a:t>
            </a:r>
          </a:p>
          <a:p>
            <a:r>
              <a:t>misc/differentiable_freeway_bottleneck_task_review/extraction/s13_m2_source_to_equation_audit.md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accepted fixed smooth branch, slower advice increases L/v and permits more mandatory ending-lane mass to transfer before the choke. The constant-rate exponential is an explicit analytical adaptation. Remaining mandatory-merge mass consumes alpha&gt;1 receiving-work units per vehicle-equivalent under proportional homogeneous batch service. Receiving work is not additional vehicle mass. All action-induced traversal time and complete clearance are charged. If service is independent of action, the earlier fixed-service obstruction restores a common fastest action.</a:t>
            </a:r>
          </a:p>
          <a:p/>
          <a:p>
            <a:r>
              <a:t>Sources:</a:t>
            </a:r>
          </a:p>
          <a:p>
            <a:r>
              <a:t>misc/differentiable_freeway_bottleneck_task_review/synthesis/s13/s13_m2_model_contract.tex</a:t>
            </a:r>
          </a:p>
          <a:p>
            <a:r>
              <a:t>misc/differentiable_freeway_bottleneck_task_review/reporting/s13/s13_20_m2_certificate_findings_and_gate.md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accepted conditional VSL certificate, not a field finding. The two ending-lane fractions inherit exact predecision density, flow, speed and count history equality from the homogeneous conservative upstream construction. The spatial decision boundary is first entry to the common preparation zone. For the open parameter regime, unique actions differ over the entire speed interval: low p selects fastest, high p an interior slower action. Aggregate-history-only initial action has positive worst-state regret; later feedback may see divergence. The plot reproduces the certificate's normalized illustration: lambda=1, tau range [0.2,2], K=4, p_low=0.2, p_high=0.5. Curves are excess analytical mean time relative to each state's optimum, not simulation or calibration.</a:t>
            </a:r>
          </a:p>
          <a:p/>
          <a:p>
            <a:r>
              <a:t>Sources:</a:t>
            </a:r>
          </a:p>
          <a:p>
            <a:r>
              <a:t>misc/differentiable_freeway_bottleneck_task_review/synthesis/s13/s13_m2_certificate_analysis.tex</a:t>
            </a:r>
          </a:p>
          <a:p>
            <a:r>
              <a:t>misc/differentiable_freeway_bottleneck_task_review/reporting/s13/s13_99_m2_certificate_sprint_closure.md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Fixed-active-regime chain: advice speed -&gt; traversal time -&gt; remaining mandatory-transfer mass -&gt; receiving workload -&gt; complete mean time. The displayed cost and derivative are exact for the proportional fluid batch. Hidden p changes e and can reverse the locally improving speed direction near fastest advice. Structural lane topology is not differentiated. Lane transfer structure is grounded in Nagalur Subraveti/Knoop/van Arem; gap-weighted receiving and proportional sharing in Carey/Balijepalli/Watling; common VSL lane-drop setting in Zhang et al. The exponential active branch, batch handoff and information/action/gradient certificate are review adaptations and deductions, not jointly established by one literature work. No AD/FD or independent reference evaluation occurred. J is total cohort system time divided by fixed cohort mass M, not last-departure time. All mass travels for tau and is then discharged as a homogeneous proportional batch. W=(M-e)+alpha*e is receiving work; discharge duration is W/mu. Linear mass discharge gives mean post-arrival time W/(2*mu). Hold M,p,L,lambda,alpha,mu fixed: de/dtau=-lambda*e and dtau/dv=-L/v^2 yield the displayed chain-rule derivative. Alpha is the total merge-work multiplier; alpha-1 is the extra part.</a:t>
            </a:r>
          </a:p>
          <a:p/>
          <a:p>
            <a:r>
              <a:t>Sources:</a:t>
            </a:r>
          </a:p>
          <a:p>
            <a:r>
              <a:t>misc/differentiable_freeway_bottleneck_task_review/extraction/s13_m2_source_to_equation_audit.md</a:t>
            </a:r>
          </a:p>
          <a:p>
            <a:r>
              <a:t>misc/differentiable_freeway_bottleneck_task_review/synthesis/s13/s13_m2_certificate_analysis.tex</a:t>
            </a:r>
          </a:p>
          <a:p>
            <a:r>
              <a:t>misc/differentiable_freeway_bottleneck_task_review/synthesis/s13/s13_mean_time_and_speed_derivative_explained.tex</a:t>
            </a:r>
          </a:p>
          <a:p>
            <a:r>
              <a:t>https://doi.org/10.1080/21680566.2019.1700846</a:t>
            </a:r>
          </a:p>
          <a:p>
            <a:r>
              <a:t>https://eprints.whiterose.ac.uk/id/eprint/77315/7/Carey%20et%20al%202013_with_coversheet.pdf</a:t>
            </a:r>
          </a:p>
          <a:p>
            <a:r>
              <a:t>https://doi.org/10.1080/23249935.2022.2033878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VSL S13 is properly closed as a conditional decision-relevant certificate. It is more than just admitting a model family: observer, action, dynamics, complete accounting and gradient relevance are specified for one analytical member. It remains incomplete as a model-family or empirical research study. Remaining mandatory-merge mass compresses the consequential information to a scalar; full lanes, order, gaps and vehicle identity have not been shown necessary. Robustness/causal deletion, minimum-state comparison, traffic-domain and reference admission, derivative verification and held-out independent usefulness are deferred. Further VSL review is set aside for colleague discussion.</a:t>
            </a:r>
          </a:p>
          <a:p/>
          <a:p>
            <a:r>
              <a:t>Sources:</a:t>
            </a:r>
          </a:p>
          <a:p>
            <a:r>
              <a:t>misc/differentiable_freeway_bottleneck_task_review/reporting/s13/s13_99_m2_certificate_sprint_closure.md</a:t>
            </a:r>
          </a:p>
          <a:p>
            <a:r>
              <a:t>misc/differentiable_freeway_bottleneck_task_review/reporting/s13/s13_35_study_sufficiency_and_extension_audit.md</a:t>
            </a:r>
          </a:p>
          <a:p>
            <a:r>
              <a:t>misc/differentiable_freeway_bottleneck_task_review/synthesis/s13/s13_deferred_research_readiness_review_plan.md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branch is reopened method-first, not as a compatible implementation extension. One finite-storage on-ramp enters a two-mainline-lane local merge candidate. The common action is a bounded open-loop infrastructure release-rate schedule. Open-loop isolates model gradient correctness and one-step usefulness before a feedback/PID/MPC controller is introduced. Meter permission caps upstream release, not necessarily downstream instantaneous entry after propagation/storage. Complete road-total density/flow/speed/count history and ramp history, common known forcing/geometry/parameters, all-stream time through clearance are retained. Multiple ramps and detailed gap-timed/CAV control are not this first task.</a:t>
            </a:r>
          </a:p>
          <a:p/>
          <a:p>
            <a:r>
              <a:t>Sources:</a:t>
            </a:r>
          </a:p>
          <a:p>
            <a:r>
              <a:t>misc/selective_discreteness_ramp_metering_review/reporting/rm7_20_method_first_task_formulation_and_gate.md</a:t>
            </a:r>
          </a:p>
          <a:p>
            <a:r>
              <a:t>misc/selective_discreteness_ramp_metering_review/synthesis/rm7_post_selection_design_inventory.md</a:t>
            </a:r>
          </a:p>
          <a:p>
            <a:r>
              <a:t>misc/selective_discreteness_ramp_metering_review/reporting/rm9_current_handoff.md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adopted kernel is a lane-aware cell-transmission model, with continuous vehicle-equivalent mass in each physical mainline lane and longitudinal cell, and discrete time steps. It is not one lumped mass for an entire lane or individual vehicle dynamics. Three adjacent cells are shown schematically, not as an approved cell count or completed network geometry. First apply bounded paired density-driven lateral transfers within every cell; these conserve its two-lane total. Then recompute ordinary CTM sending and receiving from post-lateral masses. At an ordinary interface, accepted lane flow is the minimum of upstream sending and downstream receiving. The time-step mass balance adds h times total accepted inflow f and subtracts h times outflow q. The ordinary min formula is not applied independently to each input at a merge: mainline and ramp still share one receiver under positive input priorities with unused-supply redistribution. Metered ramp releases must propagate through storage before entering that junction; exact ramp geometry and boundary transcription remain open. Transverse and longitudinal resources are separate in the approved adaptation: no original-budget-minus-lateral cap remains. Lane exchange changes occupancy and therefore flow offers and storage availability, not physical lane capacity; throughput improvement is not guaranteed. Nagalur Subraveti supplies lane-wise CTM/exchange antecedents and Wright et al. supplies the node allocator; their composition is an approved review adaptation, not a reproduced calibrated paper. The FD functions and accepted time-step/storage bounds are in the source audit. Diagram blocks are symbolic occupancy, not computed mass or traffic results. The visible lateral equations now retain the accepted bounded operator: A is a directed preference between zero and one, positive only when the density advantage passes the approved threshold; lambda is limited by that fraction of the donor pre-exchange sending and by recipient pre-exchange receiving in the same longitudinal cell. Multiplying the incoming-minus-outgoing lateral rate by h gives each lane's post-exchange mass. The terms cancel when summing lanes. This D/S-bounded exchange inherits the approved time-step/storage restrictions. A is not a new control action; the open-loop meter rate remains the common actuator. The exact normalized density-contrast preference, its propensity/threshold parameters and empty-cell convention remain defined by the existing source audit. Forward D/S are recomputed after the lateral stage, as displayed.</a:t>
            </a:r>
          </a:p>
          <a:p/>
          <a:p>
            <a:r>
              <a:t>Sources:</a:t>
            </a:r>
          </a:p>
          <a:p>
            <a:r>
              <a:t>misc/selective_discreteness_ramp_metering_review/discussion/rm9_resource_b_approval_and_continuation.md</a:t>
            </a:r>
          </a:p>
          <a:p>
            <a:r>
              <a:t>misc/selective_discreteness_ramp_metering_review/synthesis/rm9/rm9_separate_resource_and_observer_audit.tex</a:t>
            </a:r>
          </a:p>
          <a:p>
            <a:r>
              <a:t>https://repository.tudelft.nl/file/File_2c4359e7-5e5a-4651-964f-6f3610ab89ae</a:t>
            </a:r>
          </a:p>
          <a:p>
            <a:r>
              <a:t>https://horowitz.me.berkeley.edu/Publications_files/All_papers_numbered/Wright_node_models_transportation_networks_Transportation_research_B_2017.pdf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Lane contrast is a candidate state omission, not an established hidden-information result. On the strict ordinary free-flow B branch, total post-lateral mass and aggregate actual flow reconstruct the two-lane split when known mobilities differ. A separate passage-speed observation is retained, not replaced by Q/K. The geometric illustration uses normalized c1=1,c2=1.5, masses (2,8) versus (6,4), both total 10 but flows 14 and 12. This is hand algebra, not matched history or calibrated traffic. A pre-transfer map can also collapse states; if all remaining state/forcing agree and actions act only afterwards, that lost coordinate cannot change actions. Congested/receiving-limited states need the full observation map and complete prior-history audit.</a:t>
            </a:r>
          </a:p>
          <a:p/>
          <a:p>
            <a:r>
              <a:t>Sources:</a:t>
            </a:r>
          </a:p>
          <a:p>
            <a:r>
              <a:t>misc/selective_discreteness_ramp_metering_review/synthesis/rm9/rm9_separate_resource_and_observer_audit.tex</a:t>
            </a:r>
          </a:p>
          <a:p>
            <a:r>
              <a:t>misc/selective_discreteness_ramp_metering_review/extraction/rm9_separate_resource_claims.md</a:t>
            </a:r>
          </a:p>
          <a:p>
            <a:r>
              <a:t>misc/selective_discreteness_ramp_metering_review/reporting/rm9_50_separate_resource_findings_and_observer_gate.md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conceptual chain is common meter parameter theta -&gt; releases -&gt; post-meter storage/propagation -&gt; shared receiving -&gt; accepted merge and lane response -&gt; complete final departures -&gt; all-stream system time. The displayed sensitivity identity assumes fixed common arrivals/initial mass and clearance horizon, complete population accounting and fixed active branches. E is final system exit flow, not local ramp merge entry; P is all waiting/road/ramp mass. Blocked meter perturbations may have zero derivative. Queue relocation with identical departures cannot improve total time. Smooth active-branch composition is available but whole-chain numerical correctness and independent usefulness remain unestablished; no numerical traffic or gradient tests are claimed.</a:t>
            </a:r>
          </a:p>
          <a:p/>
          <a:p>
            <a:r>
              <a:t>Sources:</a:t>
            </a:r>
          </a:p>
          <a:p>
            <a:r>
              <a:t>misc/selective_discreteness_ramp_metering_review/synthesis/rm9/rm9_separate_resource_and_observer_audit.tex</a:t>
            </a:r>
          </a:p>
          <a:p>
            <a:r>
              <a:t>misc/selective_discreteness_ramp_metering_review/synthesis/rm8_task_gradient_reference_screen.md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Synthesis as of 2 October 2026: VSL S13 closed positively only as a conditional analytical member. Ramp RM9 is active at the G1 observer-contract gate; UG3.B resource amendment is approved, observer alternatives UG4.A/B are not. Idealized FD passage-speed benchmark is recommended but not adopted; measurement/source-first review is the other route. No complete ramp history/action witness or independently useful gradient exists. The next measurement decision may alter identifiability and therefore cannot be assumed. Both tasks allow aggregate-plus-scalar sufficiency rather than require full lane resolution, vehicle identity or discreteness. This slide deck does not advance any research gate or authorize experiments.</a:t>
            </a:r>
          </a:p>
          <a:p/>
          <a:p>
            <a:r>
              <a:t>Sources:</a:t>
            </a:r>
          </a:p>
          <a:p>
            <a:r>
              <a:t>misc/differentiable_freeway_bottleneck_task_review/reporting/s13/s13_99_m2_certificate_sprint_closure.md</a:t>
            </a:r>
          </a:p>
          <a:p>
            <a:r>
              <a:t>misc/selective_discreteness_ramp_metering_review/reporting/rm9_current_handoff.md</a:t>
            </a:r>
          </a:p>
          <a:p>
            <a:r>
              <a:t>misc/selective_discreteness_ramp_metering_review/reporting/rm9_50_separate_resource_findings_and_observer_gate.md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weekly_vector_1.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weekly_vector_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weekly_vector_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weekly_vector_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weekly_vector_5.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Freeway control and useful traffic gradient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Freeway control and useful traffic gradients</a:t>
            </a:r>
          </a:p>
        </p:txBody>
      </p:sp>
      <p:sp>
        <p:nvSpPr>
          <p:cNvPr id="3" name="body:What information changes a useful control decision?"/>
          <p:cNvSpPr txBox="1"/>
          <p:nvPr/>
        </p:nvSpPr>
        <p:spPr>
          <a:xfrm>
            <a:off x="786384" y="1874519"/>
            <a:ext cx="10607040" cy="685800"/>
          </a:xfrm>
          <a:prstGeom prst="rect">
            <a:avLst/>
          </a:prstGeom>
          <a:noFill/>
        </p:spPr>
        <p:txBody>
          <a:bodyPr wrap="none" lIns="32004" rIns="32004" tIns="18288" bIns="18288" anchor="t">
            <a:spAutoFit/>
          </a:bodyPr>
          <a:lstStyle/>
          <a:p>
            <a:pPr algn="l">
              <a:spcBef>
                <a:spcPts val="0"/>
              </a:spcBef>
              <a:spcAft>
                <a:spcPts val="0"/>
              </a:spcAft>
              <a:defRPr sz="1800" b="1">
                <a:solidFill>
                  <a:srgbClr val="267D86"/>
                </a:solidFill>
                <a:latin typeface="Calibri"/>
              </a:defRPr>
            </a:pPr>
            <a:r>
              <a:t>What information changes a useful control decision?</a:t>
            </a:r>
          </a:p>
        </p:txBody>
      </p:sp>
      <p:sp>
        <p:nvSpPr>
          <p:cNvPr id="4" name="body:Variable speed limits at a lane drop"/>
          <p:cNvSpPr txBox="1"/>
          <p:nvPr/>
        </p:nvSpPr>
        <p:spPr>
          <a:xfrm>
            <a:off x="749808" y="27889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Variable speed limits at a lane drop</a:t>
            </a:r>
          </a:p>
        </p:txBody>
      </p:sp>
      <p:sp>
        <p:nvSpPr>
          <p:cNvPr id="5" name="body:Ramp metering at a local freeway merge"/>
          <p:cNvSpPr txBox="1"/>
          <p:nvPr/>
        </p:nvSpPr>
        <p:spPr>
          <a:xfrm>
            <a:off x="749808" y="3447287"/>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Ramp metering at a local freeway merge</a:t>
            </a:r>
          </a:p>
        </p:txBody>
      </p:sp>
      <p:sp>
        <p:nvSpPr>
          <p:cNvPr id="6" name="body:Methodology and findings • 2 October 2026"/>
          <p:cNvSpPr txBox="1"/>
          <p:nvPr/>
        </p:nvSpPr>
        <p:spPr>
          <a:xfrm>
            <a:off x="749808" y="410565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Methodology and findings • 2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Content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Contents</a:t>
            </a:r>
          </a:p>
        </p:txBody>
      </p:sp>
      <p:sp>
        <p:nvSpPr>
          <p:cNvPr id="3" name="body:1. Review principle and core questions"/>
          <p:cNvSpPr txBox="1"/>
          <p:nvPr/>
        </p:nvSpPr>
        <p:spPr>
          <a:xfrm>
            <a:off x="749808" y="16459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1. Review principle and core questions</a:t>
            </a:r>
          </a:p>
        </p:txBody>
      </p:sp>
      <p:sp>
        <p:nvSpPr>
          <p:cNvPr id="4" name="body:2. VSL task, hidden information and decision mechanism"/>
          <p:cNvSpPr txBox="1"/>
          <p:nvPr/>
        </p:nvSpPr>
        <p:spPr>
          <a:xfrm>
            <a:off x="749808" y="237744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2. VSL task, hidden information and decision mechanism</a:t>
            </a:r>
          </a:p>
        </p:txBody>
      </p:sp>
      <p:sp>
        <p:nvSpPr>
          <p:cNvPr id="5" name="body:3. VSL gradient and research-readiness boundary"/>
          <p:cNvSpPr txBox="1"/>
          <p:nvPr/>
        </p:nvSpPr>
        <p:spPr>
          <a:xfrm>
            <a:off x="749808" y="310896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3. VSL gradient and research-readiness boundary</a:t>
            </a:r>
          </a:p>
        </p:txBody>
      </p:sp>
      <p:sp>
        <p:nvSpPr>
          <p:cNvPr id="6" name="body:4. Ramp-metering task, mechanism and information test"/>
          <p:cNvSpPr txBox="1"/>
          <p:nvPr/>
        </p:nvSpPr>
        <p:spPr>
          <a:xfrm>
            <a:off x="749808" y="38404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4. Ramp-metering task, mechanism and information test</a:t>
            </a:r>
          </a:p>
        </p:txBody>
      </p:sp>
      <p:sp>
        <p:nvSpPr>
          <p:cNvPr id="7" name="body:5. Ramp gradient and the current evidence boundary"/>
          <p:cNvSpPr txBox="1"/>
          <p:nvPr/>
        </p:nvSpPr>
        <p:spPr>
          <a:xfrm>
            <a:off x="749808" y="45720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5. Ramp gradient and the current evidence boundary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Start from the control questio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Start from the control question</a:t>
            </a:r>
          </a:p>
        </p:txBody>
      </p:sp>
      <p:grpSp>
        <p:nvGrpSpPr>
          <p:cNvPr id="21" name="diagram:two research starting points"/>
          <p:cNvGrpSpPr/>
          <p:nvPr/>
        </p:nvGrpSpPr>
        <p:grpSpPr>
          <a:xfrm>
            <a:off x="758952" y="1325880"/>
            <a:ext cx="10652760" cy="3831336"/>
            <a:chOff x="758952" y="1325880"/>
            <a:chExt cx="10652760" cy="3831336"/>
          </a:xfrm>
        </p:grpSpPr>
        <p:sp>
          <p:nvSpPr>
            <p:cNvPr id="3" name="plot:Earlier project anchoring"/>
            <p:cNvSpPr txBox="1"/>
            <p:nvPr/>
          </p:nvSpPr>
          <p:spPr>
            <a:xfrm>
              <a:off x="758952" y="1325880"/>
              <a:ext cx="10652760" cy="365760"/>
            </a:xfrm>
            <a:prstGeom prst="rect">
              <a:avLst/>
            </a:prstGeom>
            <a:noFill/>
          </p:spPr>
          <p:txBody>
            <a:bodyPr wrap="none" lIns="32004" rIns="32004" tIns="18288" bIns="18288" anchor="t">
              <a:spAutoFit/>
            </a:bodyPr>
            <a:lstStyle/>
            <a:p>
              <a:pPr algn="l">
                <a:spcBef>
                  <a:spcPts val="0"/>
                </a:spcBef>
                <a:spcAft>
                  <a:spcPts val="0"/>
                </a:spcAft>
                <a:defRPr sz="1800" b="1">
                  <a:solidFill>
                    <a:srgbClr val="7D8791"/>
                  </a:solidFill>
                  <a:latin typeface="Calibri"/>
                </a:defRPr>
              </a:pPr>
              <a:r>
                <a:t>Earlier project anchoring</a:t>
              </a:r>
            </a:p>
          </p:txBody>
        </p:sp>
        <p:sp>
          <p:nvSpPr>
            <p:cNvPr id="4" name="plot:Method-first review"/>
            <p:cNvSpPr txBox="1"/>
            <p:nvPr/>
          </p:nvSpPr>
          <p:spPr>
            <a:xfrm>
              <a:off x="758952" y="3685032"/>
              <a:ext cx="10652760" cy="365760"/>
            </a:xfrm>
            <a:prstGeom prst="rect">
              <a:avLst/>
            </a:prstGeom>
            <a:noFill/>
          </p:spPr>
          <p:txBody>
            <a:bodyPr wrap="none" lIns="32004" rIns="32004" tIns="18288" bIns="18288" anchor="t">
              <a:spAutoFit/>
            </a:bodyPr>
            <a:lstStyle/>
            <a:p>
              <a:pPr algn="l">
                <a:spcBef>
                  <a:spcPts val="0"/>
                </a:spcBef>
                <a:spcAft>
                  <a:spcPts val="0"/>
                </a:spcAft>
                <a:defRPr sz="1800" b="1">
                  <a:solidFill>
                    <a:srgbClr val="267D86"/>
                  </a:solidFill>
                  <a:latin typeface="Calibri"/>
                </a:defRPr>
              </a:pPr>
              <a:r>
                <a:t>Method-first review</a:t>
              </a:r>
            </a:p>
          </p:txBody>
        </p:sp>
        <p:sp>
          <p:nvSpPr>
            <p:cNvPr id="5" name="Rectangle 4"/>
            <p:cNvSpPr/>
            <p:nvPr/>
          </p:nvSpPr>
          <p:spPr>
            <a:xfrm>
              <a:off x="786384" y="2048256"/>
              <a:ext cx="3072384" cy="749808"/>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Existing model"/>
            <p:cNvSpPr txBox="1"/>
            <p:nvPr/>
          </p:nvSpPr>
          <p:spPr>
            <a:xfrm>
              <a:off x="832104" y="2139696"/>
              <a:ext cx="2980944" cy="566928"/>
            </a:xfrm>
            <a:prstGeom prst="rect">
              <a:avLst/>
            </a:prstGeom>
            <a:noFill/>
          </p:spPr>
          <p:txBody>
            <a:bodyPr wrap="none" lIns="32004" rIns="32004" tIns="18288" bIns="18288" anchor="ctr">
              <a:spAutoFit/>
            </a:bodyPr>
            <a:lstStyle/>
            <a:p>
              <a:pPr algn="ctr">
                <a:spcBef>
                  <a:spcPts val="0"/>
                </a:spcBef>
                <a:spcAft>
                  <a:spcPts val="0"/>
                </a:spcAft>
                <a:defRPr sz="1800" b="1">
                  <a:solidFill>
                    <a:srgbClr val="7D8791"/>
                  </a:solidFill>
                  <a:latin typeface="Calibri"/>
                </a:defRPr>
              </a:pPr>
              <a:r>
                <a:t>Existing model</a:t>
              </a:r>
            </a:p>
          </p:txBody>
        </p:sp>
        <p:sp>
          <p:nvSpPr>
            <p:cNvPr id="7" name="Right Arrow 6"/>
            <p:cNvSpPr/>
            <p:nvPr/>
          </p:nvSpPr>
          <p:spPr>
            <a:xfrm>
              <a:off x="3986784" y="2313432"/>
              <a:ext cx="365760"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0560" y="2048256"/>
              <a:ext cx="3072384" cy="749808"/>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ot:Compatible task"/>
            <p:cNvSpPr txBox="1"/>
            <p:nvPr/>
          </p:nvSpPr>
          <p:spPr>
            <a:xfrm>
              <a:off x="4526280" y="2139696"/>
              <a:ext cx="2980944" cy="566928"/>
            </a:xfrm>
            <a:prstGeom prst="rect">
              <a:avLst/>
            </a:prstGeom>
            <a:noFill/>
          </p:spPr>
          <p:txBody>
            <a:bodyPr wrap="none" lIns="32004" rIns="32004" tIns="18288" bIns="18288" anchor="ctr">
              <a:spAutoFit/>
            </a:bodyPr>
            <a:lstStyle/>
            <a:p>
              <a:pPr algn="ctr">
                <a:spcBef>
                  <a:spcPts val="0"/>
                </a:spcBef>
                <a:spcAft>
                  <a:spcPts val="0"/>
                </a:spcAft>
                <a:defRPr sz="1800" b="1">
                  <a:solidFill>
                    <a:srgbClr val="7D8791"/>
                  </a:solidFill>
                  <a:latin typeface="Calibri"/>
                </a:defRPr>
              </a:pPr>
              <a:r>
                <a:t>Compatible task</a:t>
              </a:r>
            </a:p>
          </p:txBody>
        </p:sp>
        <p:sp>
          <p:nvSpPr>
            <p:cNvPr id="10" name="Right Arrow 9"/>
            <p:cNvSpPr/>
            <p:nvPr/>
          </p:nvSpPr>
          <p:spPr>
            <a:xfrm>
              <a:off x="7680960" y="2313432"/>
              <a:ext cx="365760"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74736" y="2048256"/>
              <a:ext cx="3072384" cy="749808"/>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ot:Evaluate"/>
            <p:cNvSpPr txBox="1"/>
            <p:nvPr/>
          </p:nvSpPr>
          <p:spPr>
            <a:xfrm>
              <a:off x="8220456" y="2139696"/>
              <a:ext cx="2980944" cy="566928"/>
            </a:xfrm>
            <a:prstGeom prst="rect">
              <a:avLst/>
            </a:prstGeom>
            <a:noFill/>
          </p:spPr>
          <p:txBody>
            <a:bodyPr wrap="none" lIns="32004" rIns="32004" tIns="18288" bIns="18288" anchor="ctr">
              <a:spAutoFit/>
            </a:bodyPr>
            <a:lstStyle/>
            <a:p>
              <a:pPr algn="ctr">
                <a:spcBef>
                  <a:spcPts val="0"/>
                </a:spcBef>
                <a:spcAft>
                  <a:spcPts val="0"/>
                </a:spcAft>
                <a:defRPr sz="1800" b="1">
                  <a:solidFill>
                    <a:srgbClr val="7D8791"/>
                  </a:solidFill>
                  <a:latin typeface="Calibri"/>
                </a:defRPr>
              </a:pPr>
              <a:r>
                <a:t>Evaluate</a:t>
              </a:r>
            </a:p>
          </p:txBody>
        </p:sp>
        <p:sp>
          <p:nvSpPr>
            <p:cNvPr id="13" name="Rectangle 12"/>
            <p:cNvSpPr/>
            <p:nvPr/>
          </p:nvSpPr>
          <p:spPr>
            <a:xfrm>
              <a:off x="786384" y="4407408"/>
              <a:ext cx="3072384" cy="749808"/>
            </a:xfrm>
            <a:prstGeom prst="rect">
              <a:avLst/>
            </a:prstGeom>
            <a:solidFill>
              <a:srgbClr val="F1F4F6"/>
            </a:solidFill>
            <a:ln w="1651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lot:Task + / strong baseline"/>
            <p:cNvSpPr txBox="1"/>
            <p:nvPr/>
          </p:nvSpPr>
          <p:spPr>
            <a:xfrm>
              <a:off x="832104" y="4498848"/>
              <a:ext cx="2980944" cy="56692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Task +</a:t>
              </a:r>
            </a:p>
            <a:p>
              <a:pPr algn="ctr">
                <a:spcBef>
                  <a:spcPts val="0"/>
                </a:spcBef>
                <a:spcAft>
                  <a:spcPts val="0"/>
                </a:spcAft>
                <a:defRPr sz="1800" b="1">
                  <a:solidFill>
                    <a:srgbClr val="267D86"/>
                  </a:solidFill>
                  <a:latin typeface="Calibri"/>
                </a:defRPr>
              </a:pPr>
              <a:r>
                <a:t>strong baseline</a:t>
              </a:r>
            </a:p>
          </p:txBody>
        </p:sp>
        <p:sp>
          <p:nvSpPr>
            <p:cNvPr id="15" name="Right Arrow 14"/>
            <p:cNvSpPr/>
            <p:nvPr/>
          </p:nvSpPr>
          <p:spPr>
            <a:xfrm>
              <a:off x="3986784" y="4672584"/>
              <a:ext cx="36576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4407408"/>
              <a:ext cx="3072384" cy="749808"/>
            </a:xfrm>
            <a:prstGeom prst="rect">
              <a:avLst/>
            </a:prstGeom>
            <a:solidFill>
              <a:srgbClr val="F1F4F6"/>
            </a:solidFill>
            <a:ln w="1651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ot:Information value?"/>
            <p:cNvSpPr txBox="1"/>
            <p:nvPr/>
          </p:nvSpPr>
          <p:spPr>
            <a:xfrm>
              <a:off x="4526280" y="4498848"/>
              <a:ext cx="2980944" cy="56692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Information value?</a:t>
              </a:r>
            </a:p>
          </p:txBody>
        </p:sp>
        <p:sp>
          <p:nvSpPr>
            <p:cNvPr id="18" name="Right Arrow 17"/>
            <p:cNvSpPr/>
            <p:nvPr/>
          </p:nvSpPr>
          <p:spPr>
            <a:xfrm>
              <a:off x="7680960" y="4672584"/>
              <a:ext cx="36576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74736" y="4407408"/>
              <a:ext cx="3072384" cy="749808"/>
            </a:xfrm>
            <a:prstGeom prst="rect">
              <a:avLst/>
            </a:prstGeom>
            <a:solidFill>
              <a:srgbClr val="F1F4F6"/>
            </a:solidFill>
            <a:ln w="1651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lot:Minimum state / + gradients"/>
            <p:cNvSpPr txBox="1"/>
            <p:nvPr/>
          </p:nvSpPr>
          <p:spPr>
            <a:xfrm>
              <a:off x="8220456" y="4498848"/>
              <a:ext cx="2980944" cy="56692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Minimum state</a:t>
              </a:r>
            </a:p>
            <a:p>
              <a:pPr algn="ctr">
                <a:spcBef>
                  <a:spcPts val="0"/>
                </a:spcBef>
                <a:spcAft>
                  <a:spcPts val="0"/>
                </a:spcAft>
                <a:defRPr sz="1800" b="1">
                  <a:solidFill>
                    <a:srgbClr val="267D86"/>
                  </a:solidFill>
                  <a:latin typeface="Calibri"/>
                </a:defRPr>
              </a:pPr>
              <a:r>
                <a:t>+ gradients</a:t>
              </a:r>
            </a:p>
          </p:txBody>
        </p:sp>
      </p:grpSp>
      <p:sp>
        <p:nvSpPr>
          <p:cNvPr id="22" name="body:Let decision evidence justify traffic detail."/>
          <p:cNvSpPr txBox="1"/>
          <p:nvPr/>
        </p:nvSpPr>
        <p:spPr>
          <a:xfrm>
            <a:off x="749808" y="58338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Let decision evidence justify traffic detail.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hree questions guide both control task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Three questions guide both control tasks</a:t>
            </a:r>
          </a:p>
        </p:txBody>
      </p:sp>
      <p:sp>
        <p:nvSpPr>
          <p:cNvPr id="3" name="body:1. What traffic information can be hidden from aggregate history?"/>
          <p:cNvSpPr txBox="1"/>
          <p:nvPr/>
        </p:nvSpPr>
        <p:spPr>
          <a:xfrm>
            <a:off x="749808" y="16459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1. What traffic information can be hidden from aggregate history?</a:t>
            </a:r>
          </a:p>
        </p:txBody>
      </p:sp>
      <p:sp>
        <p:nvSpPr>
          <p:cNvPr id="4" name="body:2. Can that information change a useful control action?"/>
          <p:cNvSpPr txBox="1"/>
          <p:nvPr/>
        </p:nvSpPr>
        <p:spPr>
          <a:xfrm>
            <a:off x="749808" y="25603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2. Can that information change a useful control action?</a:t>
            </a:r>
          </a:p>
        </p:txBody>
      </p:sp>
      <p:sp>
        <p:nvSpPr>
          <p:cNvPr id="5" name="body:3. Can retaining it provide relevant gradient information?"/>
          <p:cNvSpPr txBox="1"/>
          <p:nvPr/>
        </p:nvSpPr>
        <p:spPr>
          <a:xfrm>
            <a:off x="749808" y="34747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3. Can retaining it provide relevant gradient information?</a:t>
            </a:r>
          </a:p>
        </p:txBody>
      </p:sp>
      <p:sp>
        <p:nvSpPr>
          <p:cNvPr id="6" name="body:The required traffic resolution is an outcome of the review."/>
          <p:cNvSpPr txBox="1"/>
          <p:nvPr/>
        </p:nvSpPr>
        <p:spPr>
          <a:xfrm>
            <a:off x="749808" y="506577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 required traffic resolution is an outcome of the review.</a:t>
            </a:r>
          </a:p>
        </p:txBody>
      </p:sp>
      <p:sp>
        <p:nvSpPr>
          <p:cNvPr id="7" name="body:Match actions, known forcing and complete travel/waiting accounting."/>
          <p:cNvSpPr txBox="1"/>
          <p:nvPr/>
        </p:nvSpPr>
        <p:spPr>
          <a:xfrm>
            <a:off x="749808" y="561441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Match actions, known forcing and complete travel/waiting accounting.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VSL task: a permanent three-to-two lane drop"/>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VSL task: a permanent three-to-two lane drop</a:t>
            </a:r>
          </a:p>
        </p:txBody>
      </p:sp>
      <p:grpSp>
        <p:nvGrpSpPr>
          <p:cNvPr id="13" name="diagram:lane-drop geometry and common control"/>
          <p:cNvGrpSpPr/>
          <p:nvPr/>
        </p:nvGrpSpPr>
        <p:grpSpPr>
          <a:xfrm>
            <a:off x="914400" y="1188720"/>
            <a:ext cx="10241280" cy="3328415"/>
            <a:chOff x="914400" y="1188720"/>
            <a:chExt cx="10241280" cy="3328415"/>
          </a:xfrm>
        </p:grpSpPr>
        <p:sp>
          <p:nvSpPr>
            <p:cNvPr id="3" name="Rectangle 2"/>
            <p:cNvSpPr/>
            <p:nvPr/>
          </p:nvSpPr>
          <p:spPr>
            <a:xfrm>
              <a:off x="914400" y="1847088"/>
              <a:ext cx="10241280" cy="53949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Arrow 3"/>
            <p:cNvSpPr/>
            <p:nvPr/>
          </p:nvSpPr>
          <p:spPr>
            <a:xfrm>
              <a:off x="10515600" y="2011680"/>
              <a:ext cx="411480"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2624328"/>
              <a:ext cx="10241280" cy="53949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ight Arrow 5"/>
            <p:cNvSpPr/>
            <p:nvPr/>
          </p:nvSpPr>
          <p:spPr>
            <a:xfrm>
              <a:off x="10515600" y="2788920"/>
              <a:ext cx="411480"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401568"/>
              <a:ext cx="6565392" cy="53949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7479792" y="2894076"/>
              <a:ext cx="1161288" cy="777239"/>
            </a:xfrm>
            <a:prstGeom prst="line">
              <a:avLst/>
            </a:prstGeom>
            <a:ln w="2540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880360" y="1645920"/>
              <a:ext cx="3035808" cy="2514600"/>
            </a:xfrm>
            <a:prstGeom prst="rect">
              <a:avLst/>
            </a:prstGeom>
            <a:noFill/>
            <a:ln w="16510">
              <a:solidFill>
                <a:srgbClr val="267D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lot:One common speed advice"/>
            <p:cNvSpPr txBox="1"/>
            <p:nvPr/>
          </p:nvSpPr>
          <p:spPr>
            <a:xfrm>
              <a:off x="2569464" y="1188720"/>
              <a:ext cx="3730752" cy="347472"/>
            </a:xfrm>
            <a:prstGeom prst="rect">
              <a:avLst/>
            </a:prstGeom>
            <a:noFill/>
          </p:spPr>
          <p:txBody>
            <a:bodyPr wrap="none" lIns="32004" rIns="32004" tIns="18288" bIns="18288" anchor="t">
              <a:spAutoFit/>
            </a:bodyPr>
            <a:lstStyle/>
            <a:p>
              <a:pPr algn="ctr">
                <a:spcBef>
                  <a:spcPts val="0"/>
                </a:spcBef>
                <a:spcAft>
                  <a:spcPts val="0"/>
                </a:spcAft>
                <a:defRPr sz="1800" b="1">
                  <a:solidFill>
                    <a:srgbClr val="267D86"/>
                  </a:solidFill>
                  <a:latin typeface="Calibri"/>
                </a:defRPr>
              </a:pPr>
              <a:r>
                <a:t>One common speed advice</a:t>
              </a:r>
            </a:p>
          </p:txBody>
        </p:sp>
        <p:sp>
          <p:nvSpPr>
            <p:cNvPr id="11" name="plot:Preparation zone"/>
            <p:cNvSpPr txBox="1"/>
            <p:nvPr/>
          </p:nvSpPr>
          <p:spPr>
            <a:xfrm>
              <a:off x="2898648" y="4169663"/>
              <a:ext cx="3017520" cy="347472"/>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Preparation zone</a:t>
              </a:r>
            </a:p>
          </p:txBody>
        </p:sp>
        <p:sp>
          <p:nvSpPr>
            <p:cNvPr id="12" name="plot:Mandatory merge"/>
            <p:cNvSpPr txBox="1"/>
            <p:nvPr/>
          </p:nvSpPr>
          <p:spPr>
            <a:xfrm>
              <a:off x="7818120" y="3767328"/>
              <a:ext cx="3127248" cy="347472"/>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Mandatory merge</a:t>
              </a:r>
            </a:p>
          </p:txBody>
        </p:sp>
      </p:grpSp>
      <p:sp>
        <p:nvSpPr>
          <p:cNvPr id="14" name="body:Permanent narrowing gives the smallest clear mandatory-merge task."/>
          <p:cNvSpPr txBox="1"/>
          <p:nvPr/>
        </p:nvSpPr>
        <p:spPr>
          <a:xfrm>
            <a:off x="749808" y="480974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Permanent narrowing gives the smallest clear mandatory-merge task.</a:t>
            </a:r>
          </a:p>
        </p:txBody>
      </p:sp>
      <p:sp>
        <p:nvSpPr>
          <p:cNvPr id="15" name="body:One action for all lanes isolates information value from extra control."/>
          <p:cNvSpPr txBox="1"/>
          <p:nvPr/>
        </p:nvSpPr>
        <p:spPr>
          <a:xfrm>
            <a:off x="749808" y="529437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One action for all lanes isolates information value from extra control.</a:t>
            </a:r>
          </a:p>
        </p:txBody>
      </p:sp>
      <p:sp>
        <p:nvSpPr>
          <p:cNvPr id="16" name="body:Outcome: complete cohort travel and waiting time through clearance."/>
          <p:cNvSpPr txBox="1"/>
          <p:nvPr/>
        </p:nvSpPr>
        <p:spPr>
          <a:xfrm>
            <a:off x="749808" y="577900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Outcome: complete cohort travel and waiting time through clearance.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Preparation time can change receiving work"/>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Preparation time can change receiving work</a:t>
            </a:r>
          </a:p>
        </p:txBody>
      </p:sp>
      <p:grpSp>
        <p:nvGrpSpPr>
          <p:cNvPr id="15" name="diagram:progressive lateral transfer before choke"/>
          <p:cNvGrpSpPr/>
          <p:nvPr/>
        </p:nvGrpSpPr>
        <p:grpSpPr>
          <a:xfrm>
            <a:off x="914400" y="1536192"/>
            <a:ext cx="9875520" cy="1828800"/>
            <a:chOff x="914400" y="1536192"/>
            <a:chExt cx="9875520" cy="1828800"/>
          </a:xfrm>
        </p:grpSpPr>
        <p:sp>
          <p:nvSpPr>
            <p:cNvPr id="3" name="Rectangle 2"/>
            <p:cNvSpPr/>
            <p:nvPr/>
          </p:nvSpPr>
          <p:spPr>
            <a:xfrm>
              <a:off x="914400" y="1536192"/>
              <a:ext cx="9875520" cy="3200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029968"/>
              <a:ext cx="9875520" cy="3200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2523744"/>
              <a:ext cx="9875520" cy="32004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Up Arrow 5"/>
            <p:cNvSpPr/>
            <p:nvPr/>
          </p:nvSpPr>
          <p:spPr>
            <a:xfrm>
              <a:off x="2011680" y="2295144"/>
              <a:ext cx="274320" cy="438912"/>
            </a:xfrm>
            <a:prstGeom prst="up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Up Arrow 6"/>
            <p:cNvSpPr/>
            <p:nvPr/>
          </p:nvSpPr>
          <p:spPr>
            <a:xfrm>
              <a:off x="3749039" y="2295144"/>
              <a:ext cx="274320" cy="438912"/>
            </a:xfrm>
            <a:prstGeom prst="up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Up Arrow 7"/>
            <p:cNvSpPr/>
            <p:nvPr/>
          </p:nvSpPr>
          <p:spPr>
            <a:xfrm>
              <a:off x="5440680" y="2295144"/>
              <a:ext cx="274320" cy="438912"/>
            </a:xfrm>
            <a:prstGeom prst="up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88720" y="2578608"/>
              <a:ext cx="1188720" cy="201168"/>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578608"/>
              <a:ext cx="731520" cy="201168"/>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2578608"/>
              <a:ext cx="320040" cy="201168"/>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8046720" y="2189988"/>
              <a:ext cx="640080" cy="493776"/>
            </a:xfrm>
            <a:prstGeom prst="line">
              <a:avLst/>
            </a:prstGeom>
            <a:ln w="2540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13" name="plot:More time → more early merging"/>
            <p:cNvSpPr txBox="1"/>
            <p:nvPr/>
          </p:nvSpPr>
          <p:spPr>
            <a:xfrm>
              <a:off x="2103120" y="3017520"/>
              <a:ext cx="3913632" cy="347472"/>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More time → more early merging</a:t>
              </a:r>
            </a:p>
          </p:txBody>
        </p:sp>
        <p:sp>
          <p:nvSpPr>
            <p:cNvPr id="14" name="plot:Less merge work at choke"/>
            <p:cNvSpPr txBox="1"/>
            <p:nvPr/>
          </p:nvSpPr>
          <p:spPr>
            <a:xfrm>
              <a:off x="7443216" y="3017520"/>
              <a:ext cx="3319272" cy="347472"/>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Less merge work at choke</a:t>
              </a:r>
            </a:p>
          </p:txBody>
        </p:sp>
      </p:grpSp>
      <p:pic>
        <p:nvPicPr>
          <p:cNvPr id="16" name="math:vsl_transfer" descr="vsl_transfer.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56881" y="3593592"/>
            <a:ext cx="2047757" cy="1033271"/>
          </a:xfrm>
          <a:prstGeom prst="rect">
            <a:avLst/>
          </a:prstGeom>
        </p:spPr>
      </p:pic>
      <p:sp>
        <p:nvSpPr>
          <p:cNvPr id="17" name="body:L: zone length; v: common advice speed; τ: time in the zone."/>
          <p:cNvSpPr txBox="1"/>
          <p:nvPr/>
        </p:nvSpPr>
        <p:spPr>
          <a:xfrm>
            <a:off x="749808" y="482803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 zone length; v: common advice speed; τ: time in the zone.</a:t>
            </a:r>
          </a:p>
        </p:txBody>
      </p:sp>
      <p:sp>
        <p:nvSpPr>
          <p:cNvPr id="18" name="body:p: ending-lane fraction; M: cohort mass; λ: transfer rate; e: remaining mass."/>
          <p:cNvSpPr txBox="1"/>
          <p:nvPr/>
        </p:nvSpPr>
        <p:spPr>
          <a:xfrm>
            <a:off x="749808" y="523951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p: ending-lane fraction; M: cohort mass; λ: transfer rate; e: remaining mass.</a:t>
            </a:r>
          </a:p>
        </p:txBody>
      </p:sp>
      <p:sp>
        <p:nvSpPr>
          <p:cNvPr id="19" name="body:Slowing costs travel time; early merging can save receiving time."/>
          <p:cNvSpPr txBox="1"/>
          <p:nvPr/>
        </p:nvSpPr>
        <p:spPr>
          <a:xfrm>
            <a:off x="749808" y="565099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Slowing costs travel time; early merging can save receiving time.</a:t>
            </a:r>
          </a:p>
        </p:txBody>
      </p:sp>
      <p:sp>
        <p:nvSpPr>
          <p:cNvPr id="20" name="body:Fixed action-independent service instead favors fastest advice."/>
          <p:cNvSpPr txBox="1"/>
          <p:nvPr/>
        </p:nvSpPr>
        <p:spPr>
          <a:xfrm>
            <a:off x="749808" y="60624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Fixed action-independent service instead favors fastest advice.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Hidden allocation can change the best advice"/>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Hidden allocation can change the best advice</a:t>
            </a:r>
          </a:p>
        </p:txBody>
      </p:sp>
      <p:pic>
        <p:nvPicPr>
          <p:cNvPr id="3" name="diagram:conditional analytical action contrast" descr="vsl_action_contrast.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4672" y="1382769"/>
            <a:ext cx="10680192" cy="2867165"/>
          </a:xfrm>
          <a:prstGeom prst="rect">
            <a:avLst/>
          </a:prstGeom>
        </p:spPr>
      </p:pic>
      <p:sp>
        <p:nvSpPr>
          <p:cNvPr id="4" name="body:Different lane fractions; identical declared predecision aggregate history."/>
          <p:cNvSpPr txBox="1"/>
          <p:nvPr/>
        </p:nvSpPr>
        <p:spPr>
          <a:xfrm>
            <a:off x="749808" y="45902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Different lane fractions; identical declared predecision aggregate history.</a:t>
            </a:r>
          </a:p>
        </p:txBody>
      </p:sp>
      <p:sp>
        <p:nvSpPr>
          <p:cNvPr id="5" name="body:Less ending-lane mass: fastest advice. More: a slower interior optimum."/>
          <p:cNvSpPr txBox="1"/>
          <p:nvPr/>
        </p:nvSpPr>
        <p:spPr>
          <a:xfrm>
            <a:off x="749808" y="50474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Less ending-lane mass: fastest advice. More: a slower interior optimum.</a:t>
            </a:r>
          </a:p>
        </p:txBody>
      </p:sp>
      <p:sp>
        <p:nvSpPr>
          <p:cNvPr id="6" name="body:One aggregate-history-only initial action cannot be optimal for both."/>
          <p:cNvSpPr txBox="1"/>
          <p:nvPr/>
        </p:nvSpPr>
        <p:spPr>
          <a:xfrm>
            <a:off x="749808" y="55046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One aggregate-history-only initial action cannot be optimal for both.</a:t>
            </a:r>
          </a:p>
        </p:txBody>
      </p:sp>
      <p:sp>
        <p:nvSpPr>
          <p:cNvPr id="7" name="body:Conditional analytical illustration; normalized values, not traffic data."/>
          <p:cNvSpPr txBox="1"/>
          <p:nvPr/>
        </p:nvSpPr>
        <p:spPr>
          <a:xfrm>
            <a:off x="749808" y="59618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Conditional analytical illustration; normalized values, not traffic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VSL: follow the causal gradient path"/>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VSL: follow the causal gradient path</a:t>
            </a:r>
          </a:p>
        </p:txBody>
      </p:sp>
      <p:grpSp>
        <p:nvGrpSpPr>
          <p:cNvPr id="12" name="diagram:causal sensitivity chain"/>
          <p:cNvGrpSpPr/>
          <p:nvPr/>
        </p:nvGrpSpPr>
        <p:grpSpPr>
          <a:xfrm>
            <a:off x="713232" y="1335024"/>
            <a:ext cx="10789920" cy="704088"/>
            <a:chOff x="713232" y="1335024"/>
            <a:chExt cx="10789920" cy="704088"/>
          </a:xfrm>
        </p:grpSpPr>
        <p:sp>
          <p:nvSpPr>
            <p:cNvPr id="3" name="plot:Common / speed"/>
            <p:cNvSpPr txBox="1"/>
            <p:nvPr/>
          </p:nvSpPr>
          <p:spPr>
            <a:xfrm>
              <a:off x="713232" y="1335024"/>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Common</a:t>
              </a:r>
            </a:p>
            <a:p>
              <a:pPr algn="ctr">
                <a:spcBef>
                  <a:spcPts val="0"/>
                </a:spcBef>
                <a:spcAft>
                  <a:spcPts val="0"/>
                </a:spcAft>
                <a:defRPr sz="1800" b="1">
                  <a:solidFill>
                    <a:srgbClr val="267D86"/>
                  </a:solidFill>
                  <a:latin typeface="Calibri"/>
                </a:defRPr>
              </a:pPr>
              <a:r>
                <a:t>speed</a:t>
              </a:r>
            </a:p>
          </p:txBody>
        </p:sp>
        <p:sp>
          <p:nvSpPr>
            <p:cNvPr id="4" name="Right Arrow 3"/>
            <p:cNvSpPr/>
            <p:nvPr/>
          </p:nvSpPr>
          <p:spPr>
            <a:xfrm>
              <a:off x="2638044" y="1609344"/>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ot:Residence / time"/>
            <p:cNvSpPr txBox="1"/>
            <p:nvPr/>
          </p:nvSpPr>
          <p:spPr>
            <a:xfrm>
              <a:off x="2935224" y="1335024"/>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Residence</a:t>
              </a:r>
            </a:p>
            <a:p>
              <a:pPr algn="ctr">
                <a:spcBef>
                  <a:spcPts val="0"/>
                </a:spcBef>
                <a:spcAft>
                  <a:spcPts val="0"/>
                </a:spcAft>
                <a:defRPr sz="1800" b="1">
                  <a:solidFill>
                    <a:srgbClr val="267D86"/>
                  </a:solidFill>
                  <a:latin typeface="Calibri"/>
                </a:defRPr>
              </a:pPr>
              <a:r>
                <a:t>time</a:t>
              </a:r>
            </a:p>
          </p:txBody>
        </p:sp>
        <p:sp>
          <p:nvSpPr>
            <p:cNvPr id="6" name="Right Arrow 5"/>
            <p:cNvSpPr/>
            <p:nvPr/>
          </p:nvSpPr>
          <p:spPr>
            <a:xfrm>
              <a:off x="4860036" y="1609344"/>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ot:Remaining / merge mass"/>
            <p:cNvSpPr txBox="1"/>
            <p:nvPr/>
          </p:nvSpPr>
          <p:spPr>
            <a:xfrm>
              <a:off x="5157216" y="1335024"/>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Remaining</a:t>
              </a:r>
            </a:p>
            <a:p>
              <a:pPr algn="ctr">
                <a:spcBef>
                  <a:spcPts val="0"/>
                </a:spcBef>
                <a:spcAft>
                  <a:spcPts val="0"/>
                </a:spcAft>
                <a:defRPr sz="1800" b="1">
                  <a:solidFill>
                    <a:srgbClr val="267D86"/>
                  </a:solidFill>
                  <a:latin typeface="Calibri"/>
                </a:defRPr>
              </a:pPr>
              <a:r>
                <a:t>merge mass</a:t>
              </a:r>
            </a:p>
          </p:txBody>
        </p:sp>
        <p:sp>
          <p:nvSpPr>
            <p:cNvPr id="8" name="Right Arrow 7"/>
            <p:cNvSpPr/>
            <p:nvPr/>
          </p:nvSpPr>
          <p:spPr>
            <a:xfrm>
              <a:off x="7082028" y="1609344"/>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ot:Receiving / work"/>
            <p:cNvSpPr txBox="1"/>
            <p:nvPr/>
          </p:nvSpPr>
          <p:spPr>
            <a:xfrm>
              <a:off x="7379208" y="1335024"/>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Receiving</a:t>
              </a:r>
            </a:p>
            <a:p>
              <a:pPr algn="ctr">
                <a:spcBef>
                  <a:spcPts val="0"/>
                </a:spcBef>
                <a:spcAft>
                  <a:spcPts val="0"/>
                </a:spcAft>
                <a:defRPr sz="1800" b="1">
                  <a:solidFill>
                    <a:srgbClr val="267D86"/>
                  </a:solidFill>
                  <a:latin typeface="Calibri"/>
                </a:defRPr>
              </a:pPr>
              <a:r>
                <a:t>work</a:t>
              </a:r>
            </a:p>
          </p:txBody>
        </p:sp>
        <p:sp>
          <p:nvSpPr>
            <p:cNvPr id="10" name="Right Arrow 9"/>
            <p:cNvSpPr/>
            <p:nvPr/>
          </p:nvSpPr>
          <p:spPr>
            <a:xfrm>
              <a:off x="9304020" y="1609344"/>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ot:Complete / time"/>
            <p:cNvSpPr txBox="1"/>
            <p:nvPr/>
          </p:nvSpPr>
          <p:spPr>
            <a:xfrm>
              <a:off x="9601200" y="1335024"/>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Complete</a:t>
              </a:r>
            </a:p>
            <a:p>
              <a:pPr algn="ctr">
                <a:spcBef>
                  <a:spcPts val="0"/>
                </a:spcBef>
                <a:spcAft>
                  <a:spcPts val="0"/>
                </a:spcAft>
                <a:defRPr sz="1800" b="1">
                  <a:solidFill>
                    <a:srgbClr val="267D86"/>
                  </a:solidFill>
                  <a:latin typeface="Calibri"/>
                </a:defRPr>
              </a:pPr>
              <a:r>
                <a:t>time</a:t>
              </a:r>
            </a:p>
          </p:txBody>
        </p:sp>
      </p:grpSp>
      <p:pic>
        <p:nvPicPr>
          <p:cNvPr id="13" name="math:vsl_cost_gradient" descr="vsl_cost_gradient.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32418" y="2322576"/>
            <a:ext cx="3896682" cy="1426464"/>
          </a:xfrm>
          <a:prstGeom prst="rect">
            <a:avLst/>
          </a:prstGeom>
        </p:spPr>
      </p:pic>
      <p:sp>
        <p:nvSpPr>
          <p:cNvPr id="14" name="body:J: total cohort time / M; all mass starts together and clears completely."/>
          <p:cNvSpPr txBox="1"/>
          <p:nvPr/>
        </p:nvSpPr>
        <p:spPr>
          <a:xfrm>
            <a:off x="749808" y="419709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J: total cohort time / M; all mass starts together and clears completely.</a:t>
            </a:r>
          </a:p>
        </p:txBody>
      </p:sp>
      <p:sp>
        <p:nvSpPr>
          <p:cNvPr id="15" name="body:M: cohort mass; e(τ): mass still in the ending lane at the choke."/>
          <p:cNvSpPr txBox="1"/>
          <p:nvPr/>
        </p:nvSpPr>
        <p:spPr>
          <a:xfrm>
            <a:off x="749808" y="45902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M: cohort mass; e(τ): mass still in the ending lane at the choke.</a:t>
            </a:r>
          </a:p>
        </p:txBody>
      </p:sp>
      <p:sp>
        <p:nvSpPr>
          <p:cNvPr id="16" name="body:α&gt;1: merge-work multiplier; μ: receiving work per unit time."/>
          <p:cNvSpPr txBox="1"/>
          <p:nvPr/>
        </p:nvSpPr>
        <p:spPr>
          <a:xfrm>
            <a:off x="749808" y="49834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α&gt;1: merge-work multiplier; μ: receiving work per unit time.</a:t>
            </a:r>
          </a:p>
        </p:txBody>
      </p:sp>
      <p:sp>
        <p:nvSpPr>
          <p:cNvPr id="17" name="body:Linear batch discharge: mean choke time = clearance duration / 2."/>
          <p:cNvSpPr txBox="1"/>
          <p:nvPr/>
        </p:nvSpPr>
        <p:spPr>
          <a:xfrm>
            <a:off x="749808" y="53766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Linear batch discharge: mean choke time = clearance duration / 2.</a:t>
            </a:r>
          </a:p>
        </p:txBody>
      </p:sp>
      <p:sp>
        <p:nvSpPr>
          <p:cNvPr id="18" name="body:Transfer: Nagalur Subraveti; receiving: Carey; common VSL: Zhang."/>
          <p:cNvSpPr txBox="1"/>
          <p:nvPr/>
        </p:nvSpPr>
        <p:spPr>
          <a:xfrm>
            <a:off x="749808" y="576986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Transfer: Nagalur Subraveti; receiving: Carey; common VSL: Zhang.</a:t>
            </a:r>
          </a:p>
        </p:txBody>
      </p:sp>
      <p:sp>
        <p:nvSpPr>
          <p:cNvPr id="19" name="body:Exponential transfer and batch reduction: analytical adaptations."/>
          <p:cNvSpPr txBox="1"/>
          <p:nvPr/>
        </p:nvSpPr>
        <p:spPr>
          <a:xfrm>
            <a:off x="749808" y="616305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Exponential transfer and batch reduction: analytical adaptations.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VSL: an analytical task, with a study still ahead"/>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VSL: an analytical task, with a study still ahead</a:t>
            </a:r>
          </a:p>
        </p:txBody>
      </p:sp>
      <p:sp>
        <p:nvSpPr>
          <p:cNvPr id="3" name="body:Established: a conditional hidden-state → action → gradient chain."/>
          <p:cNvSpPr txBox="1"/>
          <p:nvPr/>
        </p:nvSpPr>
        <p:spPr>
          <a:xfrm>
            <a:off x="749808" y="153619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Established: a conditional hidden-state → action → gradient chain.</a:t>
            </a:r>
          </a:p>
        </p:txBody>
      </p:sp>
      <p:sp>
        <p:nvSpPr>
          <p:cNvPr id="4" name="body:One continuous merge-preparation statistic may be sufficient."/>
          <p:cNvSpPr txBox="1"/>
          <p:nvPr/>
        </p:nvSpPr>
        <p:spPr>
          <a:xfrm>
            <a:off x="749808" y="219456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One continuous merge-preparation statistic may be sufficient.</a:t>
            </a:r>
          </a:p>
        </p:txBody>
      </p:sp>
      <p:sp>
        <p:nvSpPr>
          <p:cNvPr id="5" name="body:Not established: calibrated transfer law or real-world regime prevalence."/>
          <p:cNvSpPr txBox="1"/>
          <p:nvPr/>
        </p:nvSpPr>
        <p:spPr>
          <a:xfrm>
            <a:off x="749808" y="285292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Not established: calibrated transfer law or real-world regime prevalence.</a:t>
            </a:r>
          </a:p>
        </p:txBody>
      </p:sp>
      <p:sp>
        <p:nvSpPr>
          <p:cNvPr id="6" name="body:Still needed: ablations, model-family robustness and stronger baselines."/>
          <p:cNvSpPr txBox="1"/>
          <p:nvPr/>
        </p:nvSpPr>
        <p:spPr>
          <a:xfrm>
            <a:off x="749808" y="351129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Still needed: ablations, model-family robustness and stronger baselines.</a:t>
            </a:r>
          </a:p>
        </p:txBody>
      </p:sp>
      <p:sp>
        <p:nvSpPr>
          <p:cNvPr id="7" name="body:Then: a traffic-valid reference, derivative checks and independent usefulness."/>
          <p:cNvSpPr txBox="1"/>
          <p:nvPr/>
        </p:nvSpPr>
        <p:spPr>
          <a:xfrm>
            <a:off x="749808" y="4169663"/>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Then: a traffic-valid reference, derivative checks and independent usefulness.</a:t>
            </a:r>
          </a:p>
        </p:txBody>
      </p:sp>
      <p:sp>
        <p:nvSpPr>
          <p:cNvPr id="8" name="body:Further VSL review is deferred pending colleague discussion."/>
          <p:cNvSpPr txBox="1"/>
          <p:nvPr/>
        </p:nvSpPr>
        <p:spPr>
          <a:xfrm>
            <a:off x="749808" y="4828031"/>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Further VSL review is deferred pending colleague discussion.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metering: one local merge"/>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metering: one local merge</a:t>
            </a:r>
          </a:p>
        </p:txBody>
      </p:sp>
      <p:grpSp>
        <p:nvGrpSpPr>
          <p:cNvPr id="15" name="diagram:local freeway ramp and stored releases"/>
          <p:cNvGrpSpPr/>
          <p:nvPr/>
        </p:nvGrpSpPr>
        <p:grpSpPr>
          <a:xfrm>
            <a:off x="896112" y="1682496"/>
            <a:ext cx="10323576" cy="3099816"/>
            <a:chOff x="896112" y="1682496"/>
            <a:chExt cx="10323576" cy="3099816"/>
          </a:xfrm>
        </p:grpSpPr>
        <p:sp>
          <p:nvSpPr>
            <p:cNvPr id="3" name="Rectangle 2"/>
            <p:cNvSpPr/>
            <p:nvPr/>
          </p:nvSpPr>
          <p:spPr>
            <a:xfrm>
              <a:off x="896112" y="1682496"/>
              <a:ext cx="10323576" cy="50292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Arrow 3"/>
            <p:cNvSpPr/>
            <p:nvPr/>
          </p:nvSpPr>
          <p:spPr>
            <a:xfrm>
              <a:off x="10625328" y="1828800"/>
              <a:ext cx="411480"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96112" y="2395728"/>
              <a:ext cx="10323576" cy="50292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ight Arrow 5"/>
            <p:cNvSpPr/>
            <p:nvPr/>
          </p:nvSpPr>
          <p:spPr>
            <a:xfrm>
              <a:off x="10625328" y="2542032"/>
              <a:ext cx="411480" cy="201168"/>
            </a:xfrm>
            <a:prstGeom prst="rightArrow">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6152" y="3694176"/>
              <a:ext cx="4663440" cy="502920"/>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5879592" y="2651760"/>
              <a:ext cx="2258568" cy="1289303"/>
            </a:xfrm>
            <a:prstGeom prst="line">
              <a:avLst/>
            </a:prstGeom>
            <a:ln w="2540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182112" y="3593592"/>
              <a:ext cx="137160" cy="704088"/>
            </a:xfrm>
            <a:prstGeom prst="rect">
              <a:avLst/>
            </a:prstGeom>
            <a:solidFill>
              <a:srgbClr val="243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17320" y="3749039"/>
              <a:ext cx="1463040" cy="393192"/>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51376" y="3803904"/>
              <a:ext cx="502920" cy="283464"/>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lot:Finite ramp queue"/>
            <p:cNvSpPr txBox="1"/>
            <p:nvPr/>
          </p:nvSpPr>
          <p:spPr>
            <a:xfrm>
              <a:off x="1097280" y="4398264"/>
              <a:ext cx="2377440" cy="384048"/>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Finite ramp queue</a:t>
              </a:r>
            </a:p>
          </p:txBody>
        </p:sp>
        <p:sp>
          <p:nvSpPr>
            <p:cNvPr id="13" name="plot:Meter"/>
            <p:cNvSpPr txBox="1"/>
            <p:nvPr/>
          </p:nvSpPr>
          <p:spPr>
            <a:xfrm>
              <a:off x="2980944" y="2953512"/>
              <a:ext cx="1033271" cy="365760"/>
            </a:xfrm>
            <a:prstGeom prst="rect">
              <a:avLst/>
            </a:prstGeom>
            <a:noFill/>
          </p:spPr>
          <p:txBody>
            <a:bodyPr wrap="none" lIns="32004" rIns="32004" tIns="18288" bIns="18288" anchor="t">
              <a:spAutoFit/>
            </a:bodyPr>
            <a:lstStyle/>
            <a:p>
              <a:pPr algn="ctr">
                <a:spcBef>
                  <a:spcPts val="0"/>
                </a:spcBef>
                <a:spcAft>
                  <a:spcPts val="0"/>
                </a:spcAft>
                <a:defRPr sz="1800" b="1">
                  <a:solidFill>
                    <a:srgbClr val="243341"/>
                  </a:solidFill>
                  <a:latin typeface="Calibri"/>
                </a:defRPr>
              </a:pPr>
              <a:r>
                <a:t>Meter</a:t>
              </a:r>
            </a:p>
          </p:txBody>
        </p:sp>
        <p:sp>
          <p:nvSpPr>
            <p:cNvPr id="14" name="plot:Release ≠ downstream entry"/>
            <p:cNvSpPr txBox="1"/>
            <p:nvPr/>
          </p:nvSpPr>
          <p:spPr>
            <a:xfrm>
              <a:off x="5440680" y="4398264"/>
              <a:ext cx="3959352" cy="384048"/>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Release ≠ downstream entry</a:t>
              </a:r>
            </a:p>
          </p:txBody>
        </p:sp>
      </p:grpSp>
      <p:sp>
        <p:nvSpPr>
          <p:cNvPr id="16" name="body:Local lane-aware CTM: longitudinal cells with finite storage and lane exchange."/>
          <p:cNvSpPr txBox="1"/>
          <p:nvPr/>
        </p:nvSpPr>
        <p:spPr>
          <a:xfrm>
            <a:off x="749808" y="49469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Local lane-aware CTM: longitudinal cells with finite storage and lane exchange.</a:t>
            </a:r>
          </a:p>
        </p:txBody>
      </p:sp>
      <p:sp>
        <p:nvSpPr>
          <p:cNvPr id="17" name="body:Open-loop rate changes isolate model sensitivity before controller design."/>
          <p:cNvSpPr txBox="1"/>
          <p:nvPr/>
        </p:nvSpPr>
        <p:spPr>
          <a:xfrm>
            <a:off x="749808" y="542239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Open-loop rate changes isolate model sensitivity before controller design.</a:t>
            </a:r>
          </a:p>
        </p:txBody>
      </p:sp>
      <p:sp>
        <p:nvSpPr>
          <p:cNvPr id="18" name="body:Count ramp waiting, mainline time, external waiting and all residual traffic."/>
          <p:cNvSpPr txBox="1"/>
          <p:nvPr/>
        </p:nvSpPr>
        <p:spPr>
          <a:xfrm>
            <a:off x="749808" y="58978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Count ramp waiting, mainline time, external waiting and all residual traffic.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CTM: lateral and forward flow"/>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CTM: lateral and forward flow</a:t>
            </a:r>
          </a:p>
        </p:txBody>
      </p:sp>
      <p:grpSp>
        <p:nvGrpSpPr>
          <p:cNvPr id="37" name="diagram:CTM cells and two-stage lateral-forward update"/>
          <p:cNvGrpSpPr/>
          <p:nvPr/>
        </p:nvGrpSpPr>
        <p:grpSpPr>
          <a:xfrm>
            <a:off x="466344" y="1271016"/>
            <a:ext cx="10643616" cy="3611880"/>
            <a:chOff x="466344" y="1271016"/>
            <a:chExt cx="10643616" cy="3611880"/>
          </a:xfrm>
        </p:grpSpPr>
        <p:sp>
          <p:nvSpPr>
            <p:cNvPr id="3" name="plot:Lane 1"/>
            <p:cNvSpPr txBox="1"/>
            <p:nvPr/>
          </p:nvSpPr>
          <p:spPr>
            <a:xfrm>
              <a:off x="466344" y="1673352"/>
              <a:ext cx="969264" cy="365760"/>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Lane 1</a:t>
              </a:r>
            </a:p>
          </p:txBody>
        </p:sp>
        <p:sp>
          <p:nvSpPr>
            <p:cNvPr id="4" name="plot:Lane 2"/>
            <p:cNvSpPr txBox="1"/>
            <p:nvPr/>
          </p:nvSpPr>
          <p:spPr>
            <a:xfrm>
              <a:off x="466344" y="2221992"/>
              <a:ext cx="969264" cy="365760"/>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Lane 2</a:t>
              </a:r>
            </a:p>
          </p:txBody>
        </p:sp>
        <p:sp>
          <p:nvSpPr>
            <p:cNvPr id="5" name="plot:Cell i − 1"/>
            <p:cNvSpPr txBox="1"/>
            <p:nvPr/>
          </p:nvSpPr>
          <p:spPr>
            <a:xfrm>
              <a:off x="1572768" y="1271016"/>
              <a:ext cx="2743200" cy="365760"/>
            </a:xfrm>
            <a:prstGeom prst="rect">
              <a:avLst/>
            </a:prstGeom>
            <a:noFill/>
          </p:spPr>
          <p:txBody>
            <a:bodyPr wrap="none" lIns="32004" rIns="32004" tIns="18288" bIns="18288" anchor="t">
              <a:spAutoFit/>
            </a:bodyPr>
            <a:lstStyle/>
            <a:p>
              <a:pPr algn="ctr">
                <a:spcBef>
                  <a:spcPts val="0"/>
                </a:spcBef>
                <a:spcAft>
                  <a:spcPts val="0"/>
                </a:spcAft>
                <a:defRPr sz="1800" b="1">
                  <a:solidFill>
                    <a:srgbClr val="267D86"/>
                  </a:solidFill>
                  <a:latin typeface="Calibri"/>
                </a:defRPr>
              </a:pPr>
              <a:r>
                <a:t>Cell i − 1</a:t>
              </a:r>
            </a:p>
          </p:txBody>
        </p:sp>
        <p:sp>
          <p:nvSpPr>
            <p:cNvPr id="6" name="Rectangle 5"/>
            <p:cNvSpPr/>
            <p:nvPr/>
          </p:nvSpPr>
          <p:spPr>
            <a:xfrm>
              <a:off x="1572768" y="1664208"/>
              <a:ext cx="2743200" cy="42062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72768" y="2212848"/>
              <a:ext cx="2743200" cy="42062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572768" y="1645920"/>
              <a:ext cx="0" cy="1014984"/>
            </a:xfrm>
            <a:prstGeom prst="line">
              <a:avLst/>
            </a:prstGeom>
            <a:ln w="1270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315968" y="1645920"/>
              <a:ext cx="0" cy="1014984"/>
            </a:xfrm>
            <a:prstGeom prst="line">
              <a:avLst/>
            </a:prstGeom>
            <a:ln w="12700">
              <a:solidFill>
                <a:srgbClr val="7D8791"/>
              </a:solidFill>
            </a:ln>
          </p:spPr>
          <p:style>
            <a:lnRef idx="2">
              <a:schemeClr val="accent1"/>
            </a:lnRef>
            <a:fillRef idx="0">
              <a:schemeClr val="accent1"/>
            </a:fillRef>
            <a:effectRef idx="1">
              <a:schemeClr val="accent1"/>
            </a:effectRef>
            <a:fontRef idx="minor">
              <a:schemeClr val="tx1"/>
            </a:fontRef>
          </p:style>
        </p:cxnSp>
        <p:sp>
          <p:nvSpPr>
            <p:cNvPr id="10" name="plot:Cell i"/>
            <p:cNvSpPr txBox="1"/>
            <p:nvPr/>
          </p:nvSpPr>
          <p:spPr>
            <a:xfrm>
              <a:off x="4718304" y="1271016"/>
              <a:ext cx="2743200" cy="365760"/>
            </a:xfrm>
            <a:prstGeom prst="rect">
              <a:avLst/>
            </a:prstGeom>
            <a:noFill/>
          </p:spPr>
          <p:txBody>
            <a:bodyPr wrap="none" lIns="32004" rIns="32004" tIns="18288" bIns="18288" anchor="t">
              <a:spAutoFit/>
            </a:bodyPr>
            <a:lstStyle/>
            <a:p>
              <a:pPr algn="ctr">
                <a:spcBef>
                  <a:spcPts val="0"/>
                </a:spcBef>
                <a:spcAft>
                  <a:spcPts val="0"/>
                </a:spcAft>
                <a:defRPr sz="1800" b="1">
                  <a:solidFill>
                    <a:srgbClr val="267D86"/>
                  </a:solidFill>
                  <a:latin typeface="Calibri"/>
                </a:defRPr>
              </a:pPr>
              <a:r>
                <a:t>Cell i</a:t>
              </a:r>
            </a:p>
          </p:txBody>
        </p:sp>
        <p:sp>
          <p:nvSpPr>
            <p:cNvPr id="11" name="Rectangle 10"/>
            <p:cNvSpPr/>
            <p:nvPr/>
          </p:nvSpPr>
          <p:spPr>
            <a:xfrm>
              <a:off x="4718304" y="1664208"/>
              <a:ext cx="2743200" cy="42062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18304" y="2212848"/>
              <a:ext cx="2743200" cy="42062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718304" y="1645920"/>
              <a:ext cx="0" cy="1014984"/>
            </a:xfrm>
            <a:prstGeom prst="line">
              <a:avLst/>
            </a:prstGeom>
            <a:ln w="1270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461504" y="1645920"/>
              <a:ext cx="0" cy="1014984"/>
            </a:xfrm>
            <a:prstGeom prst="line">
              <a:avLst/>
            </a:prstGeom>
            <a:ln w="12700">
              <a:solidFill>
                <a:srgbClr val="7D8791"/>
              </a:solidFill>
            </a:ln>
          </p:spPr>
          <p:style>
            <a:lnRef idx="2">
              <a:schemeClr val="accent1"/>
            </a:lnRef>
            <a:fillRef idx="0">
              <a:schemeClr val="accent1"/>
            </a:fillRef>
            <a:effectRef idx="1">
              <a:schemeClr val="accent1"/>
            </a:effectRef>
            <a:fontRef idx="minor">
              <a:schemeClr val="tx1"/>
            </a:fontRef>
          </p:style>
        </p:cxnSp>
        <p:sp>
          <p:nvSpPr>
            <p:cNvPr id="15" name="plot:Cell i + 1"/>
            <p:cNvSpPr txBox="1"/>
            <p:nvPr/>
          </p:nvSpPr>
          <p:spPr>
            <a:xfrm>
              <a:off x="7863840" y="1271016"/>
              <a:ext cx="2743200" cy="365760"/>
            </a:xfrm>
            <a:prstGeom prst="rect">
              <a:avLst/>
            </a:prstGeom>
            <a:noFill/>
          </p:spPr>
          <p:txBody>
            <a:bodyPr wrap="none" lIns="32004" rIns="32004" tIns="18288" bIns="18288" anchor="t">
              <a:spAutoFit/>
            </a:bodyPr>
            <a:lstStyle/>
            <a:p>
              <a:pPr algn="ctr">
                <a:spcBef>
                  <a:spcPts val="0"/>
                </a:spcBef>
                <a:spcAft>
                  <a:spcPts val="0"/>
                </a:spcAft>
                <a:defRPr sz="1800" b="1">
                  <a:solidFill>
                    <a:srgbClr val="267D86"/>
                  </a:solidFill>
                  <a:latin typeface="Calibri"/>
                </a:defRPr>
              </a:pPr>
              <a:r>
                <a:t>Cell i + 1</a:t>
              </a:r>
            </a:p>
          </p:txBody>
        </p:sp>
        <p:sp>
          <p:nvSpPr>
            <p:cNvPr id="16" name="Rectangle 15"/>
            <p:cNvSpPr/>
            <p:nvPr/>
          </p:nvSpPr>
          <p:spPr>
            <a:xfrm>
              <a:off x="7863840" y="1664208"/>
              <a:ext cx="2743200" cy="42062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2212848"/>
              <a:ext cx="2743200" cy="42062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863840" y="1645920"/>
              <a:ext cx="0" cy="1014984"/>
            </a:xfrm>
            <a:prstGeom prst="line">
              <a:avLst/>
            </a:prstGeom>
            <a:ln w="1270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607040" y="1645920"/>
              <a:ext cx="0" cy="1014984"/>
            </a:xfrm>
            <a:prstGeom prst="line">
              <a:avLst/>
            </a:prstGeom>
            <a:ln w="12700">
              <a:solidFill>
                <a:srgbClr val="7D8791"/>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719072" y="1737360"/>
              <a:ext cx="685800" cy="27432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719072" y="2286000"/>
              <a:ext cx="1371600" cy="274320"/>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64608" y="1737360"/>
              <a:ext cx="822960" cy="27432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64608" y="2286000"/>
              <a:ext cx="1417320" cy="274320"/>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0144" y="1737360"/>
              <a:ext cx="1143000" cy="27432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10144" y="2286000"/>
              <a:ext cx="777240" cy="274320"/>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Up Arrow 25"/>
            <p:cNvSpPr/>
            <p:nvPr/>
          </p:nvSpPr>
          <p:spPr>
            <a:xfrm>
              <a:off x="6922008" y="1938528"/>
              <a:ext cx="274320" cy="466344"/>
            </a:xfrm>
            <a:prstGeom prst="upArrow">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4379976" y="1773936"/>
              <a:ext cx="301752"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4379976" y="2322576"/>
              <a:ext cx="301752"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7525512" y="1773936"/>
              <a:ext cx="301752"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7525512" y="2322576"/>
              <a:ext cx="301752"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10698480" y="1773936"/>
              <a:ext cx="301752"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Arrow 31"/>
            <p:cNvSpPr/>
            <p:nvPr/>
          </p:nvSpPr>
          <p:spPr>
            <a:xfrm>
              <a:off x="10698480" y="2322576"/>
              <a:ext cx="301752"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lot:Within cell: paired lateral exchange"/>
            <p:cNvSpPr txBox="1"/>
            <p:nvPr/>
          </p:nvSpPr>
          <p:spPr>
            <a:xfrm>
              <a:off x="822960" y="2752344"/>
              <a:ext cx="4983480" cy="356616"/>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Within cell: paired lateral exchange</a:t>
              </a:r>
            </a:p>
          </p:txBody>
        </p:sp>
        <p:sp>
          <p:nvSpPr>
            <p:cNvPr id="34" name="plot:Across cells: forward transmission"/>
            <p:cNvSpPr txBox="1"/>
            <p:nvPr/>
          </p:nvSpPr>
          <p:spPr>
            <a:xfrm>
              <a:off x="5943600" y="2752344"/>
              <a:ext cx="5166360" cy="356616"/>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Across cells: forward transmission</a:t>
              </a:r>
            </a:p>
          </p:txBody>
        </p:sp>
        <p:sp>
          <p:nvSpPr>
            <p:cNvPr id="35" name="plot:Lateral"/>
            <p:cNvSpPr txBox="1"/>
            <p:nvPr/>
          </p:nvSpPr>
          <p:spPr>
            <a:xfrm>
              <a:off x="667512" y="3520440"/>
              <a:ext cx="1298448" cy="365760"/>
            </a:xfrm>
            <a:prstGeom prst="rect">
              <a:avLst/>
            </a:prstGeom>
            <a:noFill/>
          </p:spPr>
          <p:txBody>
            <a:bodyPr wrap="none" lIns="32004" rIns="32004" tIns="18288" bIns="18288" anchor="t">
              <a:spAutoFit/>
            </a:bodyPr>
            <a:lstStyle/>
            <a:p>
              <a:pPr algn="l">
                <a:spcBef>
                  <a:spcPts val="0"/>
                </a:spcBef>
                <a:spcAft>
                  <a:spcPts val="0"/>
                </a:spcAft>
                <a:defRPr sz="1800" b="1">
                  <a:solidFill>
                    <a:srgbClr val="A87532"/>
                  </a:solidFill>
                  <a:latin typeface="Calibri"/>
                </a:defRPr>
              </a:pPr>
              <a:r>
                <a:t>Lateral</a:t>
              </a:r>
            </a:p>
          </p:txBody>
        </p:sp>
        <p:sp>
          <p:nvSpPr>
            <p:cNvPr id="36" name="plot:Forward"/>
            <p:cNvSpPr txBox="1"/>
            <p:nvPr/>
          </p:nvSpPr>
          <p:spPr>
            <a:xfrm>
              <a:off x="667512" y="4517136"/>
              <a:ext cx="1298448" cy="365760"/>
            </a:xfrm>
            <a:prstGeom prst="rect">
              <a:avLst/>
            </a:prstGeom>
            <a:noFill/>
          </p:spPr>
          <p:txBody>
            <a:bodyPr wrap="none" lIns="32004" rIns="32004" tIns="18288" bIns="18288" anchor="t">
              <a:spAutoFit/>
            </a:bodyPr>
            <a:lstStyle/>
            <a:p>
              <a:pPr algn="l">
                <a:spcBef>
                  <a:spcPts val="0"/>
                </a:spcBef>
                <a:spcAft>
                  <a:spcPts val="0"/>
                </a:spcAft>
                <a:defRPr sz="1800" b="1">
                  <a:solidFill>
                    <a:srgbClr val="267D86"/>
                  </a:solidFill>
                  <a:latin typeface="Calibri"/>
                </a:defRPr>
              </a:pPr>
              <a:r>
                <a:t>Forward</a:t>
              </a:r>
            </a:p>
          </p:txBody>
        </p:sp>
      </p:grpSp>
      <p:pic>
        <p:nvPicPr>
          <p:cNvPr id="38" name="math:ramp_resource" descr="ramp_resourc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7097" y="3191256"/>
            <a:ext cx="4081724" cy="1947672"/>
          </a:xfrm>
          <a:prstGeom prst="rect">
            <a:avLst/>
          </a:prstGeom>
        </p:spPr>
      </p:pic>
      <p:sp>
        <p:nvSpPr>
          <p:cNvPr id="39" name="body:n: lane-cell mass; i: cell; ℓ, j: lanes; h: time step; after: post-exchange."/>
          <p:cNvSpPr txBox="1"/>
          <p:nvPr/>
        </p:nvSpPr>
        <p:spPr>
          <a:xfrm>
            <a:off x="749808" y="529437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 lane-cell mass; i: cell; ℓ, j: lanes; h: time step; after: post-exchange.</a:t>
            </a:r>
          </a:p>
        </p:txBody>
      </p:sp>
      <p:sp>
        <p:nvSpPr>
          <p:cNvPr id="40" name="body:A: bounded density preference; λ: directed lateral rate; D/S: sending/receiving."/>
          <p:cNvSpPr txBox="1"/>
          <p:nvPr/>
        </p:nvSpPr>
        <p:spPr>
          <a:xfrm>
            <a:off x="749808" y="56601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bounded density preference; λ: directed lateral rate; D/S: sending/receiving.</a:t>
            </a:r>
          </a:p>
        </p:txBody>
      </p:sp>
      <p:sp>
        <p:nvSpPr>
          <p:cNvPr id="41" name="body:q: forward rate; f: accepted inflow; ramp + mainline share receiving."/>
          <p:cNvSpPr txBox="1"/>
          <p:nvPr/>
        </p:nvSpPr>
        <p:spPr>
          <a:xfrm>
            <a:off x="749808" y="602589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q: forward rate; f: accepted inflow; ramp + mainline share receiving.</a:t>
            </a:r>
          </a:p>
        </p:txBody>
      </p:sp>
      <p:sp>
        <p:nvSpPr>
          <p:cNvPr id="42" name="body:Lane CTM/exchange: Nagalur Subraveti; node priorities: Wright. Adapted."/>
          <p:cNvSpPr txBox="1"/>
          <p:nvPr/>
        </p:nvSpPr>
        <p:spPr>
          <a:xfrm>
            <a:off x="749808" y="639165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Lane CTM/exchange: Nagalur Subraveti; node priorities: Wright. Adapted.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lane contrast is not yet certified hidde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lane contrast is not yet certified hidden</a:t>
            </a:r>
          </a:p>
        </p:txBody>
      </p:sp>
      <p:grpSp>
        <p:nvGrpSpPr>
          <p:cNvPr id="19" name="diagram:equal mass does not mean equal aggregate information"/>
          <p:cNvGrpSpPr/>
          <p:nvPr/>
        </p:nvGrpSpPr>
        <p:grpSpPr>
          <a:xfrm>
            <a:off x="914400" y="1261872"/>
            <a:ext cx="10661904" cy="2862072"/>
            <a:chOff x="914400" y="1261872"/>
            <a:chExt cx="10661904" cy="2862072"/>
          </a:xfrm>
        </p:grpSpPr>
        <p:sp>
          <p:nvSpPr>
            <p:cNvPr id="3" name="plot:Free-flow illustration: normalized lane mobilities 1 and 1.5."/>
            <p:cNvSpPr txBox="1"/>
            <p:nvPr/>
          </p:nvSpPr>
          <p:spPr>
            <a:xfrm>
              <a:off x="1856231" y="1261872"/>
              <a:ext cx="8366760" cy="356616"/>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Free-flow illustration: normalized lane mobilities 1 and 1.5.</a:t>
              </a:r>
            </a:p>
          </p:txBody>
        </p:sp>
        <p:sp>
          <p:nvSpPr>
            <p:cNvPr id="4" name="Rectangle 3"/>
            <p:cNvSpPr/>
            <p:nvPr/>
          </p:nvSpPr>
          <p:spPr>
            <a:xfrm>
              <a:off x="914400" y="1773936"/>
              <a:ext cx="4480560" cy="484632"/>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773936"/>
              <a:ext cx="896112" cy="4846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2"/>
            <p:cNvSpPr txBox="1"/>
            <p:nvPr/>
          </p:nvSpPr>
          <p:spPr>
            <a:xfrm>
              <a:off x="5486400" y="1810512"/>
              <a:ext cx="603504" cy="365760"/>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2</a:t>
              </a:r>
            </a:p>
          </p:txBody>
        </p:sp>
        <p:sp>
          <p:nvSpPr>
            <p:cNvPr id="7" name="Rectangle 6"/>
            <p:cNvSpPr/>
            <p:nvPr/>
          </p:nvSpPr>
          <p:spPr>
            <a:xfrm>
              <a:off x="914400" y="2487168"/>
              <a:ext cx="4480560" cy="484632"/>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2487168"/>
              <a:ext cx="3584448" cy="484632"/>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ot:8"/>
            <p:cNvSpPr txBox="1"/>
            <p:nvPr/>
          </p:nvSpPr>
          <p:spPr>
            <a:xfrm>
              <a:off x="5486400" y="2523744"/>
              <a:ext cx="603504" cy="365760"/>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8</a:t>
              </a:r>
            </a:p>
          </p:txBody>
        </p:sp>
        <p:sp>
          <p:nvSpPr>
            <p:cNvPr id="10" name="plot:Total mass 10; forward flow 14"/>
            <p:cNvSpPr txBox="1"/>
            <p:nvPr/>
          </p:nvSpPr>
          <p:spPr>
            <a:xfrm>
              <a:off x="914400" y="3136392"/>
              <a:ext cx="4754880" cy="411480"/>
            </a:xfrm>
            <a:prstGeom prst="rect">
              <a:avLst/>
            </a:prstGeom>
            <a:noFill/>
          </p:spPr>
          <p:txBody>
            <a:bodyPr wrap="none" lIns="32004" rIns="32004" tIns="18288" bIns="18288" anchor="t">
              <a:spAutoFit/>
            </a:bodyPr>
            <a:lstStyle/>
            <a:p>
              <a:pPr algn="ctr">
                <a:spcBef>
                  <a:spcPts val="0"/>
                </a:spcBef>
                <a:spcAft>
                  <a:spcPts val="0"/>
                </a:spcAft>
                <a:defRPr sz="1800" b="1">
                  <a:solidFill>
                    <a:srgbClr val="243341"/>
                  </a:solidFill>
                  <a:latin typeface="Calibri"/>
                </a:defRPr>
              </a:pPr>
              <a:r>
                <a:t>Total mass 10; forward flow 14</a:t>
              </a:r>
            </a:p>
          </p:txBody>
        </p:sp>
        <p:sp>
          <p:nvSpPr>
            <p:cNvPr id="11" name="Rectangle 10"/>
            <p:cNvSpPr/>
            <p:nvPr/>
          </p:nvSpPr>
          <p:spPr>
            <a:xfrm>
              <a:off x="6400800" y="1773936"/>
              <a:ext cx="4480560" cy="484632"/>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773936"/>
              <a:ext cx="2688336" cy="4846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lot:6"/>
            <p:cNvSpPr txBox="1"/>
            <p:nvPr/>
          </p:nvSpPr>
          <p:spPr>
            <a:xfrm>
              <a:off x="10972800" y="1810512"/>
              <a:ext cx="603504" cy="365760"/>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6</a:t>
              </a:r>
            </a:p>
          </p:txBody>
        </p:sp>
        <p:sp>
          <p:nvSpPr>
            <p:cNvPr id="14" name="Rectangle 13"/>
            <p:cNvSpPr/>
            <p:nvPr/>
          </p:nvSpPr>
          <p:spPr>
            <a:xfrm>
              <a:off x="6400800" y="2487168"/>
              <a:ext cx="4480560" cy="484632"/>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2487168"/>
              <a:ext cx="1792224" cy="484632"/>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lot:4"/>
            <p:cNvSpPr txBox="1"/>
            <p:nvPr/>
          </p:nvSpPr>
          <p:spPr>
            <a:xfrm>
              <a:off x="10972800" y="2523744"/>
              <a:ext cx="603504" cy="365760"/>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4</a:t>
              </a:r>
            </a:p>
          </p:txBody>
        </p:sp>
        <p:sp>
          <p:nvSpPr>
            <p:cNvPr id="17" name="plot:Total mass 10; forward flow 12"/>
            <p:cNvSpPr txBox="1"/>
            <p:nvPr/>
          </p:nvSpPr>
          <p:spPr>
            <a:xfrm>
              <a:off x="6400800" y="3136392"/>
              <a:ext cx="4754880" cy="411480"/>
            </a:xfrm>
            <a:prstGeom prst="rect">
              <a:avLst/>
            </a:prstGeom>
            <a:noFill/>
          </p:spPr>
          <p:txBody>
            <a:bodyPr wrap="none" lIns="32004" rIns="32004" tIns="18288" bIns="18288" anchor="t">
              <a:spAutoFit/>
            </a:bodyPr>
            <a:lstStyle/>
            <a:p>
              <a:pPr algn="ctr">
                <a:spcBef>
                  <a:spcPts val="0"/>
                </a:spcBef>
                <a:spcAft>
                  <a:spcPts val="0"/>
                </a:spcAft>
                <a:defRPr sz="1800" b="1">
                  <a:solidFill>
                    <a:srgbClr val="243341"/>
                  </a:solidFill>
                  <a:latin typeface="Calibri"/>
                </a:defRPr>
              </a:pPr>
              <a:r>
                <a:t>Total mass 10; forward flow 12</a:t>
              </a:r>
            </a:p>
          </p:txBody>
        </p:sp>
        <p:sp>
          <p:nvSpPr>
            <p:cNvPr id="18" name="plot:Different lane mobilities make aggregate flows distinguishable."/>
            <p:cNvSpPr txBox="1"/>
            <p:nvPr/>
          </p:nvSpPr>
          <p:spPr>
            <a:xfrm>
              <a:off x="2423160" y="3758184"/>
              <a:ext cx="7726679" cy="365760"/>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Different lane mobilities make aggregate flows distinguishable.</a:t>
              </a:r>
            </a:p>
          </p:txBody>
        </p:sp>
      </p:grpSp>
      <p:sp>
        <p:nvSpPr>
          <p:cNvPr id="20" name="body:Candidate omission: target-lane occupancy and local redistribution."/>
          <p:cNvSpPr txBox="1"/>
          <p:nvPr/>
        </p:nvSpPr>
        <p:spPr>
          <a:xfrm>
            <a:off x="749808" y="459943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Candidate omission: target-lane occupancy and local redistribution.</a:t>
            </a:r>
          </a:p>
        </p:txBody>
      </p:sp>
      <p:sp>
        <p:nvSpPr>
          <p:cNvPr id="21" name="body:Free-flow density and flow can already reveal the lane split."/>
          <p:cNvSpPr txBox="1"/>
          <p:nvPr/>
        </p:nvSpPr>
        <p:spPr>
          <a:xfrm>
            <a:off x="749808" y="50474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Free-flow density and flow can already reveal the lane split.</a:t>
            </a:r>
          </a:p>
        </p:txBody>
      </p:sp>
      <p:sp>
        <p:nvSpPr>
          <p:cNvPr id="22" name="body:Congestion requires a precise independent speed-and-history map."/>
          <p:cNvSpPr txBox="1"/>
          <p:nvPr/>
        </p:nvSpPr>
        <p:spPr>
          <a:xfrm>
            <a:off x="749808" y="549554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Congestion requires a precise independent speed-and-history map.</a:t>
            </a:r>
          </a:p>
        </p:txBody>
      </p:sp>
      <p:sp>
        <p:nvSpPr>
          <p:cNvPr id="23" name="body:No equal-history pair with different useful metering actions is established."/>
          <p:cNvSpPr txBox="1"/>
          <p:nvPr/>
        </p:nvSpPr>
        <p:spPr>
          <a:xfrm>
            <a:off x="749808" y="59436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No equal-history pair with different useful metering actions is established.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gradients follow final departure timing"/>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gradients follow final departure timing</a:t>
            </a:r>
          </a:p>
        </p:txBody>
      </p:sp>
      <p:grpSp>
        <p:nvGrpSpPr>
          <p:cNvPr id="12" name="diagram:causal sensitivity chain"/>
          <p:cNvGrpSpPr/>
          <p:nvPr/>
        </p:nvGrpSpPr>
        <p:grpSpPr>
          <a:xfrm>
            <a:off x="713232" y="1325880"/>
            <a:ext cx="10789920" cy="704088"/>
            <a:chOff x="713232" y="1325880"/>
            <a:chExt cx="10789920" cy="704088"/>
          </a:xfrm>
        </p:grpSpPr>
        <p:sp>
          <p:nvSpPr>
            <p:cNvPr id="3" name="plot:Meter / rate"/>
            <p:cNvSpPr txBox="1"/>
            <p:nvPr/>
          </p:nvSpPr>
          <p:spPr>
            <a:xfrm>
              <a:off x="713232" y="1325880"/>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Meter</a:t>
              </a:r>
            </a:p>
            <a:p>
              <a:pPr algn="ctr">
                <a:spcBef>
                  <a:spcPts val="0"/>
                </a:spcBef>
                <a:spcAft>
                  <a:spcPts val="0"/>
                </a:spcAft>
                <a:defRPr sz="1800" b="1">
                  <a:solidFill>
                    <a:srgbClr val="267D86"/>
                  </a:solidFill>
                  <a:latin typeface="Calibri"/>
                </a:defRPr>
              </a:pPr>
              <a:r>
                <a:t>rate</a:t>
              </a:r>
            </a:p>
          </p:txBody>
        </p:sp>
        <p:sp>
          <p:nvSpPr>
            <p:cNvPr id="4" name="Right Arrow 3"/>
            <p:cNvSpPr/>
            <p:nvPr/>
          </p:nvSpPr>
          <p:spPr>
            <a:xfrm>
              <a:off x="2638044" y="160020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lot:Release + / storage"/>
            <p:cNvSpPr txBox="1"/>
            <p:nvPr/>
          </p:nvSpPr>
          <p:spPr>
            <a:xfrm>
              <a:off x="2935224" y="1325880"/>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Release +</a:t>
              </a:r>
            </a:p>
            <a:p>
              <a:pPr algn="ctr">
                <a:spcBef>
                  <a:spcPts val="0"/>
                </a:spcBef>
                <a:spcAft>
                  <a:spcPts val="0"/>
                </a:spcAft>
                <a:defRPr sz="1800" b="1">
                  <a:solidFill>
                    <a:srgbClr val="267D86"/>
                  </a:solidFill>
                  <a:latin typeface="Calibri"/>
                </a:defRPr>
              </a:pPr>
              <a:r>
                <a:t>storage</a:t>
              </a:r>
            </a:p>
          </p:txBody>
        </p:sp>
        <p:sp>
          <p:nvSpPr>
            <p:cNvPr id="6" name="Right Arrow 5"/>
            <p:cNvSpPr/>
            <p:nvPr/>
          </p:nvSpPr>
          <p:spPr>
            <a:xfrm>
              <a:off x="4860036" y="160020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lot:Accepted / merging"/>
            <p:cNvSpPr txBox="1"/>
            <p:nvPr/>
          </p:nvSpPr>
          <p:spPr>
            <a:xfrm>
              <a:off x="5157216" y="1325880"/>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Accepted</a:t>
              </a:r>
            </a:p>
            <a:p>
              <a:pPr algn="ctr">
                <a:spcBef>
                  <a:spcPts val="0"/>
                </a:spcBef>
                <a:spcAft>
                  <a:spcPts val="0"/>
                </a:spcAft>
                <a:defRPr sz="1800" b="1">
                  <a:solidFill>
                    <a:srgbClr val="267D86"/>
                  </a:solidFill>
                  <a:latin typeface="Calibri"/>
                </a:defRPr>
              </a:pPr>
              <a:r>
                <a:t>merging</a:t>
              </a:r>
            </a:p>
          </p:txBody>
        </p:sp>
        <p:sp>
          <p:nvSpPr>
            <p:cNvPr id="8" name="Right Arrow 7"/>
            <p:cNvSpPr/>
            <p:nvPr/>
          </p:nvSpPr>
          <p:spPr>
            <a:xfrm>
              <a:off x="7082028" y="160020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ot:Final / departures"/>
            <p:cNvSpPr txBox="1"/>
            <p:nvPr/>
          </p:nvSpPr>
          <p:spPr>
            <a:xfrm>
              <a:off x="7379208" y="1325880"/>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Final</a:t>
              </a:r>
            </a:p>
            <a:p>
              <a:pPr algn="ctr">
                <a:spcBef>
                  <a:spcPts val="0"/>
                </a:spcBef>
                <a:spcAft>
                  <a:spcPts val="0"/>
                </a:spcAft>
                <a:defRPr sz="1800" b="1">
                  <a:solidFill>
                    <a:srgbClr val="267D86"/>
                  </a:solidFill>
                  <a:latin typeface="Calibri"/>
                </a:defRPr>
              </a:pPr>
              <a:r>
                <a:t>departures</a:t>
              </a:r>
            </a:p>
          </p:txBody>
        </p:sp>
        <p:sp>
          <p:nvSpPr>
            <p:cNvPr id="10" name="Right Arrow 9"/>
            <p:cNvSpPr/>
            <p:nvPr/>
          </p:nvSpPr>
          <p:spPr>
            <a:xfrm>
              <a:off x="9304020" y="160020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ot:All-stream / time"/>
            <p:cNvSpPr txBox="1"/>
            <p:nvPr/>
          </p:nvSpPr>
          <p:spPr>
            <a:xfrm>
              <a:off x="9601200" y="1325880"/>
              <a:ext cx="1901952"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All-stream</a:t>
              </a:r>
            </a:p>
            <a:p>
              <a:pPr algn="ctr">
                <a:spcBef>
                  <a:spcPts val="0"/>
                </a:spcBef>
                <a:spcAft>
                  <a:spcPts val="0"/>
                </a:spcAft>
                <a:defRPr sz="1800" b="1">
                  <a:solidFill>
                    <a:srgbClr val="267D86"/>
                  </a:solidFill>
                  <a:latin typeface="Calibri"/>
                </a:defRPr>
              </a:pPr>
              <a:r>
                <a:t>time</a:t>
              </a:r>
            </a:p>
          </p:txBody>
        </p:sp>
      </p:grpSp>
      <p:pic>
        <p:nvPicPr>
          <p:cNvPr id="13" name="math:ramp_objective_gradient" descr="ramp_objective_gradient.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1410" y="2322576"/>
            <a:ext cx="2878699" cy="1691640"/>
          </a:xfrm>
          <a:prstGeom prst="rect">
            <a:avLst/>
          </a:prstGeom>
        </p:spPr>
      </p:pic>
      <p:sp>
        <p:nvSpPr>
          <p:cNvPr id="14" name="body:J: total system time; P: all traffic still in system; E: final exit flow."/>
          <p:cNvSpPr txBox="1"/>
          <p:nvPr/>
        </p:nvSpPr>
        <p:spPr>
          <a:xfrm>
            <a:off x="749808" y="441655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J: total system time; P: all traffic still in system; E: final exit flow.</a:t>
            </a:r>
          </a:p>
        </p:txBody>
      </p:sp>
      <p:sp>
        <p:nvSpPr>
          <p:cNvPr id="15" name="body:T: common clearance horizon; θ: open-loop meter-schedule parameter."/>
          <p:cNvSpPr txBox="1"/>
          <p:nvPr/>
        </p:nvSpPr>
        <p:spPr>
          <a:xfrm>
            <a:off x="749808" y="489204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 common clearance horizon; θ: open-loop meter-schedule parameter.</a:t>
            </a:r>
          </a:p>
        </p:txBody>
      </p:sp>
      <p:sp>
        <p:nvSpPr>
          <p:cNvPr id="16" name="body:Moving waiting from mainline to ramp alone does not reduce total time."/>
          <p:cNvSpPr txBox="1"/>
          <p:nvPr/>
        </p:nvSpPr>
        <p:spPr>
          <a:xfrm>
            <a:off x="749808" y="536752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Moving waiting from mainline to ramp alone does not reduce total time.</a:t>
            </a:r>
          </a:p>
        </p:txBody>
      </p:sp>
      <p:sp>
        <p:nvSpPr>
          <p:cNvPr id="17" name="body:Piecewise sensitivity is formulated; correctness and usefulness remain open."/>
          <p:cNvSpPr txBox="1"/>
          <p:nvPr/>
        </p:nvSpPr>
        <p:spPr>
          <a:xfrm>
            <a:off x="749808" y="584301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Piecewise sensitivity is formulated; correctness and usefulness remain open.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Different evidence levels; one common test"/>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Different evidence levels; one common test</a:t>
            </a:r>
          </a:p>
        </p:txBody>
      </p:sp>
      <p:sp>
        <p:nvSpPr>
          <p:cNvPr id="3" name="body:VSL: conditional proof of hidden information changing action and gradient."/>
          <p:cNvSpPr txBox="1"/>
          <p:nvPr/>
        </p:nvSpPr>
        <p:spPr>
          <a:xfrm>
            <a:off x="749808" y="152704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VSL: conditional proof of hidden information changing action and gradient.</a:t>
            </a:r>
          </a:p>
        </p:txBody>
      </p:sp>
      <p:sp>
        <p:nvSpPr>
          <p:cNvPr id="4" name="body:Ramp metering: conservative formulation; information value remains open."/>
          <p:cNvSpPr txBox="1"/>
          <p:nvPr/>
        </p:nvSpPr>
        <p:spPr>
          <a:xfrm>
            <a:off x="749808" y="219456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Ramp metering: conservative formulation; information value remains open.</a:t>
            </a:r>
          </a:p>
        </p:txBody>
      </p:sp>
      <p:sp>
        <p:nvSpPr>
          <p:cNvPr id="5" name="body:Both: a continuous scalar may suffice; full lane detail is not presumed."/>
          <p:cNvSpPr txBox="1"/>
          <p:nvPr/>
        </p:nvSpPr>
        <p:spPr>
          <a:xfrm>
            <a:off x="749808" y="28620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Both: a continuous scalar may suffice; full lane detail is not presumed.</a:t>
            </a:r>
          </a:p>
        </p:txBody>
      </p:sp>
      <p:sp>
        <p:nvSpPr>
          <p:cNvPr id="6" name="body:Next ramp question: what does speed measure, and when is it observed?"/>
          <p:cNvSpPr txBox="1"/>
          <p:nvPr/>
        </p:nvSpPr>
        <p:spPr>
          <a:xfrm>
            <a:off x="749808" y="352958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Next ramp question: what does speed measure, and when is it observed?</a:t>
            </a:r>
          </a:p>
        </p:txBody>
      </p:sp>
      <p:sp>
        <p:nvSpPr>
          <p:cNvPr id="7" name="body:An idealized benchmark or a measurement-first review remains to be chosen."/>
          <p:cNvSpPr txBox="1"/>
          <p:nvPr/>
        </p:nvSpPr>
        <p:spPr>
          <a:xfrm>
            <a:off x="749808" y="419709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An idealized benchmark or a measurement-first review remains to be chosen.</a:t>
            </a:r>
          </a:p>
        </p:txBody>
      </p:sp>
      <p:sp>
        <p:nvSpPr>
          <p:cNvPr id="8" name="body:Research-ready claims need robustness and independent outcome testing."/>
          <p:cNvSpPr txBox="1"/>
          <p:nvPr/>
        </p:nvSpPr>
        <p:spPr>
          <a:xfrm>
            <a:off x="749808" y="486460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Research-ready claims need robustness and independent outcome testing.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Freeway control: what traffic information changes useful decisions?</dc:title>
  <dc:subject>Method-first VSL and ramp-metering review, through 2 October 2026</dc:subject>
  <dc:creator>Research review</dc:creator>
  <cp:keywords>VSL, ramp metering, hidden information, useful gradients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
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Scope: the original ramp-metering feasibility review opened on 14 September 2026, its bounded conclusion and closure on 15 September, and the task-first correction and pre-review handover on 16 September. This is a historical methodology synthesis. Subsequent N1/N2/Route B and analytical/reference-bridge findings are outside this deck's requested scope, even though the reference style deck discusses those later records.</a:t>
            </a:r>
          </a:p>
          <a:p>
            <a:r>
              <a:t>Sources: ../selective_discreteness_ramp_metering_review/README.md; reporting/closure_record.md in that package; ../differentiable_freeway_bottleneck_task_pre_review/pre_review_closure_and_handoff.md.</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Contents slide. Five substantive slides organize the argument semantically, with no sprint, phase, gate, source-access or progress reporting in the visible content. Short source descriptors appear where they help convey the finding; full source boundaries and provenance remain in the speaker notes and companion work note. No simulation, derivative result or minimum-state necessity claim is introduced.</a:t>
            </a:r>
          </a:p>
          <a:p>
            <a:r>
              <a:t>The argument moves from the original joint compatibility/value criterion, to evidence and its limits, to the bounded transfer case, to the corrected task-first hierarchy, and finally to the operational anchor and unresolved scientific question inherited by the handover.</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review asked whether ramp metering could become an orthogonal parallel task within an already established architecture. It did not forbid negative or macro-sufficiency results, but strict compatibility was an initial admissibility condition. The two circles are conceptual sets, not quantitative findings: one is tasks compatible with the current continuous-mass first-order architecture, the other tasks independently diagnostic of selected mesoscopic information. The overlap is the desired role, not an established candidate.</a:t>
            </a:r>
          </a:p>
          <a:p>
            <a:r>
              <a:t>Fixed architecture in that review: aggregate first-order propagation, continuous traffic mass, fixed structural routes/topology, and localized ordered metadata. Compatibility alone was insufficient; scientific diagnosticity and practical evidence feasibility were separate judgments. The original evidence audit did not support promotion of any reviewed formulation meeting both conditions. No universal nonexistence claim follows.</a:t>
            </a:r>
          </a:p>
          <a:p>
            <a:r>
              <a:t>Sources: ../selective_discreteness_ramp_metering_review/review_protocol_plan.md, sections 1, 2 and 6; reporting/colleague_brief/ramp_metering_parallel_task_assessment.tex, sections 1 and 6; reporting/closure_record.md.</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combines the earlier evidence mapping and debate into the scientific finding, rather than reporting their procedural sequence. ALINEA and CTM-based optimal/distributed control establish strong controller and lower-resolution alternatives. Reilly et al. (2015), RM0024, provide direct coordinated I-15 ramp-metering gradients via a manually derived discrete adjoint. Gu et al. (2022), RM0026, supply abstract/metadata-level evidence for smoothed CTM ramp-metering MPC; no detailed equation claim is made. Goatin et al. (2026), RM0025, provide full-text multiclass network adjoint evidence, not a completed version of the proposed ordered-stream task. Poole and Kotsialos (2016), RM0030, concern freeway METANET calibration, not ramp-control performance. These derivative constructions have different forward/backward contracts and are not interchangeable.</a:t>
            </a:r>
          </a:p>
          <a:p>
            <a:r>
              <a:t>The closed ramp review found mesoscopic work emphasizing routes/DTA, event progression, stochastic realization and scale, with some lane refinement. The pre-review terminology scan also identified packet/cohort, class/lane, distributional and hybrid local-interaction families. This is semantic orientation, not a fidelity ladder or proof of minimum resolution. Exact local FIFO rank was not established as necessary by the reviewed ramp corpus; absence in this bounded corpus is not universal absence.</a:t>
            </a:r>
          </a:p>
          <a:p>
            <a:r>
              <a:t>Sources: ../selective_discreteness_ramp_metering_review/synthesis/feedback20_evidence_debate.md, sections 1-3 and 5; archive/metadata/feedback20_sources.md; ../differentiable_freeway_bottleneck_task_pre_review/freeway_mesoscopic_meaning_quick_scan.md, sections 1-3 and 6.</a:t>
            </a:r>
          </a:p>
          <a:p>
            <a:r>
              <a:t>Primary anchors in existing records: https://doi.org/10.1007/s10957-015-0749-1 ; https://doi.org/10.1109/TITS.2021.3123815 ; https://doi.org/10.1007/s11081-026-10122-4 ; https://doi.org/10.1016/j.trc.2016.07.008 . No new literature search was performed for this deck.</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Conceptual diagram, not simulated data. A metered upstream stream enters a first-order link, route-labelled order propagates downstream, and a downstream exit restriction creates order-sensitive service. Blue packet rectangles denote exit-bound mass and teal rectangles continuing mass; rectangle counts and lengths carry no quantitative meaning. The amber branch denotes constrained exit service. This case was coherent only with non-overlapping merge-input eligibility intervals and a restricted point geometry, avoiding an unsupported unique chronology of simultaneous continuous arrivals.</a:t>
            </a:r>
          </a:p>
          <a:p>
            <a:r>
              <a:t>The scientific finding was partial causal-chain novelty, but no orthogonal representation hypothesis: the decisive mechanism is the same route-labelled ordered access tested by the signal-control application. It could remain an optional propagation/transfer or ablation fixture; it was neither a selected parallel task nor an implementation obligation. More realistic overlapping and multilane cases would require additional chronology/lateral behavior. A simple aggregate ramp case could also remain an optional correctness fixture.</a:t>
            </a:r>
          </a:p>
          <a:p>
            <a:r>
              <a:t>Sources: ../selective_discreteness_ramp_metering_review/review_protocol_plan.md, opening closure summary; synthesis/feedback20_evidence_debate.md, section 4; reporting/colleague_brief/ramp_metering_parallel_task_assessment.tex, sections 4-5; reporting/closure_record.md, Final disposition.</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colleague exchange exposed the distinction between ruling out a task inside an existing model and evaluating the task independently. Philipp and Wang Yu asked to define tasks and questions first, then decide which model components are necessary. The earlier bounded ramp-review conclusion remains valid under its compatibility-framed question. The new review changes the admissibility hierarchy; it does not overwrite or universalize that finding.</a:t>
            </a:r>
          </a:p>
          <a:p>
            <a:r>
              <a:t>Top row: the old fixed-model compatibility question. Bottom row: the task-first correction. Compatibility/reuse, engineering cost and paper organization are later audits after task validity and minimum-model justification. Acceleration, safety gaps or lane changes absent from the current project are possible task requirements, not automatic evidence against a task; they do impose scientific isolation, calibration and validation costs. The common ground is the question of necessary traffic resolution and the evidence logic, not a shared simulator, mesoscopic definition, codebase or paper. All resolutions and negative/infeasible outcomes are admissible.</a:t>
            </a:r>
          </a:p>
          <a:p>
            <a:r>
              <a:t>Sources: ../../temp_content/feedback/email_trace_20260916.md, messages 2 and 4; ../differentiable_freeway_bottleneck_task_pre_review/feedback22_email_trace_response.md, opening clarification and sections 2, 6.1, 6.7; pre_review_closure_and_handoff.md, principles P1-P8.</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states the inherited task-framing direction, not later formal-review findings. Temporary or permanent freeway lane-capacity reduction is the operational anchor; closure location, affected lanes and closure/reopening schedule are exogenous in the first formulation. Low, near-capacity and high-demand regimes are relevant scenario dimensions. Reopening does not guarantee that an existing queue has cleared. The road drawing is a conceptual lane reduction, not a selected three-to-two reference geometry or simulated trajectory.</a:t>
            </a:r>
          </a:p>
          <a:p>
            <a:r>
              <a:t>F1 speed harmonization/advisory control and F2 coordinated ramp metering are co-primary initial candidates. A human speed recommendation is not a direct CAV command: penetration, compliance, response delay and heterogeneity must be specified in any eventual task. F4 recovery is a required scenario dimension if temporary closure is selected. F3 joint control and F5 cooperative lane-change/merge control are expansions or boundary/separate-project candidates. They are not preselected control tasks. Objective accounting must include the same traveler population and upstream/ramp waiting; fairness, ramp storage, speed variance and safety proxies require explicit reporting or constraints where appropriate.</a:t>
            </a:r>
          </a:p>
          <a:p>
            <a:r>
              <a:t>Research logic: operational task; strongest low-resolution baseline; controlled information-loss/decision gap; minimum additional state; derivative correctness; useful action directions or rankings in an independent richer evaluator; cost and evidence feasibility. Model detail and task selection are open at this handover. No N1 result, minimum-state result, experiment or simulator development is asserted or authorized.</a:t>
            </a:r>
          </a:p>
          <a:p>
            <a:r>
              <a:t>Sources: ../differentiable_freeway_bottleneck_task_pre_review/pre_review_closure_and_handoff.md, sections 2-5 and 8; feedback22_email_trace_response.md, task candidates and sections 6.2-6.6; freeway_mesoscopic_meaning_quick_scan.md, sections 4-5.</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From model-first to task-first research"/>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From model-first to task-first research</a:t>
            </a:r>
          </a:p>
        </p:txBody>
      </p:sp>
      <p:sp>
        <p:nvSpPr>
          <p:cNvPr id="3" name="body:Freeway control: what traffic information is actually necessary?"/>
          <p:cNvSpPr txBox="1"/>
          <p:nvPr/>
        </p:nvSpPr>
        <p:spPr>
          <a:xfrm>
            <a:off x="777240" y="2331720"/>
            <a:ext cx="10652760" cy="502920"/>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Freeway control: what traffic information is actually necessary?</a:t>
            </a:r>
          </a:p>
        </p:txBody>
      </p:sp>
      <p:sp>
        <p:nvSpPr>
          <p:cNvPr id="4" name="body:Methodological findings through 16 September 2026"/>
          <p:cNvSpPr txBox="1"/>
          <p:nvPr/>
        </p:nvSpPr>
        <p:spPr>
          <a:xfrm>
            <a:off x="777240" y="3200400"/>
            <a:ext cx="10652760" cy="411480"/>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Methodological findings through 16 September 2026</a:t>
            </a:r>
          </a:p>
        </p:txBody>
      </p:sp>
      <p:sp>
        <p:nvSpPr>
          <p:cNvPr id="5" name="body:Technical discussion for colleagues"/>
          <p:cNvSpPr txBox="1"/>
          <p:nvPr/>
        </p:nvSpPr>
        <p:spPr>
          <a:xfrm>
            <a:off x="777240" y="5394960"/>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Technical discussion for colleagues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Contents"/>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Contents</a:t>
            </a:r>
          </a:p>
        </p:txBody>
      </p:sp>
      <p:sp>
        <p:nvSpPr>
          <p:cNvPr id="3" name="body:1   The original compatibility and scientific-value test"/>
          <p:cNvSpPr txBox="1"/>
          <p:nvPr/>
        </p:nvSpPr>
        <p:spPr>
          <a:xfrm>
            <a:off x="777240" y="1554480"/>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1   The original compatibility and scientific-value test</a:t>
            </a:r>
          </a:p>
        </p:txBody>
      </p:sp>
      <p:sp>
        <p:nvSpPr>
          <p:cNvPr id="4" name="body:2   Strong aggregate alternatives and ambiguous mesoscopic value"/>
          <p:cNvSpPr txBox="1"/>
          <p:nvPr/>
        </p:nvSpPr>
        <p:spPr>
          <a:xfrm>
            <a:off x="777240" y="2377440"/>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2   Strong aggregate alternatives and ambiguous mesoscopic value</a:t>
            </a:r>
          </a:p>
        </p:txBody>
      </p:sp>
      <p:sp>
        <p:nvSpPr>
          <p:cNvPr id="5" name="body:3   Why the ordered-stream case is a transfer test"/>
          <p:cNvSpPr txBox="1"/>
          <p:nvPr/>
        </p:nvSpPr>
        <p:spPr>
          <a:xfrm>
            <a:off x="777240" y="3200400"/>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3   Why the ordered-stream case is a transfer test</a:t>
            </a:r>
          </a:p>
        </p:txBody>
      </p:sp>
      <p:sp>
        <p:nvSpPr>
          <p:cNvPr id="6" name="body:4   The correction: task before model compatibility"/>
          <p:cNvSpPr txBox="1"/>
          <p:nvPr/>
        </p:nvSpPr>
        <p:spPr>
          <a:xfrm>
            <a:off x="777240" y="4023360"/>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4   The correction: task before model compatibility</a:t>
            </a:r>
          </a:p>
        </p:txBody>
      </p:sp>
      <p:sp>
        <p:nvSpPr>
          <p:cNvPr id="7" name="body:5   Lane reduction as an independent research anchor"/>
          <p:cNvSpPr txBox="1"/>
          <p:nvPr/>
        </p:nvSpPr>
        <p:spPr>
          <a:xfrm>
            <a:off x="777240" y="4846320"/>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5   Lane reduction as an independent research anchor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The original question imposed two conditions"/>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The original question imposed two conditions</a:t>
            </a:r>
          </a:p>
        </p:txBody>
      </p:sp>
      <p:sp>
        <p:nvSpPr>
          <p:cNvPr id="3" name="body:Starting point: continuous-mass, first-order physics with localized route order."/>
          <p:cNvSpPr txBox="1"/>
          <p:nvPr/>
        </p:nvSpPr>
        <p:spPr>
          <a:xfrm>
            <a:off x="777240" y="1280160"/>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Starting point: continuous-mass, first-order physics with localized route order.</a:t>
            </a:r>
          </a:p>
        </p:txBody>
      </p:sp>
      <p:grpSp>
        <p:nvGrpSpPr>
          <p:cNvPr id="11" name="Joint compatibility and independent scientific-value conditions"/>
          <p:cNvGrpSpPr/>
          <p:nvPr/>
        </p:nvGrpSpPr>
        <p:grpSpPr>
          <a:xfrm>
            <a:off x="1828800" y="2121408"/>
            <a:ext cx="8503920" cy="3063240"/>
            <a:chOff x="1828800" y="2121408"/>
            <a:chExt cx="8503920" cy="3063240"/>
          </a:xfrm>
        </p:grpSpPr>
        <p:sp>
          <p:nvSpPr>
            <p:cNvPr id="4" name="Oval 3"/>
            <p:cNvSpPr/>
            <p:nvPr/>
          </p:nvSpPr>
          <p:spPr>
            <a:xfrm>
              <a:off x="1828800" y="2121408"/>
              <a:ext cx="4846320" cy="3063240"/>
            </a:xfrm>
            <a:prstGeom prst="ellipse">
              <a:avLst/>
            </a:prstGeom>
            <a:noFill/>
            <a:ln w="15240">
              <a:solidFill>
                <a:srgbClr val="416F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0" y="2121408"/>
              <a:ext cx="4846320" cy="3063240"/>
            </a:xfrm>
            <a:prstGeom prst="ellipse">
              <a:avLst/>
            </a:prstGeom>
            <a:no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ody:Compatible with"/>
            <p:cNvSpPr txBox="1"/>
            <p:nvPr/>
          </p:nvSpPr>
          <p:spPr>
            <a:xfrm>
              <a:off x="2240280" y="2971800"/>
              <a:ext cx="3474720" cy="384048"/>
            </a:xfrm>
            <a:prstGeom prst="rect">
              <a:avLst/>
            </a:prstGeom>
            <a:noFill/>
          </p:spPr>
          <p:txBody>
            <a:bodyPr wrap="none" lIns="36576" rIns="36576" tIns="18288" bIns="18288" anchor="t">
              <a:spAutoFit/>
            </a:bodyPr>
            <a:lstStyle/>
            <a:p>
              <a:pPr algn="ctr">
                <a:spcBef>
                  <a:spcPts val="0"/>
                </a:spcBef>
                <a:spcAft>
                  <a:spcPts val="0"/>
                </a:spcAft>
                <a:defRPr sz="1800" b="1">
                  <a:solidFill>
                    <a:srgbClr val="416F9B"/>
                  </a:solidFill>
                  <a:latin typeface="Calibri"/>
                </a:defRPr>
              </a:pPr>
              <a:r>
                <a:t>Compatible with</a:t>
              </a:r>
            </a:p>
          </p:txBody>
        </p:sp>
        <p:sp>
          <p:nvSpPr>
            <p:cNvPr id="7" name="body:the existing model"/>
            <p:cNvSpPr txBox="1"/>
            <p:nvPr/>
          </p:nvSpPr>
          <p:spPr>
            <a:xfrm>
              <a:off x="2240280" y="3438144"/>
              <a:ext cx="3474720" cy="384048"/>
            </a:xfrm>
            <a:prstGeom prst="rect">
              <a:avLst/>
            </a:prstGeom>
            <a:noFill/>
          </p:spPr>
          <p:txBody>
            <a:bodyPr wrap="none" lIns="36576" rIns="36576" tIns="18288" bIns="18288" anchor="t">
              <a:spAutoFit/>
            </a:bodyPr>
            <a:lstStyle/>
            <a:p>
              <a:pPr algn="ctr">
                <a:spcBef>
                  <a:spcPts val="0"/>
                </a:spcBef>
                <a:spcAft>
                  <a:spcPts val="0"/>
                </a:spcAft>
                <a:defRPr sz="1800" b="0">
                  <a:solidFill>
                    <a:srgbClr val="243341"/>
                  </a:solidFill>
                  <a:latin typeface="Calibri"/>
                </a:defRPr>
              </a:pPr>
              <a:r>
                <a:t>the existing model</a:t>
              </a:r>
            </a:p>
          </p:txBody>
        </p:sp>
        <p:sp>
          <p:nvSpPr>
            <p:cNvPr id="8" name="body:Distinct information"/>
            <p:cNvSpPr txBox="1"/>
            <p:nvPr/>
          </p:nvSpPr>
          <p:spPr>
            <a:xfrm>
              <a:off x="6492240" y="2971800"/>
              <a:ext cx="3383280" cy="384048"/>
            </a:xfrm>
            <a:prstGeom prst="rect">
              <a:avLst/>
            </a:prstGeom>
            <a:noFill/>
          </p:spPr>
          <p:txBody>
            <a:bodyPr wrap="none" lIns="36576" rIns="36576" tIns="18288" bIns="18288" anchor="t">
              <a:spAutoFit/>
            </a:bodyPr>
            <a:lstStyle/>
            <a:p>
              <a:pPr algn="ctr">
                <a:spcBef>
                  <a:spcPts val="0"/>
                </a:spcBef>
                <a:spcAft>
                  <a:spcPts val="0"/>
                </a:spcAft>
                <a:defRPr sz="1800" b="1">
                  <a:solidFill>
                    <a:srgbClr val="267D86"/>
                  </a:solidFill>
                  <a:latin typeface="Calibri"/>
                </a:defRPr>
              </a:pPr>
              <a:r>
                <a:t>Distinct information</a:t>
              </a:r>
            </a:p>
          </p:txBody>
        </p:sp>
        <p:sp>
          <p:nvSpPr>
            <p:cNvPr id="9" name="body:needed for control"/>
            <p:cNvSpPr txBox="1"/>
            <p:nvPr/>
          </p:nvSpPr>
          <p:spPr>
            <a:xfrm>
              <a:off x="6492240" y="3438144"/>
              <a:ext cx="3383280" cy="384048"/>
            </a:xfrm>
            <a:prstGeom prst="rect">
              <a:avLst/>
            </a:prstGeom>
            <a:noFill/>
          </p:spPr>
          <p:txBody>
            <a:bodyPr wrap="none" lIns="36576" rIns="36576" tIns="18288" bIns="18288" anchor="t">
              <a:spAutoFit/>
            </a:bodyPr>
            <a:lstStyle/>
            <a:p>
              <a:pPr algn="ctr">
                <a:spcBef>
                  <a:spcPts val="0"/>
                </a:spcBef>
                <a:spcAft>
                  <a:spcPts val="0"/>
                </a:spcAft>
                <a:defRPr sz="1800" b="0">
                  <a:solidFill>
                    <a:srgbClr val="243341"/>
                  </a:solidFill>
                  <a:latin typeface="Calibri"/>
                </a:defRPr>
              </a:pPr>
              <a:r>
                <a:t>needed for control</a:t>
              </a:r>
            </a:p>
          </p:txBody>
        </p:sp>
        <p:sp>
          <p:nvSpPr>
            <p:cNvPr id="10" name="body:Both needed"/>
            <p:cNvSpPr txBox="1"/>
            <p:nvPr/>
          </p:nvSpPr>
          <p:spPr>
            <a:xfrm>
              <a:off x="5184648" y="4114800"/>
              <a:ext cx="1810512" cy="384048"/>
            </a:xfrm>
            <a:prstGeom prst="rect">
              <a:avLst/>
            </a:prstGeom>
            <a:noFill/>
          </p:spPr>
          <p:txBody>
            <a:bodyPr wrap="none" lIns="36576" rIns="36576" tIns="18288" bIns="18288" anchor="t">
              <a:spAutoFit/>
            </a:bodyPr>
            <a:lstStyle/>
            <a:p>
              <a:pPr algn="ctr">
                <a:spcBef>
                  <a:spcPts val="0"/>
                </a:spcBef>
                <a:spcAft>
                  <a:spcPts val="0"/>
                </a:spcAft>
                <a:defRPr sz="1800" b="1">
                  <a:solidFill>
                    <a:srgbClr val="243341"/>
                  </a:solidFill>
                  <a:latin typeface="Calibri"/>
                </a:defRPr>
              </a:pPr>
              <a:r>
                <a:t>Both needed</a:t>
              </a:r>
            </a:p>
          </p:txBody>
        </p:sp>
      </p:grpSp>
      <p:sp>
        <p:nvSpPr>
          <p:cNvPr id="12" name="body:No reviewed formulation established both conditions for a parallel task."/>
          <p:cNvSpPr txBox="1"/>
          <p:nvPr/>
        </p:nvSpPr>
        <p:spPr>
          <a:xfrm>
            <a:off x="777240" y="5669280"/>
            <a:ext cx="10652760" cy="384048"/>
          </a:xfrm>
          <a:prstGeom prst="rect">
            <a:avLst/>
          </a:prstGeom>
          <a:noFill/>
        </p:spPr>
        <p:txBody>
          <a:bodyPr wrap="none" lIns="36576" rIns="36576" tIns="18288" bIns="18288" anchor="t">
            <a:spAutoFit/>
          </a:bodyPr>
          <a:lstStyle/>
          <a:p>
            <a:pPr algn="l">
              <a:spcBef>
                <a:spcPts val="0"/>
              </a:spcBef>
              <a:spcAft>
                <a:spcPts val="0"/>
              </a:spcAft>
              <a:defRPr sz="1800" b="1">
                <a:solidFill>
                  <a:srgbClr val="243341"/>
                </a:solidFill>
                <a:latin typeface="Calibri"/>
              </a:defRPr>
            </a:pPr>
            <a:r>
              <a:t>No reviewed formulation established both conditions for a parallel task.</a:t>
            </a:r>
          </a:p>
        </p:txBody>
      </p:sp>
      <p:sp>
        <p:nvSpPr>
          <p:cNvPr id="13" name="body:This is a conclusion within the original scope; it does not reject freeway control."/>
          <p:cNvSpPr txBox="1"/>
          <p:nvPr/>
        </p:nvSpPr>
        <p:spPr>
          <a:xfrm>
            <a:off x="777240" y="6181344"/>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This is a conclusion within the original scope; it does not reject freeway control.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Aggregate alternatives already set a high bar"/>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Aggregate alternatives already set a high bar</a:t>
            </a:r>
          </a:p>
        </p:txBody>
      </p:sp>
      <p:sp>
        <p:nvSpPr>
          <p:cNvPr id="3" name="body:Aggregate control is a strong starting point."/>
          <p:cNvSpPr txBox="1"/>
          <p:nvPr/>
        </p:nvSpPr>
        <p:spPr>
          <a:xfrm>
            <a:off x="777240" y="1389888"/>
            <a:ext cx="10652760" cy="384048"/>
          </a:xfrm>
          <a:prstGeom prst="rect">
            <a:avLst/>
          </a:prstGeom>
          <a:noFill/>
        </p:spPr>
        <p:txBody>
          <a:bodyPr wrap="none" lIns="36576" rIns="36576" tIns="18288" bIns="18288" anchor="t">
            <a:spAutoFit/>
          </a:bodyPr>
          <a:lstStyle/>
          <a:p>
            <a:pPr algn="l">
              <a:spcBef>
                <a:spcPts val="0"/>
              </a:spcBef>
              <a:spcAft>
                <a:spcPts val="0"/>
              </a:spcAft>
              <a:defRPr sz="1800" b="1">
                <a:solidFill>
                  <a:srgbClr val="416F9B"/>
                </a:solidFill>
                <a:latin typeface="Calibri"/>
              </a:defRPr>
            </a:pPr>
            <a:r>
              <a:t>Aggregate control is a strong starting point.</a:t>
            </a:r>
          </a:p>
        </p:txBody>
      </p:sp>
      <p:sp>
        <p:nvSpPr>
          <p:cNvPr id="4" name="body:Feedback / optimal control: ALINEA and CTM-based ramp control."/>
          <p:cNvSpPr txBox="1"/>
          <p:nvPr/>
        </p:nvSpPr>
        <p:spPr>
          <a:xfrm>
            <a:off x="777240" y="1938528"/>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Feedback / optimal control: ALINEA and CTM-based ramp control.</a:t>
            </a:r>
          </a:p>
        </p:txBody>
      </p:sp>
      <p:sp>
        <p:nvSpPr>
          <p:cNvPr id="5" name="body:Efficient sensitivities: Reilly's adjoint; Gu's smoothed CTM."/>
          <p:cNvSpPr txBox="1"/>
          <p:nvPr/>
        </p:nvSpPr>
        <p:spPr>
          <a:xfrm>
            <a:off x="777240" y="2487168"/>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Efficient sensitivities: Reilly's adjoint; Gu's smoothed CTM.</a:t>
            </a:r>
          </a:p>
        </p:txBody>
      </p:sp>
      <p:sp>
        <p:nvSpPr>
          <p:cNvPr id="6" name="body:Multiclass adjoint: Goatin; freeway AD calibration: Poole."/>
          <p:cNvSpPr txBox="1"/>
          <p:nvPr/>
        </p:nvSpPr>
        <p:spPr>
          <a:xfrm>
            <a:off x="777240" y="3035808"/>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Multiclass adjoint: Goatin; freeway AD calibration: Poole.</a:t>
            </a:r>
          </a:p>
        </p:txBody>
      </p:sp>
      <p:sp>
        <p:nvSpPr>
          <p:cNvPr id="7" name="body:Mesoscopic value varies with retained information and behavior."/>
          <p:cNvSpPr txBox="1"/>
          <p:nvPr/>
        </p:nvSpPr>
        <p:spPr>
          <a:xfrm>
            <a:off x="777240" y="3895344"/>
            <a:ext cx="10652760" cy="384048"/>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Mesoscopic value varies with retained information and behavior.</a:t>
            </a:r>
          </a:p>
        </p:txBody>
      </p:sp>
      <p:sp>
        <p:nvSpPr>
          <p:cNvPr id="8" name="body:Routes, cohorts, classes, lanes, distributions and local interactions."/>
          <p:cNvSpPr txBox="1"/>
          <p:nvPr/>
        </p:nvSpPr>
        <p:spPr>
          <a:xfrm>
            <a:off x="777240" y="4443984"/>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Routes, cohorts, classes, lanes, distributions and local interactions.</a:t>
            </a:r>
          </a:p>
        </p:txBody>
      </p:sp>
      <p:sp>
        <p:nvSpPr>
          <p:cNvPr id="9" name="body:The reviewed evidence does not establish a need for exact queue order."/>
          <p:cNvSpPr txBox="1"/>
          <p:nvPr/>
        </p:nvSpPr>
        <p:spPr>
          <a:xfrm>
            <a:off x="777240" y="4992624"/>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The reviewed evidence does not establish a need for exact queue order.</a:t>
            </a:r>
          </a:p>
        </p:txBody>
      </p:sp>
      <p:sp>
        <p:nvSpPr>
          <p:cNvPr id="10" name="body:Differentiability alone does not establish useful control gradients."/>
          <p:cNvSpPr txBox="1"/>
          <p:nvPr/>
        </p:nvSpPr>
        <p:spPr>
          <a:xfrm>
            <a:off x="777240" y="5824728"/>
            <a:ext cx="10652760" cy="384048"/>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Differentiability alone does not establish useful control gradients.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The ordered-stream case tests transfer"/>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The ordered-stream case tests transfer</a:t>
            </a:r>
          </a:p>
        </p:txBody>
      </p:sp>
      <p:grpSp>
        <p:nvGrpSpPr>
          <p:cNvPr id="15" name="Metered stream, ordered route mass and remote exit restriction"/>
          <p:cNvGrpSpPr/>
          <p:nvPr/>
        </p:nvGrpSpPr>
        <p:grpSpPr>
          <a:xfrm>
            <a:off x="914400" y="1755648"/>
            <a:ext cx="10479024" cy="2615184"/>
            <a:chOff x="914400" y="1755648"/>
            <a:chExt cx="10479024" cy="2615184"/>
          </a:xfrm>
        </p:grpSpPr>
        <p:sp>
          <p:nvSpPr>
            <p:cNvPr id="3" name="Rectangle 2"/>
            <p:cNvSpPr/>
            <p:nvPr/>
          </p:nvSpPr>
          <p:spPr>
            <a:xfrm>
              <a:off x="914400" y="2331720"/>
              <a:ext cx="9464040" cy="603504"/>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flipV="1">
              <a:off x="1554480" y="2633472"/>
              <a:ext cx="1408176" cy="1188719"/>
            </a:xfrm>
            <a:prstGeom prst="line">
              <a:avLst/>
            </a:prstGeom>
            <a:ln w="63500">
              <a:solidFill>
                <a:srgbClr val="7D8791"/>
              </a:solidFill>
              <a:tailEnd type="triangle"/>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011680" y="3191256"/>
              <a:ext cx="137160" cy="475488"/>
            </a:xfrm>
            <a:prstGeom prst="rect">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8869680" y="2642616"/>
              <a:ext cx="1353312" cy="1152144"/>
            </a:xfrm>
            <a:prstGeom prst="line">
              <a:avLst/>
            </a:prstGeom>
            <a:ln w="50800">
              <a:solidFill>
                <a:srgbClr val="A87532"/>
              </a:solidFill>
              <a:tailEnd type="triangle"/>
            </a:ln>
          </p:spPr>
          <p:style>
            <a:lnRef idx="2">
              <a:schemeClr val="accent1"/>
            </a:lnRef>
            <a:fillRef idx="0">
              <a:schemeClr val="accent1"/>
            </a:fillRef>
            <a:effectRef idx="1">
              <a:schemeClr val="accent1"/>
            </a:effectRef>
            <a:fontRef idx="minor">
              <a:schemeClr val="tx1"/>
            </a:fontRef>
          </p:style>
        </p:cxnSp>
        <p:sp>
          <p:nvSpPr>
            <p:cNvPr id="7" name="Right Arrow 6"/>
            <p:cNvSpPr/>
            <p:nvPr/>
          </p:nvSpPr>
          <p:spPr>
            <a:xfrm>
              <a:off x="9902952" y="2532888"/>
              <a:ext cx="420624"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977639" y="2496312"/>
              <a:ext cx="347472" cy="256032"/>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80560" y="2496312"/>
              <a:ext cx="347472" cy="256032"/>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983480" y="2496312"/>
              <a:ext cx="347472" cy="256032"/>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0" y="2496312"/>
              <a:ext cx="347472" cy="256032"/>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ody:Upstream meter"/>
            <p:cNvSpPr txBox="1"/>
            <p:nvPr/>
          </p:nvSpPr>
          <p:spPr>
            <a:xfrm>
              <a:off x="932688" y="3986784"/>
              <a:ext cx="2212848" cy="384048"/>
            </a:xfrm>
            <a:prstGeom prst="rect">
              <a:avLst/>
            </a:prstGeom>
            <a:noFill/>
          </p:spPr>
          <p:txBody>
            <a:bodyPr wrap="none" lIns="36576" rIns="36576" tIns="18288" bIns="18288" anchor="t">
              <a:spAutoFit/>
            </a:bodyPr>
            <a:lstStyle/>
            <a:p>
              <a:pPr algn="ctr">
                <a:spcBef>
                  <a:spcPts val="0"/>
                </a:spcBef>
                <a:spcAft>
                  <a:spcPts val="0"/>
                </a:spcAft>
                <a:defRPr sz="1800" b="0">
                  <a:solidFill>
                    <a:srgbClr val="243341"/>
                  </a:solidFill>
                  <a:latin typeface="Calibri"/>
                </a:defRPr>
              </a:pPr>
              <a:r>
                <a:t>Upstream meter</a:t>
              </a:r>
            </a:p>
          </p:txBody>
        </p:sp>
        <p:sp>
          <p:nvSpPr>
            <p:cNvPr id="13" name="body:First-order propagation"/>
            <p:cNvSpPr txBox="1"/>
            <p:nvPr/>
          </p:nvSpPr>
          <p:spPr>
            <a:xfrm>
              <a:off x="4005072" y="1755648"/>
              <a:ext cx="3291840" cy="384048"/>
            </a:xfrm>
            <a:prstGeom prst="rect">
              <a:avLst/>
            </a:prstGeom>
            <a:noFill/>
          </p:spPr>
          <p:txBody>
            <a:bodyPr wrap="none" lIns="36576" rIns="36576" tIns="18288" bIns="18288" anchor="t">
              <a:spAutoFit/>
            </a:bodyPr>
            <a:lstStyle/>
            <a:p>
              <a:pPr algn="ctr">
                <a:spcBef>
                  <a:spcPts val="0"/>
                </a:spcBef>
                <a:spcAft>
                  <a:spcPts val="0"/>
                </a:spcAft>
                <a:defRPr sz="1800" b="0">
                  <a:solidFill>
                    <a:srgbClr val="243341"/>
                  </a:solidFill>
                  <a:latin typeface="Calibri"/>
                </a:defRPr>
              </a:pPr>
              <a:r>
                <a:t>First-order propagation</a:t>
              </a:r>
            </a:p>
          </p:txBody>
        </p:sp>
        <p:sp>
          <p:nvSpPr>
            <p:cNvPr id="14" name="body:Restricted exit"/>
            <p:cNvSpPr txBox="1"/>
            <p:nvPr/>
          </p:nvSpPr>
          <p:spPr>
            <a:xfrm>
              <a:off x="8650224" y="3986784"/>
              <a:ext cx="2743200" cy="384048"/>
            </a:xfrm>
            <a:prstGeom prst="rect">
              <a:avLst/>
            </a:prstGeom>
            <a:noFill/>
          </p:spPr>
          <p:txBody>
            <a:bodyPr wrap="none" lIns="36576" rIns="36576" tIns="18288" bIns="18288" anchor="t">
              <a:spAutoFit/>
            </a:bodyPr>
            <a:lstStyle/>
            <a:p>
              <a:pPr algn="ctr">
                <a:spcBef>
                  <a:spcPts val="0"/>
                </a:spcBef>
                <a:spcAft>
                  <a:spcPts val="0"/>
                </a:spcAft>
                <a:defRPr sz="1800" b="0">
                  <a:solidFill>
                    <a:srgbClr val="243341"/>
                  </a:solidFill>
                  <a:latin typeface="Calibri"/>
                </a:defRPr>
              </a:pPr>
              <a:r>
                <a:t>Restricted exit</a:t>
              </a:r>
            </a:p>
          </p:txBody>
        </p:sp>
      </p:grpSp>
      <p:sp>
        <p:nvSpPr>
          <p:cNvPr id="16" name="body:Route-labelled order reaches a downstream service restriction."/>
          <p:cNvSpPr txBox="1"/>
          <p:nvPr/>
        </p:nvSpPr>
        <p:spPr>
          <a:xfrm>
            <a:off x="777240" y="4681728"/>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Route-labelled order reaches a downstream service restriction.</a:t>
            </a:r>
          </a:p>
        </p:txBody>
      </p:sp>
      <p:sp>
        <p:nvSpPr>
          <p:cNvPr id="17" name="body:Non-overlapping inputs avoid an unresolved merge chronology."/>
          <p:cNvSpPr txBox="1"/>
          <p:nvPr/>
        </p:nvSpPr>
        <p:spPr>
          <a:xfrm>
            <a:off x="777240" y="5093208"/>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Non-overlapping inputs avoid an unresolved merge chronology.</a:t>
            </a:r>
          </a:p>
        </p:txBody>
      </p:sp>
      <p:sp>
        <p:nvSpPr>
          <p:cNvPr id="18" name="body:The decisive ordered-access mechanism is shared with the signal task."/>
          <p:cNvSpPr txBox="1"/>
          <p:nvPr/>
        </p:nvSpPr>
        <p:spPr>
          <a:xfrm>
            <a:off x="777240" y="5504688"/>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The decisive ordered-access mechanism is shared with the signal task.</a:t>
            </a:r>
          </a:p>
        </p:txBody>
      </p:sp>
      <p:sp>
        <p:nvSpPr>
          <p:cNvPr id="19" name="body:Useful as an optional transfer test; not an independent second hypothesis."/>
          <p:cNvSpPr txBox="1"/>
          <p:nvPr/>
        </p:nvSpPr>
        <p:spPr>
          <a:xfrm>
            <a:off x="777240" y="5916168"/>
            <a:ext cx="10652760" cy="384048"/>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Useful as an optional transfer test; not an independent second hypothesis.</a:t>
            </a:r>
          </a:p>
        </p:txBody>
      </p:sp>
      <p:sp>
        <p:nvSpPr>
          <p:cNvPr id="20" name="body:Ordinary overlapping or multilane traffic needs additional modeling."/>
          <p:cNvSpPr txBox="1"/>
          <p:nvPr/>
        </p:nvSpPr>
        <p:spPr>
          <a:xfrm>
            <a:off x="777240" y="6327648"/>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Ordinary overlapping or multilane traffic needs additional modeling.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A scope rejection is not a task rejection"/>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A scope rejection is not a task rejection</a:t>
            </a:r>
          </a:p>
        </p:txBody>
      </p:sp>
      <p:sp>
        <p:nvSpPr>
          <p:cNvPr id="3" name="body:The earlier rejection answered a question bounded by model compatibility."/>
          <p:cNvSpPr txBox="1"/>
          <p:nvPr/>
        </p:nvSpPr>
        <p:spPr>
          <a:xfrm>
            <a:off x="777240" y="1307592"/>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The earlier rejection answered a question bounded by model compatibility.</a:t>
            </a:r>
          </a:p>
        </p:txBody>
      </p:sp>
      <p:grpSp>
        <p:nvGrpSpPr>
          <p:cNvPr id="20" name="Old compatibility hierarchy and corrected task-first hierarchy"/>
          <p:cNvGrpSpPr/>
          <p:nvPr/>
        </p:nvGrpSpPr>
        <p:grpSpPr>
          <a:xfrm>
            <a:off x="914400" y="2039112"/>
            <a:ext cx="10332720" cy="2889504"/>
            <a:chOff x="914400" y="2039112"/>
            <a:chExt cx="10332720" cy="2889504"/>
          </a:xfrm>
        </p:grpSpPr>
        <p:sp>
          <p:nvSpPr>
            <p:cNvPr id="4" name="Rectangle 3"/>
            <p:cNvSpPr/>
            <p:nvPr/>
          </p:nvSpPr>
          <p:spPr>
            <a:xfrm>
              <a:off x="914400" y="2039112"/>
              <a:ext cx="3017520" cy="868680"/>
            </a:xfrm>
            <a:prstGeom prst="rect">
              <a:avLst/>
            </a:prstGeom>
            <a:solidFill>
              <a:srgbClr val="F1F4F6"/>
            </a:solidFill>
            <a:ln w="1524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ody:Fixed model"/>
            <p:cNvSpPr txBox="1"/>
            <p:nvPr/>
          </p:nvSpPr>
          <p:spPr>
            <a:xfrm>
              <a:off x="960120" y="2176272"/>
              <a:ext cx="2926079"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Fixed model</a:t>
              </a:r>
            </a:p>
          </p:txBody>
        </p:sp>
        <p:sp>
          <p:nvSpPr>
            <p:cNvPr id="6" name="Rectangle 5"/>
            <p:cNvSpPr/>
            <p:nvPr/>
          </p:nvSpPr>
          <p:spPr>
            <a:xfrm>
              <a:off x="4572000" y="2039112"/>
              <a:ext cx="3017520" cy="868680"/>
            </a:xfrm>
            <a:prstGeom prst="rect">
              <a:avLst/>
            </a:prstGeom>
            <a:solidFill>
              <a:srgbClr val="F1F4F6"/>
            </a:solidFill>
            <a:ln w="1524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ody:Compatible task"/>
            <p:cNvSpPr txBox="1"/>
            <p:nvPr/>
          </p:nvSpPr>
          <p:spPr>
            <a:xfrm>
              <a:off x="4617720" y="2176272"/>
              <a:ext cx="2926079"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Compatible task</a:t>
              </a:r>
            </a:p>
          </p:txBody>
        </p:sp>
        <p:sp>
          <p:nvSpPr>
            <p:cNvPr id="8" name="Rectangle 7"/>
            <p:cNvSpPr/>
            <p:nvPr/>
          </p:nvSpPr>
          <p:spPr>
            <a:xfrm>
              <a:off x="8229600" y="2039112"/>
              <a:ext cx="3017520" cy="868680"/>
            </a:xfrm>
            <a:prstGeom prst="rect">
              <a:avLst/>
            </a:prstGeom>
            <a:solidFill>
              <a:srgbClr val="F1F4F6"/>
            </a:solidFill>
            <a:ln w="1524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ody:Value within scope"/>
            <p:cNvSpPr txBox="1"/>
            <p:nvPr/>
          </p:nvSpPr>
          <p:spPr>
            <a:xfrm>
              <a:off x="8275320" y="2176272"/>
              <a:ext cx="2926079"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Value within scope</a:t>
              </a:r>
            </a:p>
          </p:txBody>
        </p:sp>
        <p:sp>
          <p:nvSpPr>
            <p:cNvPr id="10" name="Right Arrow 9"/>
            <p:cNvSpPr/>
            <p:nvPr/>
          </p:nvSpPr>
          <p:spPr>
            <a:xfrm>
              <a:off x="4069080" y="2368296"/>
              <a:ext cx="420624"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7726679" y="2368296"/>
              <a:ext cx="420624"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400" y="4059936"/>
              <a:ext cx="3017520" cy="868680"/>
            </a:xfrm>
            <a:prstGeom prst="rect">
              <a:avLst/>
            </a:prstGeom>
            <a:solidFill>
              <a:srgbClr val="EDF5F6"/>
            </a:solid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ody:Operational task"/>
            <p:cNvSpPr txBox="1"/>
            <p:nvPr/>
          </p:nvSpPr>
          <p:spPr>
            <a:xfrm>
              <a:off x="960120" y="4197096"/>
              <a:ext cx="2926079"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Operational task</a:t>
              </a:r>
            </a:p>
          </p:txBody>
        </p:sp>
        <p:sp>
          <p:nvSpPr>
            <p:cNvPr id="14" name="Rectangle 13"/>
            <p:cNvSpPr/>
            <p:nvPr/>
          </p:nvSpPr>
          <p:spPr>
            <a:xfrm>
              <a:off x="4572000" y="4059936"/>
              <a:ext cx="3017520" cy="868680"/>
            </a:xfrm>
            <a:prstGeom prst="rect">
              <a:avLst/>
            </a:prstGeom>
            <a:solidFill>
              <a:srgbClr val="EDF5F6"/>
            </a:solid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ody:Strong baseline"/>
            <p:cNvSpPr txBox="1"/>
            <p:nvPr/>
          </p:nvSpPr>
          <p:spPr>
            <a:xfrm>
              <a:off x="4617720" y="4197096"/>
              <a:ext cx="2926079"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Strong baseline</a:t>
              </a:r>
            </a:p>
          </p:txBody>
        </p:sp>
        <p:sp>
          <p:nvSpPr>
            <p:cNvPr id="16" name="Rectangle 15"/>
            <p:cNvSpPr/>
            <p:nvPr/>
          </p:nvSpPr>
          <p:spPr>
            <a:xfrm>
              <a:off x="8229600" y="4059936"/>
              <a:ext cx="3017520" cy="868680"/>
            </a:xfrm>
            <a:prstGeom prst="rect">
              <a:avLst/>
            </a:prstGeom>
            <a:solidFill>
              <a:srgbClr val="EDF5F6"/>
            </a:solidFill>
            <a:ln w="1524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ody:Minimum state"/>
            <p:cNvSpPr txBox="1"/>
            <p:nvPr/>
          </p:nvSpPr>
          <p:spPr>
            <a:xfrm>
              <a:off x="8275320" y="4197096"/>
              <a:ext cx="2926079" cy="594359"/>
            </a:xfrm>
            <a:prstGeom prst="rect">
              <a:avLst/>
            </a:prstGeom>
            <a:noFill/>
          </p:spPr>
          <p:txBody>
            <a:bodyPr wrap="none" lIns="36576" rIns="36576" tIns="18288" bIns="18288" anchor="ctr">
              <a:spAutoFit/>
            </a:bodyPr>
            <a:lstStyle/>
            <a:p>
              <a:pPr algn="ctr">
                <a:spcBef>
                  <a:spcPts val="0"/>
                </a:spcBef>
                <a:spcAft>
                  <a:spcPts val="0"/>
                </a:spcAft>
                <a:defRPr sz="1800" b="1">
                  <a:solidFill>
                    <a:srgbClr val="243341"/>
                  </a:solidFill>
                  <a:latin typeface="Calibri"/>
                </a:defRPr>
              </a:pPr>
              <a:r>
                <a:t>Minimum state</a:t>
              </a:r>
            </a:p>
          </p:txBody>
        </p:sp>
        <p:sp>
          <p:nvSpPr>
            <p:cNvPr id="18" name="Right Arrow 17"/>
            <p:cNvSpPr/>
            <p:nvPr/>
          </p:nvSpPr>
          <p:spPr>
            <a:xfrm>
              <a:off x="4069080" y="4389120"/>
              <a:ext cx="420624"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Arrow 18"/>
            <p:cNvSpPr/>
            <p:nvPr/>
          </p:nvSpPr>
          <p:spPr>
            <a:xfrm>
              <a:off x="7726679" y="4389120"/>
              <a:ext cx="420624"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1" name="body:Shared resolution question; separate models and papers remain admissible."/>
          <p:cNvSpPr txBox="1"/>
          <p:nvPr/>
        </p:nvSpPr>
        <p:spPr>
          <a:xfrm>
            <a:off x="777240" y="5751576"/>
            <a:ext cx="10652760" cy="384048"/>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Shared resolution question; separate models and papers remain admissible.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Lane reduction anchors the new question"/>
          <p:cNvSpPr txBox="1"/>
          <p:nvPr/>
        </p:nvSpPr>
        <p:spPr>
          <a:xfrm>
            <a:off x="594360" y="365760"/>
            <a:ext cx="10972800" cy="621792"/>
          </a:xfrm>
          <a:prstGeom prst="rect">
            <a:avLst/>
          </a:prstGeom>
          <a:noFill/>
        </p:spPr>
        <p:txBody>
          <a:bodyPr wrap="none" lIns="36576" rIns="36576" tIns="18288" bIns="18288" anchor="t">
            <a:spAutoFit/>
          </a:bodyPr>
          <a:lstStyle/>
          <a:p>
            <a:pPr algn="l">
              <a:spcBef>
                <a:spcPts val="0"/>
              </a:spcBef>
              <a:spcAft>
                <a:spcPts val="0"/>
              </a:spcAft>
              <a:defRPr sz="3200" b="1">
                <a:solidFill>
                  <a:srgbClr val="243341"/>
                </a:solidFill>
                <a:latin typeface="Calibri"/>
              </a:defRPr>
            </a:pPr>
            <a:r>
              <a:t>Lane reduction anchors the new question</a:t>
            </a:r>
          </a:p>
        </p:txBody>
      </p:sp>
      <p:grpSp>
        <p:nvGrpSpPr>
          <p:cNvPr id="10" name="Conceptual exogenous lane reduction"/>
          <p:cNvGrpSpPr/>
          <p:nvPr/>
        </p:nvGrpSpPr>
        <p:grpSpPr>
          <a:xfrm>
            <a:off x="914400" y="1490472"/>
            <a:ext cx="10287000" cy="1243584"/>
            <a:chOff x="914400" y="1490472"/>
            <a:chExt cx="10287000" cy="1243584"/>
          </a:xfrm>
        </p:grpSpPr>
        <p:sp>
          <p:nvSpPr>
            <p:cNvPr id="3" name="Rectangle 2"/>
            <p:cNvSpPr/>
            <p:nvPr/>
          </p:nvSpPr>
          <p:spPr>
            <a:xfrm>
              <a:off x="914400" y="1490472"/>
              <a:ext cx="10287000" cy="310896"/>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ight Arrow 3"/>
            <p:cNvSpPr/>
            <p:nvPr/>
          </p:nvSpPr>
          <p:spPr>
            <a:xfrm>
              <a:off x="10469880" y="1545336"/>
              <a:ext cx="420624"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956816"/>
              <a:ext cx="10287000" cy="310896"/>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ight Arrow 5"/>
            <p:cNvSpPr/>
            <p:nvPr/>
          </p:nvSpPr>
          <p:spPr>
            <a:xfrm>
              <a:off x="10469880" y="2011680"/>
              <a:ext cx="420624"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2423160"/>
              <a:ext cx="6400800" cy="310896"/>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flipV="1">
              <a:off x="7315200" y="2112264"/>
              <a:ext cx="1170432" cy="466344"/>
            </a:xfrm>
            <a:prstGeom prst="line">
              <a:avLst/>
            </a:prstGeom>
            <a:ln w="25400">
              <a:solidFill>
                <a:srgbClr val="7D8791"/>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7662672" y="2478024"/>
              <a:ext cx="457200" cy="219456"/>
            </a:xfrm>
            <a:prstGeom prst="rect">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1" name="body:Anchor: an exogenous freeway lane-capacity reduction."/>
          <p:cNvSpPr txBox="1"/>
          <p:nvPr/>
        </p:nvSpPr>
        <p:spPr>
          <a:xfrm>
            <a:off x="777240" y="3063240"/>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Anchor: an exogenous freeway lane-capacity reduction.</a:t>
            </a:r>
          </a:p>
        </p:txBody>
      </p:sp>
      <p:sp>
        <p:nvSpPr>
          <p:cNvPr id="12" name="body:Primary choices: speed/advisory control or coordinated ramp metering."/>
          <p:cNvSpPr txBox="1"/>
          <p:nvPr/>
        </p:nvSpPr>
        <p:spPr>
          <a:xfrm>
            <a:off x="777240" y="3474720"/>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Primary choices: speed/advisory control or coordinated ramp metering.</a:t>
            </a:r>
          </a:p>
        </p:txBody>
      </p:sp>
      <p:sp>
        <p:nvSpPr>
          <p:cNvPr id="13" name="body:Temporary closure: include post-reopening queue recovery."/>
          <p:cNvSpPr txBox="1"/>
          <p:nvPr/>
        </p:nvSpPr>
        <p:spPr>
          <a:xfrm>
            <a:off x="777240" y="3886200"/>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Temporary closure: include post-reopening queue recovery.</a:t>
            </a:r>
          </a:p>
        </p:txBody>
      </p:sp>
      <p:sp>
        <p:nvSpPr>
          <p:cNvPr id="14" name="body:Joint control and cooperative merging are expansion candidates."/>
          <p:cNvSpPr txBox="1"/>
          <p:nvPr/>
        </p:nvSpPr>
        <p:spPr>
          <a:xfrm>
            <a:off x="777240" y="4297680"/>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Joint control and cooperative merging are expansion candidates.</a:t>
            </a:r>
          </a:p>
        </p:txBody>
      </p:sp>
      <p:sp>
        <p:nvSpPr>
          <p:cNvPr id="15" name="body:Test strong lower-resolution models before adding traffic state."/>
          <p:cNvSpPr txBox="1"/>
          <p:nvPr/>
        </p:nvSpPr>
        <p:spPr>
          <a:xfrm>
            <a:off x="777240" y="4709160"/>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Test strong lower-resolution models before adding traffic state.</a:t>
            </a:r>
          </a:p>
        </p:txBody>
      </p:sp>
      <p:sp>
        <p:nvSpPr>
          <p:cNvPr id="16" name="body:Check derivatives; test action rankings in a richer evaluator."/>
          <p:cNvSpPr txBox="1"/>
          <p:nvPr/>
        </p:nvSpPr>
        <p:spPr>
          <a:xfrm>
            <a:off x="777240" y="5120640"/>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Check derivatives; test action rankings in a richer evaluator.</a:t>
            </a:r>
          </a:p>
        </p:txBody>
      </p:sp>
      <p:sp>
        <p:nvSpPr>
          <p:cNvPr id="17" name="body:Macro, richer-model and infeasible outcomes remain admissible."/>
          <p:cNvSpPr txBox="1"/>
          <p:nvPr/>
        </p:nvSpPr>
        <p:spPr>
          <a:xfrm>
            <a:off x="777240" y="5532120"/>
            <a:ext cx="10652760" cy="384048"/>
          </a:xfrm>
          <a:prstGeom prst="rect">
            <a:avLst/>
          </a:prstGeom>
          <a:noFill/>
        </p:spPr>
        <p:txBody>
          <a:bodyPr wrap="none" lIns="36576" rIns="36576" tIns="18288" bIns="18288" anchor="t">
            <a:spAutoFit/>
          </a:bodyPr>
          <a:lstStyle/>
          <a:p>
            <a:pPr algn="l">
              <a:spcBef>
                <a:spcPts val="0"/>
              </a:spcBef>
              <a:spcAft>
                <a:spcPts val="0"/>
              </a:spcAft>
              <a:defRPr sz="1800" b="0">
                <a:solidFill>
                  <a:srgbClr val="243341"/>
                </a:solidFill>
                <a:latin typeface="Calibri"/>
              </a:defRPr>
            </a:pPr>
            <a:r>
              <a:t>Macro, richer-model and infeasible outcomes remain admissible.</a:t>
            </a:r>
          </a:p>
        </p:txBody>
      </p:sp>
      <p:sp>
        <p:nvSpPr>
          <p:cNvPr id="18" name="body:The control task and minimum resolution remain unselected."/>
          <p:cNvSpPr txBox="1"/>
          <p:nvPr/>
        </p:nvSpPr>
        <p:spPr>
          <a:xfrm>
            <a:off x="777240" y="5989320"/>
            <a:ext cx="10652760" cy="384048"/>
          </a:xfrm>
          <a:prstGeom prst="rect">
            <a:avLst/>
          </a:prstGeom>
          <a:noFill/>
        </p:spPr>
        <p:txBody>
          <a:bodyPr wrap="none" lIns="36576" rIns="36576" tIns="18288" bIns="18288" anchor="t">
            <a:spAutoFit/>
          </a:bodyPr>
          <a:lstStyle/>
          <a:p>
            <a:pPr algn="l">
              <a:spcBef>
                <a:spcPts val="0"/>
              </a:spcBef>
              <a:spcAft>
                <a:spcPts val="0"/>
              </a:spcAft>
              <a:defRPr sz="1800" b="1">
                <a:solidFill>
                  <a:srgbClr val="267D86"/>
                </a:solidFill>
                <a:latin typeface="Calibri"/>
              </a:defRPr>
            </a:pPr>
            <a:r>
              <a:t>The control task and minimum resolution remain unselected.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model compatibility to task-first freeway research</dc:title>
  <dc:subject>Methodology and findings through the 16 September 2026 handover</dc:subject>
  <dc:creator>Research review</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
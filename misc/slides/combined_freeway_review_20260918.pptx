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Combined title slide. This presentation starts with the original compatibility-framed ramp-metering feasibility review and continues through the later independent task-first freeway review and its information/decision-value findings. The scientific endpoint is the continuation deck's 18 September 2026 synthesis, not the earlier pre-review handover. The original bounded conclusion is retained, while later conclusions remain conditional and open where the source deck says so. This merge changes communication only: no new experiment, implementation, scientific claim or review-gate decision is introduced.</a:t>
            </a:r>
          </a:p>
          <a:p>
            <a:r>
              <a:t>Inputs: freeway_review_to_task_first_handoff_20260918.pptx and freeway_bottleneck_review_20260918.pptx. See companion notes for exact slide mapping and source checksums.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Combined contents. Two boilerplate and nine substantive slides. Slides 3-5 preserve the historical evidence and restricted transfer-case findings. Slide 6 merges the historical scope correction with the continuation's task-first working line; slide 7 supplies the narrowed speed-advice task in place of the earlier provisional candidate inventory. Slides 8-11 continue with close-predecessor evidence, the matched-history decision test, conditional analytical deductions and the unresolved reachable information-value contrast. All visible content concerns methodology and findings. Historical pre-review choices are not presented as the current unresolved task selection; later conditional deductions are not presented as empirical traffic results or universal sufficiency theorems.</a:t>
            </a:r>
          </a:p>
          <a:p>
            <a:r>
              <a:t>Detailed original sources and their limitations remain in the preserved slide notes and source presentations' companion records.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review asked whether ramp metering could become an orthogonal parallel task within an already established architecture. It did not forbid negative or macro-sufficiency results, but strict compatibility was an initial admissibility condition. The two circles are conceptual sets, not quantitative findings: one is tasks compatible with the current continuous-mass first-order architecture, the other tasks independently diagnostic of selected mesoscopic information. The overlap is the desired role, not an established candidate.</a:t>
            </a:r>
          </a:p>
          <a:p>
            <a:r>
              <a:t>Fixed architecture in that review: aggregate first-order propagation, continuous traffic mass, fixed structural routes/topology, and localized ordered metadata. Compatibility alone was insufficient; scientific diagnosticity and practical evidence feasibility were separate judgments. The original evidence audit did not support promotion of any reviewed formulation meeting both conditions. No universal nonexistence claim follows.</a:t>
            </a:r>
          </a:p>
          <a:p>
            <a:r>
              <a:t>Sources: ../selective_discreteness_ramp_metering_review/review_protocol_plan.md, sections 1, 2 and 6; reporting/colleague_brief/ramp_metering_parallel_task_assessment.tex, sections 1 and 6; reporting/closure_record.md.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combines the earlier evidence mapping and debate into the scientific finding, rather than reporting their procedural sequence. ALINEA and CTM-based optimal/distributed control establish strong controller and lower-resolution alternatives. Reilly et al. (2015), RM0024, provide direct coordinated I-15 ramp-metering gradients via a manually derived discrete adjoint. Gu et al. (2022), RM0026, supply abstract/metadata-level evidence for smoothed CTM ramp-metering MPC; no detailed equation claim is made. Goatin et al. (2026), RM0025, provide full-text multiclass network adjoint evidence, not a completed version of the proposed ordered-stream task. Poole and Kotsialos (2016), RM0030, concern freeway METANET calibration, not ramp-control performance. These derivative constructions have different forward/backward contracts and are not interchangeable.</a:t>
            </a:r>
          </a:p>
          <a:p>
            <a:r>
              <a:t>The closed ramp review found mesoscopic work emphasizing routes/DTA, event progression, stochastic realization and scale, with some lane refinement. The pre-review terminology scan also identified packet/cohort, class/lane, distributional and hybrid local-interaction families. This is semantic orientation, not a fidelity ladder or proof of minimum resolution. Exact local FIFO rank was not established as necessary by the reviewed ramp corpus; absence in this bounded corpus is not universal absence.</a:t>
            </a:r>
          </a:p>
          <a:p>
            <a:r>
              <a:t>Sources: ../selective_discreteness_ramp_metering_review/synthesis/feedback20_evidence_debate.md, sections 1-3 and 5; archive/metadata/feedback20_sources.md; ../differentiable_freeway_bottleneck_task_pre_review/freeway_mesoscopic_meaning_quick_scan.md, sections 1-3 and 6.</a:t>
            </a:r>
          </a:p>
          <a:p>
            <a:r>
              <a:t>Primary anchors in existing records: https://doi.org/10.1007/s10957-015-0749-1 ; https://doi.org/10.1109/TITS.2021.3123815 ; https://doi.org/10.1007/s11081-026-10122-4 ; https://doi.org/10.1016/j.trc.2016.07.008 . No new literature search was performed for this deck.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diagram, not simulated data. A metered upstream stream enters a first-order link, route-labelled order propagates downstream, and a downstream exit restriction creates order-sensitive service. Blue packet rectangles denote exit-bound mass and teal rectangles continuing mass; rectangle counts and lengths carry no quantitative meaning. The amber branch denotes constrained exit service. This case was coherent only with non-overlapping merge-input eligibility intervals and a restricted point geometry, avoiding an unsupported unique chronology of simultaneous continuous arrivals.</a:t>
            </a:r>
          </a:p>
          <a:p>
            <a:r>
              <a:t>The scientific finding was partial causal-chain novelty, but no orthogonal representation hypothesis: the decisive mechanism is the same route-labelled ordered access tested by the signal-control application. It could remain an optional propagation/transfer or ablation fixture; it was neither a selected parallel task nor an implementation obligation. More realistic overlapping and multilane cases would require additional chronology/lateral behavior. A simple aggregate ramp case could also remain an optional correctness fixture.</a:t>
            </a:r>
          </a:p>
          <a:p>
            <a:r>
              <a:t>Sources: ../selective_discreteness_ramp_metering_review/review_protocol_plan.md, opening closure summary; synthesis/feedback20_evidence_debate.md, section 4; reporting/colleague_brief/ramp_metering_parallel_task_assessment.tex, sections 4-5; reporting/closure_record.md, Final disposition.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move from a model-first development sequence to task-anchored methodological design. Starting question: what traffic resolution is necessary for credible, useful control gradients? The current urban simulator is not a fixed constraint on the independent freeway branch. The top sequence presents the risks of choosing detail before evidence; it does not claim earlier implementation was invalid. The bottom sequence states the conditional working line: task and strong baseline, hidden-state decision value, then justified state refinement and separate gradient tests.</a:t>
            </a:r>
          </a:p>
          <a:p>
            <a:r>
              <a:t>Sources: ../differentiable_freeway_bottleneck_task_pre_review/pre_review_closure_and_handoff.md, sections3 P1-P7; ../differentiable_freeway_bottleneck_task_review/01_review_recap_through_s06.md, section1.</a:t>
            </a:r>
          </a:p>
          <a:p/>
          <a:p>
            <a:r>
              <a:t>Working-line amendment: the lower sequence replaces the earlier construction diagram. The control task defines the comparison; the strongest aggregate alternative determines what must be hidden; a useful decision difference, not richer forward behavior alone, conditionally justifies added state. Refinement and gradient tests are later obligations, not approved construction. Next slide fixes the task, objective and baseline.</a:t>
            </a:r>
          </a:p>
          <a:p>
            <a:r>
              <a:t>Merged transition amendment: the gray sequence now names the actual compatibility-framed question in the preceding historical slides, rather than repeating a generic choose-model/implement/find-task sequence. Its bounded negative result remains valid within that scope. The teal sequence establishes the independent task-first evaluation: strongest task baseline, decision value of hidden state, then conditional state refinement and separate gradient checks. The urban and freeway branches share the resolution question and evidence logic; they need not share a model, codebase or paper. Compatibility and reuse remain later secondary audits. This replaces the old historical slides 6 and 7's transition/provisional-task endpoint with a coherent lead-in to the subsequent narrowed common-speed-advice task.</a:t>
            </a:r>
          </a:p>
          <a:p>
            <a:r>
              <a:t>Additional provenance: ../differentiable_freeway_bottleneck_task_pre_review/feedback22_email_trace_response.md, opening clarification and sections 6.1/6.7; pre_review_closure_and_handoff.md, P1-P8; ../../temp_content/feedback/email_trace_20260916.md, messages 2 and 4.</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operational anchor is an exogenous freeway lane reduction. Initial prospective reference: homogeneous permanent three-to-two narrowing. One infrastructure speed recommendation is shared by all lanes in the advice zone and changes desired free speed; actual motion remains endogenous. No direct vehicle trajectories, forced lane changing or differentiated lane actions. Source mass and waiting must not disappear at the observation boundary. Temporary closure conclusions additionally need reopening and recovery accounting.</a:t>
            </a:r>
          </a:p>
          <a:p>
            <a:r>
              <a:t>Sources: review recap section1; reporting/s01_30_n1_user_gate.md; reporting/s02_35_feedback23_task_and_minimum_information_response.md, section2. Diagram is conceptual, not a simulated road trajectory.</a:t>
            </a:r>
          </a:p>
          <a:p/>
          <a:p>
            <a:r>
              <a:t>Logical hand-off: common actions and full waiting accounting make the control comparison meaningful. Before attributing value to lane information, review the strongest aggregate response/history alternative; a weak baseline would confound the root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Combines task framing and predecessor/contrast reviews. Strong aggregate response/history is already credible: Frejo2019 calibrates mean response, Wei2025 retains entry-speed history. Lane transfer models establish plausible behavior, not minimum-information necessity. Seliman2020 macro/micro reoptimization changes objectives, search effort and sometimes actions; Chen2025 lane CTM/MPC compares VSL/no-VSL, not state-only usefulness under the same shared advice. Fixed classes and individual order remain conditional. No first-of-kind or global absence claim.</a:t>
            </a:r>
          </a:p>
          <a:p>
            <a:r>
              <a:t>Sources: reporting/s02_20_n2_findings_and_gate.md sections3-5; reporting/s02_36_feedback23_amendment_novelty_and_component_necessity.md; reporting/s03_20_rb_findings_and_gate.md. Primary anchors: https://doi.org/10.1016/j.trc.2019.01.001 ; https://doi.org/10.1111/mice.13492 ; https://doi.org/10.1061/JTEPBS.0000395 ; https://doi.org/10.1016/j.physa.2025.130876 .</a:t>
            </a:r>
          </a:p>
          <a:p/>
          <a:p>
            <a:r>
              <a:t>Logical hand-off: because aggregate response/history already explains important behavior, and richer-control comparisons can change actions or objectives, the next step isolates information value. Equal totals alone are inadequate: the declared retained history must match, with the same advice menu and cost definition. Classes, lanes and order remain conditional rather than assumed necessities.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contrast, not a reachable matched-history result. Both totals are30 vehicle-equivalents; ending/continuing group totals are15/15 versus5/25. Continuing lanes are combined for illustration, so this is not a sufficient-state claim. Matching totals alone is weak: the exact-information claim requires equality of the declared strong spatial observation/history channel. Hidden past lane-entry allocations are different unknown past forcing. A particular observer's failure is a distinct model-quality claim. Distinct best actions or a pairwise ranking reversal is insufficient if another common acceptable action exists. Finite-menu evidence does not establish continuous-space or feedback-policy necessity.</a:t>
            </a:r>
          </a:p>
          <a:p>
            <a:r>
              <a:t>Sources: reporting/s04_20_rb_diagnostic_methodology_findings_and_gate.md and recap sections1/S04; current review's lane-contrast explanation. No plot data were measured or simulated.</a:t>
            </a:r>
          </a:p>
          <a:p/>
          <a:p>
            <a:r>
              <a:t>Logical hand-off: the matched-history contract states what would count as lost information, but does not establish that such information changes useful advice. The next analytical step must jointly supply hidden contrast and decision relevance, including the possibility of a common acceptable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original deductions: conservative transfers cancel from aggregate mass in a homogeneous free-flow branch, allowing an early hidden lane contrast without certifying native near-drop preparations. In the separate work-conserving fixed-service subcase, advice-independent service and fastest-arrival dominance make highest advice a common best action, with source/approach waiting counted. This is not universal no-benefit from speed advice. Need endogenous service/receiving/propagation or failure of arrival dominance plus hidden-state dependence and benefit exceeding slowing delay. Native coupling is mechanism evidence only, not a proof that advice is beneficial. A missing held-highest-advice stress probe can leave a common better action outside a pulse menu.</a:t>
            </a:r>
          </a:p>
          <a:p>
            <a:r>
              <a:t>Sources: reporting/s05_20_rb_certificate_findings_and_gate.md; synthesis/rb_certificate_analysis.pdf; reporting/s06_20_reference_bridge_findings_and_gate.md. Native model: Jakob Erdmann2015, https://elib.dlr.de/102254/1/Springer-SUMOs_Lane_changing_model.pdf . No borrowed discrete resets, random mass shifts, smoothing or invented penalty is approved.</a:t>
            </a:r>
          </a:p>
          <a:p/>
          <a:p>
            <a:r>
              <a:t>Logical hand-off: the hidden-state construction and fixed-service obstruction are separate conditional deductions, not a combined native certificate. They explain why the subsequent reference-first review inspects endogenous merge interactions rather than inserting an arbitrary penalty. A credible mechanism must still be instantiated in reachable preparations with matched declared history and no common acceptable advice.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synthesis: no complete positive or negative conclusion for the joint information-to-useful-advice claim. Advisory aggregate-feedback benefits (FB0005) and occupancy-conditioned lane fractions (FB0039) strengthen the aggregate alternative, without proving sufficiency. Native gap/speed/cooperation and field redistribution are precedents, not minimum-state or useful-gradient evidence. Strong regulatory low-speed lane-drop outcomes (Zhang2023) do not transfer automatically to moderate voluntary advice. Preparation must be reachable and survive native anticipation; later interaction may expose the difference in mean-speed/history. The proposed40/60s times cannot reach the final400m under intended road-start/speed bounds;80s remains sparse under conditional entry defaults. No server/simulation result was used. Diagram shows the semantic tension between earlier hidden information and near-merge consequences, not an approved scenario change.</a:t>
            </a:r>
          </a:p>
          <a:p>
            <a:r>
              <a:t>Sources: reporting/s06_20_reference_bridge_findings_and_gate.md; extraction/s06_reference_mechanism_source_audit.md; recap section3. New primary lane-drop manuscript: https://ira.lib.polyu.edu.hk/bitstream/10397/92568/1/Zhang_Optimization_Speed_Freeway.pdf . Future minimal-refinement, forward, internal gradient and independent usefulness obligations remain separate. Review/communication does not authorize construction or experiments.</a:t>
            </a:r>
          </a:p>
          <a:p/>
          <a:p>
            <a:r>
              <a:t>Logical synthesis: source-supported mechanisms do not close the joint witness. The remaining review step concerns reachable contrast preparation under the full retained-history contract. Only a demonstrated decision-value witness can motivate the smallest conservative refinement; forward fidelity, gradient correctness and independent control usefulness then require distinct evidence. Failure to find a witness is not a global sufficiency theorem. Current review gate remains open; this deck amendment approves neither a preparation change nor any experiment.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raffic resolution for useful freeway control"/>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Traffic resolution for useful freeway control</a:t>
            </a:r>
          </a:p>
        </p:txBody>
      </p:sp>
      <p:sp>
        <p:nvSpPr>
          <p:cNvPr id="3" name="body:From model compatibility to task-first information value"/>
          <p:cNvSpPr txBox="1"/>
          <p:nvPr/>
        </p:nvSpPr>
        <p:spPr>
          <a:xfrm>
            <a:off x="777240" y="2212848"/>
            <a:ext cx="10652760" cy="438912"/>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From model compatibility to task-first information value</a:t>
            </a:r>
          </a:p>
        </p:txBody>
      </p:sp>
      <p:sp>
        <p:nvSpPr>
          <p:cNvPr id="4" name="body:Ramp-control evidence, common speed advice and the necessary-resolution question"/>
          <p:cNvSpPr txBox="1"/>
          <p:nvPr/>
        </p:nvSpPr>
        <p:spPr>
          <a:xfrm>
            <a:off x="777240" y="297180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Ramp-control evidence, common speed advice and the necessary-resolution question</a:t>
            </a:r>
          </a:p>
        </p:txBody>
      </p:sp>
      <p:sp>
        <p:nvSpPr>
          <p:cNvPr id="5" name="body:Methodological findings through 18 September 2026"/>
          <p:cNvSpPr txBox="1"/>
          <p:nvPr/>
        </p:nvSpPr>
        <p:spPr>
          <a:xfrm>
            <a:off x="777240" y="3749039"/>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Methodological findings through 18 September 2026</a:t>
            </a:r>
          </a:p>
        </p:txBody>
      </p:sp>
      <p:sp>
        <p:nvSpPr>
          <p:cNvPr id="6" name="body:Technical discussion for colleagues"/>
          <p:cNvSpPr txBox="1"/>
          <p:nvPr/>
        </p:nvSpPr>
        <p:spPr>
          <a:xfrm>
            <a:off x="777240" y="539496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Technical discussion for colleagues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Content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Contents</a:t>
            </a:r>
          </a:p>
        </p:txBody>
      </p:sp>
      <p:sp>
        <p:nvSpPr>
          <p:cNvPr id="3" name="body:3–5     Strong alternatives and the bounded ordered-stream result"/>
          <p:cNvSpPr txBox="1"/>
          <p:nvPr/>
        </p:nvSpPr>
        <p:spPr>
          <a:xfrm>
            <a:off x="777240" y="155448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3–5     Strong alternatives and the bounded ordered-stream result</a:t>
            </a:r>
          </a:p>
        </p:txBody>
      </p:sp>
      <p:sp>
        <p:nvSpPr>
          <p:cNvPr id="4" name="body:6–7     Task-first framing and common speed advice at a narrowing"/>
          <p:cNvSpPr txBox="1"/>
          <p:nvPr/>
        </p:nvSpPr>
        <p:spPr>
          <a:xfrm>
            <a:off x="777240" y="237744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6–7     Task-first framing and common speed advice at a narrowing</a:t>
            </a:r>
          </a:p>
        </p:txBody>
      </p:sp>
      <p:sp>
        <p:nvSpPr>
          <p:cNvPr id="5" name="body:8          What the closest control literature supports"/>
          <p:cNvSpPr txBox="1"/>
          <p:nvPr/>
        </p:nvSpPr>
        <p:spPr>
          <a:xfrm>
            <a:off x="777240" y="320040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8          What the closest control literature supports</a:t>
            </a:r>
          </a:p>
        </p:txBody>
      </p:sp>
      <p:sp>
        <p:nvSpPr>
          <p:cNvPr id="6" name="body:9          Separate information loss from model inadequacy"/>
          <p:cNvSpPr txBox="1"/>
          <p:nvPr/>
        </p:nvSpPr>
        <p:spPr>
          <a:xfrm>
            <a:off x="777240" y="402336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9          Separate information loss from model inadequacy</a:t>
            </a:r>
          </a:p>
        </p:txBody>
      </p:sp>
      <p:sp>
        <p:nvSpPr>
          <p:cNvPr id="7" name="body:10–11  Hidden-state decision value: findings and remaining gap"/>
          <p:cNvSpPr txBox="1"/>
          <p:nvPr/>
        </p:nvSpPr>
        <p:spPr>
          <a:xfrm>
            <a:off x="777240" y="484632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10–11  Hidden-state decision value: findings and remaining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he original question imposed two condition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The original question imposed two conditions</a:t>
            </a:r>
          </a:p>
        </p:txBody>
      </p:sp>
      <p:sp>
        <p:nvSpPr>
          <p:cNvPr id="3" name="body:Starting point: continuous-mass, first-order physics with localized route order."/>
          <p:cNvSpPr txBox="1"/>
          <p:nvPr/>
        </p:nvSpPr>
        <p:spPr>
          <a:xfrm>
            <a:off x="777240" y="128016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Starting point: continuous-mass, first-order physics with localized route order.</a:t>
            </a:r>
          </a:p>
        </p:txBody>
      </p:sp>
      <p:grpSp>
        <p:nvGrpSpPr>
          <p:cNvPr id="11" name="Joint compatibility and independent scientific-value conditions"/>
          <p:cNvGrpSpPr/>
          <p:nvPr/>
        </p:nvGrpSpPr>
        <p:grpSpPr>
          <a:xfrm>
            <a:off x="1828800" y="2121408"/>
            <a:ext cx="8503920" cy="3063240"/>
            <a:chOff x="1828800" y="2121408"/>
            <a:chExt cx="8503920" cy="3063240"/>
          </a:xfrm>
        </p:grpSpPr>
        <p:sp>
          <p:nvSpPr>
            <p:cNvPr id="4" name="Oval 3"/>
            <p:cNvSpPr/>
            <p:nvPr/>
          </p:nvSpPr>
          <p:spPr>
            <a:xfrm>
              <a:off x="1828800" y="2121408"/>
              <a:ext cx="4846320" cy="3063240"/>
            </a:xfrm>
            <a:prstGeom prst="ellipse">
              <a:avLst/>
            </a:prstGeom>
            <a:no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0" y="2121408"/>
              <a:ext cx="4846320" cy="3063240"/>
            </a:xfrm>
            <a:prstGeom prst="ellipse">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ody:Compatible with"/>
            <p:cNvSpPr txBox="1"/>
            <p:nvPr/>
          </p:nvSpPr>
          <p:spPr>
            <a:xfrm>
              <a:off x="2240280" y="2971800"/>
              <a:ext cx="3474720" cy="384048"/>
            </a:xfrm>
            <a:prstGeom prst="rect">
              <a:avLst/>
            </a:prstGeom>
            <a:noFill/>
          </p:spPr>
          <p:txBody>
            <a:bodyPr wrap="none" lIns="36576" rIns="36576" tIns="18288" bIns="18288" anchor="t">
              <a:spAutoFit/>
            </a:bodyPr>
            <a:lstStyle/>
            <a:p>
              <a:pPr algn="ctr">
                <a:spcBef>
                  <a:spcPts val="0"/>
                </a:spcBef>
                <a:spcAft>
                  <a:spcPts val="0"/>
                </a:spcAft>
                <a:defRPr sz="1800" b="1">
                  <a:solidFill>
                    <a:srgbClr val="416F9B"/>
                  </a:solidFill>
                  <a:latin typeface="Calibri"/>
                </a:defRPr>
              </a:pPr>
              <a:r>
                <a:t>Compatible with</a:t>
              </a:r>
            </a:p>
          </p:txBody>
        </p:sp>
        <p:sp>
          <p:nvSpPr>
            <p:cNvPr id="7" name="body:the existing model"/>
            <p:cNvSpPr txBox="1"/>
            <p:nvPr/>
          </p:nvSpPr>
          <p:spPr>
            <a:xfrm>
              <a:off x="2240280" y="3438144"/>
              <a:ext cx="347472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the existing model</a:t>
              </a:r>
            </a:p>
          </p:txBody>
        </p:sp>
        <p:sp>
          <p:nvSpPr>
            <p:cNvPr id="8" name="body:Distinct information"/>
            <p:cNvSpPr txBox="1"/>
            <p:nvPr/>
          </p:nvSpPr>
          <p:spPr>
            <a:xfrm>
              <a:off x="6492240" y="2971800"/>
              <a:ext cx="3383280" cy="384048"/>
            </a:xfrm>
            <a:prstGeom prst="rect">
              <a:avLst/>
            </a:prstGeom>
            <a:noFill/>
          </p:spPr>
          <p:txBody>
            <a:bodyPr wrap="none" lIns="36576" rIns="36576" tIns="18288" bIns="18288" anchor="t">
              <a:spAutoFit/>
            </a:bodyPr>
            <a:lstStyle/>
            <a:p>
              <a:pPr algn="ctr">
                <a:spcBef>
                  <a:spcPts val="0"/>
                </a:spcBef>
                <a:spcAft>
                  <a:spcPts val="0"/>
                </a:spcAft>
                <a:defRPr sz="1800" b="1">
                  <a:solidFill>
                    <a:srgbClr val="267D86"/>
                  </a:solidFill>
                  <a:latin typeface="Calibri"/>
                </a:defRPr>
              </a:pPr>
              <a:r>
                <a:t>Distinct information</a:t>
              </a:r>
            </a:p>
          </p:txBody>
        </p:sp>
        <p:sp>
          <p:nvSpPr>
            <p:cNvPr id="9" name="body:needed for control"/>
            <p:cNvSpPr txBox="1"/>
            <p:nvPr/>
          </p:nvSpPr>
          <p:spPr>
            <a:xfrm>
              <a:off x="6492240" y="3438144"/>
              <a:ext cx="338328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needed for control</a:t>
              </a:r>
            </a:p>
          </p:txBody>
        </p:sp>
        <p:sp>
          <p:nvSpPr>
            <p:cNvPr id="10" name="body:Both needed"/>
            <p:cNvSpPr txBox="1"/>
            <p:nvPr/>
          </p:nvSpPr>
          <p:spPr>
            <a:xfrm>
              <a:off x="5184648" y="4114800"/>
              <a:ext cx="1810512" cy="384048"/>
            </a:xfrm>
            <a:prstGeom prst="rect">
              <a:avLst/>
            </a:prstGeom>
            <a:noFill/>
          </p:spPr>
          <p:txBody>
            <a:bodyPr wrap="none" lIns="36576" rIns="36576" tIns="18288" bIns="18288" anchor="t">
              <a:spAutoFit/>
            </a:bodyPr>
            <a:lstStyle/>
            <a:p>
              <a:pPr algn="ctr">
                <a:spcBef>
                  <a:spcPts val="0"/>
                </a:spcBef>
                <a:spcAft>
                  <a:spcPts val="0"/>
                </a:spcAft>
                <a:defRPr sz="1800" b="1">
                  <a:solidFill>
                    <a:srgbClr val="243341"/>
                  </a:solidFill>
                  <a:latin typeface="Calibri"/>
                </a:defRPr>
              </a:pPr>
              <a:r>
                <a:t>Both needed</a:t>
              </a:r>
            </a:p>
          </p:txBody>
        </p:sp>
      </p:grpSp>
      <p:sp>
        <p:nvSpPr>
          <p:cNvPr id="12" name="body:No reviewed formulation established both conditions for a parallel task."/>
          <p:cNvSpPr txBox="1"/>
          <p:nvPr/>
        </p:nvSpPr>
        <p:spPr>
          <a:xfrm>
            <a:off x="777240" y="5669280"/>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43341"/>
                </a:solidFill>
                <a:latin typeface="Calibri"/>
              </a:defRPr>
            </a:pPr>
            <a:r>
              <a:t>No reviewed formulation established both conditions for a parallel task.</a:t>
            </a:r>
          </a:p>
        </p:txBody>
      </p:sp>
      <p:sp>
        <p:nvSpPr>
          <p:cNvPr id="13" name="body:This is a conclusion within the original scope; it does not reject freeway control."/>
          <p:cNvSpPr txBox="1"/>
          <p:nvPr/>
        </p:nvSpPr>
        <p:spPr>
          <a:xfrm>
            <a:off x="777240" y="6181344"/>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This is a conclusion within the original scope; it does not reject freeway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ggregate alternatives already set a high bar"/>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Aggregate alternatives already set a high bar</a:t>
            </a:r>
          </a:p>
        </p:txBody>
      </p:sp>
      <p:sp>
        <p:nvSpPr>
          <p:cNvPr id="3" name="body:Aggregate control is a strong starting point."/>
          <p:cNvSpPr txBox="1"/>
          <p:nvPr/>
        </p:nvSpPr>
        <p:spPr>
          <a:xfrm>
            <a:off x="777240" y="1389888"/>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416F9B"/>
                </a:solidFill>
                <a:latin typeface="Calibri"/>
              </a:defRPr>
            </a:pPr>
            <a:r>
              <a:t>Aggregate control is a strong starting point.</a:t>
            </a:r>
          </a:p>
        </p:txBody>
      </p:sp>
      <p:sp>
        <p:nvSpPr>
          <p:cNvPr id="4" name="body:Feedback / optimal control: ALINEA and CTM-based ramp control."/>
          <p:cNvSpPr txBox="1"/>
          <p:nvPr/>
        </p:nvSpPr>
        <p:spPr>
          <a:xfrm>
            <a:off x="777240" y="193852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Feedback / optimal control: ALINEA and CTM-based ramp control.</a:t>
            </a:r>
          </a:p>
        </p:txBody>
      </p:sp>
      <p:sp>
        <p:nvSpPr>
          <p:cNvPr id="5" name="body:Efficient sensitivities: Reilly's adjoint; Gu's smoothed CTM."/>
          <p:cNvSpPr txBox="1"/>
          <p:nvPr/>
        </p:nvSpPr>
        <p:spPr>
          <a:xfrm>
            <a:off x="777240" y="248716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Efficient sensitivities: Reilly's adjoint; Gu's smoothed CTM.</a:t>
            </a:r>
          </a:p>
        </p:txBody>
      </p:sp>
      <p:sp>
        <p:nvSpPr>
          <p:cNvPr id="6" name="body:Multiclass adjoint: Goatin; freeway AD calibration: Poole."/>
          <p:cNvSpPr txBox="1"/>
          <p:nvPr/>
        </p:nvSpPr>
        <p:spPr>
          <a:xfrm>
            <a:off x="777240" y="303580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Multiclass adjoint: Goatin; freeway AD calibration: Poole.</a:t>
            </a:r>
          </a:p>
        </p:txBody>
      </p:sp>
      <p:sp>
        <p:nvSpPr>
          <p:cNvPr id="7" name="body:Mesoscopic value varies with retained information and behavior."/>
          <p:cNvSpPr txBox="1"/>
          <p:nvPr/>
        </p:nvSpPr>
        <p:spPr>
          <a:xfrm>
            <a:off x="777240" y="3895344"/>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Mesoscopic value varies with retained information and behavior.</a:t>
            </a:r>
          </a:p>
        </p:txBody>
      </p:sp>
      <p:sp>
        <p:nvSpPr>
          <p:cNvPr id="8" name="body:Routes, cohorts, classes, lanes, distributions and local interactions."/>
          <p:cNvSpPr txBox="1"/>
          <p:nvPr/>
        </p:nvSpPr>
        <p:spPr>
          <a:xfrm>
            <a:off x="777240" y="4443984"/>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Routes, cohorts, classes, lanes, distributions and local interactions.</a:t>
            </a:r>
          </a:p>
        </p:txBody>
      </p:sp>
      <p:sp>
        <p:nvSpPr>
          <p:cNvPr id="9" name="body:The reviewed evidence does not establish a need for exact queue order."/>
          <p:cNvSpPr txBox="1"/>
          <p:nvPr/>
        </p:nvSpPr>
        <p:spPr>
          <a:xfrm>
            <a:off x="777240" y="4992624"/>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The reviewed evidence does not establish a need for exact queue order.</a:t>
            </a:r>
          </a:p>
        </p:txBody>
      </p:sp>
      <p:sp>
        <p:nvSpPr>
          <p:cNvPr id="10" name="body:Differentiability alone does not establish useful control gradients."/>
          <p:cNvSpPr txBox="1"/>
          <p:nvPr/>
        </p:nvSpPr>
        <p:spPr>
          <a:xfrm>
            <a:off x="777240" y="5824728"/>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Differentiability alone does not establish useful control gradients.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he ordered-stream case tests transfer"/>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The ordered-stream case tests transfer</a:t>
            </a:r>
          </a:p>
        </p:txBody>
      </p:sp>
      <p:grpSp>
        <p:nvGrpSpPr>
          <p:cNvPr id="15" name="Metered stream, ordered route mass and remote exit restriction"/>
          <p:cNvGrpSpPr/>
          <p:nvPr/>
        </p:nvGrpSpPr>
        <p:grpSpPr>
          <a:xfrm>
            <a:off x="914400" y="1755648"/>
            <a:ext cx="10479024" cy="2615184"/>
            <a:chOff x="914400" y="1755648"/>
            <a:chExt cx="10479024" cy="2615184"/>
          </a:xfrm>
        </p:grpSpPr>
        <p:sp>
          <p:nvSpPr>
            <p:cNvPr id="3" name="Rectangle 2"/>
            <p:cNvSpPr/>
            <p:nvPr/>
          </p:nvSpPr>
          <p:spPr>
            <a:xfrm>
              <a:off x="914400" y="2331720"/>
              <a:ext cx="9464040" cy="60350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V="1">
              <a:off x="1554480" y="2633472"/>
              <a:ext cx="1408176" cy="1188719"/>
            </a:xfrm>
            <a:prstGeom prst="line">
              <a:avLst/>
            </a:prstGeom>
            <a:ln w="635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011680" y="3191256"/>
              <a:ext cx="137160" cy="475488"/>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8869680" y="2642616"/>
              <a:ext cx="1353312" cy="1152144"/>
            </a:xfrm>
            <a:prstGeom prst="line">
              <a:avLst/>
            </a:prstGeom>
            <a:ln w="5080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7" name="Right Arrow 6"/>
            <p:cNvSpPr/>
            <p:nvPr/>
          </p:nvSpPr>
          <p:spPr>
            <a:xfrm>
              <a:off x="9902952" y="2532888"/>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77639" y="2496312"/>
              <a:ext cx="347472" cy="256032"/>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2496312"/>
              <a:ext cx="347472"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83480" y="2496312"/>
              <a:ext cx="347472" cy="256032"/>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0" y="2496312"/>
              <a:ext cx="347472"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ody:Upstream meter"/>
            <p:cNvSpPr txBox="1"/>
            <p:nvPr/>
          </p:nvSpPr>
          <p:spPr>
            <a:xfrm>
              <a:off x="932688" y="3986784"/>
              <a:ext cx="2212848"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Upstream meter</a:t>
              </a:r>
            </a:p>
          </p:txBody>
        </p:sp>
        <p:sp>
          <p:nvSpPr>
            <p:cNvPr id="13" name="body:First-order propagation"/>
            <p:cNvSpPr txBox="1"/>
            <p:nvPr/>
          </p:nvSpPr>
          <p:spPr>
            <a:xfrm>
              <a:off x="4005072" y="1755648"/>
              <a:ext cx="329184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First-order propagation</a:t>
              </a:r>
            </a:p>
          </p:txBody>
        </p:sp>
        <p:sp>
          <p:nvSpPr>
            <p:cNvPr id="14" name="body:Restricted exit"/>
            <p:cNvSpPr txBox="1"/>
            <p:nvPr/>
          </p:nvSpPr>
          <p:spPr>
            <a:xfrm>
              <a:off x="8650224" y="3986784"/>
              <a:ext cx="274320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Restricted exit</a:t>
              </a:r>
            </a:p>
          </p:txBody>
        </p:sp>
      </p:grpSp>
      <p:sp>
        <p:nvSpPr>
          <p:cNvPr id="16" name="body:Route-labelled order reaches a downstream service restriction."/>
          <p:cNvSpPr txBox="1"/>
          <p:nvPr/>
        </p:nvSpPr>
        <p:spPr>
          <a:xfrm>
            <a:off x="777240" y="468172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Route-labelled order reaches a downstream service restriction.</a:t>
            </a:r>
          </a:p>
        </p:txBody>
      </p:sp>
      <p:sp>
        <p:nvSpPr>
          <p:cNvPr id="17" name="body:Non-overlapping inputs avoid an unresolved merge chronology."/>
          <p:cNvSpPr txBox="1"/>
          <p:nvPr/>
        </p:nvSpPr>
        <p:spPr>
          <a:xfrm>
            <a:off x="777240" y="509320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Non-overlapping inputs avoid an unresolved merge chronology.</a:t>
            </a:r>
          </a:p>
        </p:txBody>
      </p:sp>
      <p:sp>
        <p:nvSpPr>
          <p:cNvPr id="18" name="body:The decisive ordered-access mechanism is shared with the signal task."/>
          <p:cNvSpPr txBox="1"/>
          <p:nvPr/>
        </p:nvSpPr>
        <p:spPr>
          <a:xfrm>
            <a:off x="777240" y="550468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The decisive ordered-access mechanism is shared with the signal task.</a:t>
            </a:r>
          </a:p>
        </p:txBody>
      </p:sp>
      <p:sp>
        <p:nvSpPr>
          <p:cNvPr id="19" name="body:Useful as an optional transfer test; not an independent second hypothesis."/>
          <p:cNvSpPr txBox="1"/>
          <p:nvPr/>
        </p:nvSpPr>
        <p:spPr>
          <a:xfrm>
            <a:off x="777240" y="5916168"/>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Useful as an optional transfer test; not an independent second hypothesis.</a:t>
            </a:r>
          </a:p>
        </p:txBody>
      </p:sp>
      <p:sp>
        <p:nvSpPr>
          <p:cNvPr id="20" name="body:Ordinary overlapping or multilane traffic needs additional modeling."/>
          <p:cNvSpPr txBox="1"/>
          <p:nvPr/>
        </p:nvSpPr>
        <p:spPr>
          <a:xfrm>
            <a:off x="777240" y="632764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Ordinary overlapping or multilane traffic needs additional modeling.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ask validity precedes model compatibility"/>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Task validity precedes model compatibility</a:t>
            </a:r>
          </a:p>
        </p:txBody>
      </p:sp>
      <p:sp>
        <p:nvSpPr>
          <p:cNvPr id="3" name="body:The earlier negative result was scoped to the fixed architecture."/>
          <p:cNvSpPr txBox="1"/>
          <p:nvPr/>
        </p:nvSpPr>
        <p:spPr>
          <a:xfrm>
            <a:off x="777240" y="1353312"/>
            <a:ext cx="1069848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7D8791"/>
                </a:solidFill>
                <a:latin typeface="Calibri"/>
              </a:defRPr>
            </a:pPr>
            <a:r>
              <a:t>The earlier negative result was scoped to the fixed architecture.</a:t>
            </a:r>
          </a:p>
        </p:txBody>
      </p:sp>
      <p:grpSp>
        <p:nvGrpSpPr>
          <p:cNvPr id="12" name="Model-first sequence"/>
          <p:cNvGrpSpPr/>
          <p:nvPr/>
        </p:nvGrpSpPr>
        <p:grpSpPr>
          <a:xfrm>
            <a:off x="914400" y="1965960"/>
            <a:ext cx="10332720" cy="868680"/>
            <a:chOff x="914400" y="1965960"/>
            <a:chExt cx="10332720" cy="868680"/>
          </a:xfrm>
        </p:grpSpPr>
        <p:sp>
          <p:nvSpPr>
            <p:cNvPr id="4" name="Rectangle 3"/>
            <p:cNvSpPr/>
            <p:nvPr/>
          </p:nvSpPr>
          <p:spPr>
            <a:xfrm>
              <a:off x="914400" y="1965960"/>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ody:Fixed model"/>
            <p:cNvSpPr txBox="1"/>
            <p:nvPr/>
          </p:nvSpPr>
          <p:spPr>
            <a:xfrm>
              <a:off x="960120" y="210312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Fixed model</a:t>
              </a:r>
            </a:p>
          </p:txBody>
        </p:sp>
        <p:sp>
          <p:nvSpPr>
            <p:cNvPr id="6" name="Rectangle 5"/>
            <p:cNvSpPr/>
            <p:nvPr/>
          </p:nvSpPr>
          <p:spPr>
            <a:xfrm>
              <a:off x="4572000" y="1965960"/>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Compatible task"/>
            <p:cNvSpPr txBox="1"/>
            <p:nvPr/>
          </p:nvSpPr>
          <p:spPr>
            <a:xfrm>
              <a:off x="4617720" y="210312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Compatible task</a:t>
              </a:r>
            </a:p>
          </p:txBody>
        </p:sp>
        <p:sp>
          <p:nvSpPr>
            <p:cNvPr id="8" name="Rectangle 7"/>
            <p:cNvSpPr/>
            <p:nvPr/>
          </p:nvSpPr>
          <p:spPr>
            <a:xfrm>
              <a:off x="8229600" y="1965960"/>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dy:Value within scope"/>
            <p:cNvSpPr txBox="1"/>
            <p:nvPr/>
          </p:nvSpPr>
          <p:spPr>
            <a:xfrm>
              <a:off x="8275320" y="210312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Value within scope</a:t>
              </a:r>
            </a:p>
          </p:txBody>
        </p:sp>
        <p:sp>
          <p:nvSpPr>
            <p:cNvPr id="10" name="Right Arrow 9"/>
            <p:cNvSpPr/>
            <p:nvPr/>
          </p:nvSpPr>
          <p:spPr>
            <a:xfrm>
              <a:off x="4069080" y="2295144"/>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726679" y="2295144"/>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3" name="body:Task-first: establish decision value before choosing richer traffic state."/>
          <p:cNvSpPr txBox="1"/>
          <p:nvPr/>
        </p:nvSpPr>
        <p:spPr>
          <a:xfrm>
            <a:off x="777240" y="3657600"/>
            <a:ext cx="1069848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Task-first: establish decision value before choosing richer traffic state.</a:t>
            </a:r>
          </a:p>
        </p:txBody>
      </p:sp>
      <p:grpSp>
        <p:nvGrpSpPr>
          <p:cNvPr id="22" name="Task-to-information-value-to-justified-refinement working line"/>
          <p:cNvGrpSpPr/>
          <p:nvPr/>
        </p:nvGrpSpPr>
        <p:grpSpPr>
          <a:xfrm>
            <a:off x="914400" y="4343400"/>
            <a:ext cx="10332720" cy="868680"/>
            <a:chOff x="914400" y="4343400"/>
            <a:chExt cx="10332720" cy="868680"/>
          </a:xfrm>
        </p:grpSpPr>
        <p:sp>
          <p:nvSpPr>
            <p:cNvPr id="14" name="Rectangle 13"/>
            <p:cNvSpPr/>
            <p:nvPr/>
          </p:nvSpPr>
          <p:spPr>
            <a:xfrm>
              <a:off x="914400" y="4343400"/>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Task + baseline"/>
            <p:cNvSpPr txBox="1"/>
            <p:nvPr/>
          </p:nvSpPr>
          <p:spPr>
            <a:xfrm>
              <a:off x="960120" y="448056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Task + baseline</a:t>
              </a:r>
            </a:p>
          </p:txBody>
        </p:sp>
        <p:sp>
          <p:nvSpPr>
            <p:cNvPr id="16" name="Rectangle 15"/>
            <p:cNvSpPr/>
            <p:nvPr/>
          </p:nvSpPr>
          <p:spPr>
            <a:xfrm>
              <a:off x="4572000" y="4343400"/>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Hidden-state value?"/>
            <p:cNvSpPr txBox="1"/>
            <p:nvPr/>
          </p:nvSpPr>
          <p:spPr>
            <a:xfrm>
              <a:off x="4617720" y="448056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Hidden-state value?</a:t>
              </a:r>
            </a:p>
          </p:txBody>
        </p:sp>
        <p:sp>
          <p:nvSpPr>
            <p:cNvPr id="18" name="Rectangle 17"/>
            <p:cNvSpPr/>
            <p:nvPr/>
          </p:nvSpPr>
          <p:spPr>
            <a:xfrm>
              <a:off x="8229600" y="4343400"/>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State + gradients"/>
            <p:cNvSpPr txBox="1"/>
            <p:nvPr/>
          </p:nvSpPr>
          <p:spPr>
            <a:xfrm>
              <a:off x="8275320" y="448056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State + gradients</a:t>
              </a:r>
            </a:p>
          </p:txBody>
        </p:sp>
        <p:sp>
          <p:nvSpPr>
            <p:cNvPr id="20" name="Right Arrow 19"/>
            <p:cNvSpPr/>
            <p:nvPr/>
          </p:nvSpPr>
          <p:spPr>
            <a:xfrm>
              <a:off x="4069080" y="4672584"/>
              <a:ext cx="42062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7726679" y="4672584"/>
              <a:ext cx="42062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narrowing makes the question concrete"/>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A narrowing makes the question concrete</a:t>
            </a:r>
          </a:p>
        </p:txBody>
      </p:sp>
      <p:sp>
        <p:nvSpPr>
          <p:cNvPr id="3" name="body:One speed recommendation for all lanes"/>
          <p:cNvSpPr txBox="1"/>
          <p:nvPr/>
        </p:nvSpPr>
        <p:spPr>
          <a:xfrm>
            <a:off x="777240" y="1234440"/>
            <a:ext cx="10652760" cy="347472"/>
          </a:xfrm>
          <a:prstGeom prst="rect">
            <a:avLst/>
          </a:prstGeom>
          <a:noFill/>
        </p:spPr>
        <p:txBody>
          <a:bodyPr wrap="none" lIns="36576" rIns="36576" tIns="18288" bIns="18288" anchor="t">
            <a:spAutoFit/>
          </a:bodyPr>
          <a:lstStyle/>
          <a:p>
            <a:pPr algn="ctr">
              <a:spcBef>
                <a:spcPts val="0"/>
              </a:spcBef>
              <a:spcAft>
                <a:spcPts val="0"/>
              </a:spcAft>
              <a:defRPr sz="1800" b="1">
                <a:solidFill>
                  <a:srgbClr val="267D86"/>
                </a:solidFill>
                <a:latin typeface="Calibri"/>
              </a:defRPr>
            </a:pPr>
            <a:r>
              <a:t>One speed recommendation for all lanes</a:t>
            </a:r>
          </a:p>
        </p:txBody>
      </p:sp>
      <p:grpSp>
        <p:nvGrpSpPr>
          <p:cNvPr id="14" name="Common-advice road narrowing"/>
          <p:cNvGrpSpPr/>
          <p:nvPr/>
        </p:nvGrpSpPr>
        <p:grpSpPr>
          <a:xfrm>
            <a:off x="914400" y="1645920"/>
            <a:ext cx="10287000" cy="2633472"/>
            <a:chOff x="914400" y="1645920"/>
            <a:chExt cx="10287000" cy="2633472"/>
          </a:xfrm>
        </p:grpSpPr>
        <p:sp>
          <p:nvSpPr>
            <p:cNvPr id="4" name="Rectangle 3"/>
            <p:cNvSpPr/>
            <p:nvPr/>
          </p:nvSpPr>
          <p:spPr>
            <a:xfrm>
              <a:off x="914400" y="1993392"/>
              <a:ext cx="10287000" cy="5486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Arrow 4"/>
            <p:cNvSpPr/>
            <p:nvPr/>
          </p:nvSpPr>
          <p:spPr>
            <a:xfrm>
              <a:off x="10497312" y="2167128"/>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770632"/>
              <a:ext cx="10287000" cy="5486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10497312" y="2944368"/>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3547872"/>
              <a:ext cx="6766560" cy="5486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7680960" y="3044952"/>
              <a:ext cx="1143000" cy="777239"/>
            </a:xfrm>
            <a:prstGeom prst="line">
              <a:avLst/>
            </a:prstGeom>
            <a:ln w="254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862072" y="1810512"/>
              <a:ext cx="3108960" cy="2468880"/>
            </a:xfrm>
            <a:prstGeom prst="rect">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416552" y="1645920"/>
              <a:ext cx="0" cy="164592"/>
            </a:xfrm>
            <a:prstGeom prst="line">
              <a:avLst/>
            </a:prstGeom>
            <a:ln w="2540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2" name="body:Continuing lanes"/>
            <p:cNvSpPr txBox="1"/>
            <p:nvPr/>
          </p:nvSpPr>
          <p:spPr>
            <a:xfrm>
              <a:off x="7406640" y="2139696"/>
              <a:ext cx="3520440" cy="329184"/>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Continuing lanes</a:t>
              </a:r>
            </a:p>
          </p:txBody>
        </p:sp>
        <p:sp>
          <p:nvSpPr>
            <p:cNvPr id="13" name="body:Ending lane"/>
            <p:cNvSpPr txBox="1"/>
            <p:nvPr/>
          </p:nvSpPr>
          <p:spPr>
            <a:xfrm>
              <a:off x="1069848" y="3666744"/>
              <a:ext cx="1755648" cy="32918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Ending lane</a:t>
              </a:r>
            </a:p>
          </p:txBody>
        </p:sp>
      </p:grpSp>
      <p:sp>
        <p:nvSpPr>
          <p:cNvPr id="15" name="body:Advice changes desired speed; traffic interactions determine actual motion."/>
          <p:cNvSpPr txBox="1"/>
          <p:nvPr/>
        </p:nvSpPr>
        <p:spPr>
          <a:xfrm>
            <a:off x="777240" y="4681728"/>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Advice changes desired speed; traffic interactions determine actual motion.</a:t>
            </a:r>
          </a:p>
        </p:txBody>
      </p:sp>
      <p:sp>
        <p:nvSpPr>
          <p:cNvPr id="16" name="body:Strong baseline: spatial traffic, mean response, queues and full history."/>
          <p:cNvSpPr txBox="1"/>
          <p:nvPr/>
        </p:nvSpPr>
        <p:spPr>
          <a:xfrm>
            <a:off x="777240" y="5129784"/>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Strong baseline: spatial traffic, mean response, queues and full history.</a:t>
            </a:r>
          </a:p>
        </p:txBody>
      </p:sp>
      <p:sp>
        <p:nvSpPr>
          <p:cNvPr id="17" name="body:Outcome: total travel and waiting time, including upstream queues."/>
          <p:cNvSpPr txBox="1"/>
          <p:nvPr/>
        </p:nvSpPr>
        <p:spPr>
          <a:xfrm>
            <a:off x="777240" y="557784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Outcome: total travel and waiting time, including upstream queues.</a:t>
            </a:r>
          </a:p>
        </p:txBody>
      </p:sp>
      <p:sp>
        <p:nvSpPr>
          <p:cNvPr id="18" name="body:Next: what can the strongest aggregate baseline already explain?"/>
          <p:cNvSpPr txBox="1"/>
          <p:nvPr/>
        </p:nvSpPr>
        <p:spPr>
          <a:xfrm>
            <a:off x="777240" y="6025896"/>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what can the strongest aggregate baseline already explain?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What literature does—and does not—justify"/>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What literature does—and does not—justify</a:t>
            </a:r>
          </a:p>
        </p:txBody>
      </p:sp>
      <p:grpSp>
        <p:nvGrpSpPr>
          <p:cNvPr id="18" name="Predecessor evidence and its limits"/>
          <p:cNvGrpSpPr/>
          <p:nvPr/>
        </p:nvGrpSpPr>
        <p:grpSpPr>
          <a:xfrm>
            <a:off x="749808" y="1481328"/>
            <a:ext cx="10689336" cy="3099816"/>
            <a:chOff x="749808" y="1481328"/>
            <a:chExt cx="10689336" cy="3099816"/>
          </a:xfrm>
        </p:grpSpPr>
        <p:sp>
          <p:nvSpPr>
            <p:cNvPr id="3" name="Rectangle 2"/>
            <p:cNvSpPr/>
            <p:nvPr/>
          </p:nvSpPr>
          <p:spPr>
            <a:xfrm>
              <a:off x="749808" y="1481328"/>
              <a:ext cx="4343400" cy="868680"/>
            </a:xfrm>
            <a:prstGeom prst="rect">
              <a:avLst/>
            </a:prstGeom>
            <a:solidFill>
              <a:srgbClr val="F1F4F6"/>
            </a:solid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dy:Aggregate response + history"/>
            <p:cNvSpPr txBox="1"/>
            <p:nvPr/>
          </p:nvSpPr>
          <p:spPr>
            <a:xfrm>
              <a:off x="795528" y="1618488"/>
              <a:ext cx="425196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Aggregate response + history</a:t>
              </a:r>
            </a:p>
          </p:txBody>
        </p:sp>
        <p:sp>
          <p:nvSpPr>
            <p:cNvPr id="5" name="Right Arrow 4"/>
            <p:cNvSpPr/>
            <p:nvPr/>
          </p:nvSpPr>
          <p:spPr>
            <a:xfrm>
              <a:off x="5349240" y="1819656"/>
              <a:ext cx="475488"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08192" y="1481328"/>
              <a:ext cx="5330952"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Strong baseline—not full obedience"/>
            <p:cNvSpPr txBox="1"/>
            <p:nvPr/>
          </p:nvSpPr>
          <p:spPr>
            <a:xfrm>
              <a:off x="6153912" y="1618488"/>
              <a:ext cx="5239512"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Strong baseline—not full obedience</a:t>
              </a:r>
            </a:p>
          </p:txBody>
        </p:sp>
        <p:sp>
          <p:nvSpPr>
            <p:cNvPr id="8" name="Rectangle 7"/>
            <p:cNvSpPr/>
            <p:nvPr/>
          </p:nvSpPr>
          <p:spPr>
            <a:xfrm>
              <a:off x="749808" y="2596896"/>
              <a:ext cx="4343400" cy="868680"/>
            </a:xfrm>
            <a:prstGeom prst="rect">
              <a:avLst/>
            </a:prstGeom>
            <a:solidFill>
              <a:srgbClr val="F1F4F6"/>
            </a:solid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dy:Lane distribution + transfer"/>
            <p:cNvSpPr txBox="1"/>
            <p:nvPr/>
          </p:nvSpPr>
          <p:spPr>
            <a:xfrm>
              <a:off x="795528" y="2734056"/>
              <a:ext cx="425196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Lane distribution + transfer</a:t>
              </a:r>
            </a:p>
          </p:txBody>
        </p:sp>
        <p:sp>
          <p:nvSpPr>
            <p:cNvPr id="10" name="Right Arrow 9"/>
            <p:cNvSpPr/>
            <p:nvPr/>
          </p:nvSpPr>
          <p:spPr>
            <a:xfrm>
              <a:off x="5349240" y="2935224"/>
              <a:ext cx="475488"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08192" y="2596896"/>
              <a:ext cx="5330952"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ody:Mechanism evidence—not necessity"/>
            <p:cNvSpPr txBox="1"/>
            <p:nvPr/>
          </p:nvSpPr>
          <p:spPr>
            <a:xfrm>
              <a:off x="6153912" y="2734056"/>
              <a:ext cx="5239512"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Mechanism evidence—not necessity</a:t>
              </a:r>
            </a:p>
          </p:txBody>
        </p:sp>
        <p:sp>
          <p:nvSpPr>
            <p:cNvPr id="13" name="Rectangle 12"/>
            <p:cNvSpPr/>
            <p:nvPr/>
          </p:nvSpPr>
          <p:spPr>
            <a:xfrm>
              <a:off x="749808" y="3712464"/>
              <a:ext cx="4343400" cy="868680"/>
            </a:xfrm>
            <a:prstGeom prst="rect">
              <a:avLst/>
            </a:prstGeom>
            <a:solidFill>
              <a:srgbClr val="F1F4F6"/>
            </a:solid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Richer-model control gains"/>
            <p:cNvSpPr txBox="1"/>
            <p:nvPr/>
          </p:nvSpPr>
          <p:spPr>
            <a:xfrm>
              <a:off x="795528" y="3849624"/>
              <a:ext cx="425196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Richer-model control gains</a:t>
              </a:r>
            </a:p>
          </p:txBody>
        </p:sp>
        <p:sp>
          <p:nvSpPr>
            <p:cNvPr id="15" name="Right Arrow 14"/>
            <p:cNvSpPr/>
            <p:nvPr/>
          </p:nvSpPr>
          <p:spPr>
            <a:xfrm>
              <a:off x="5349240" y="4050792"/>
              <a:ext cx="475488"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08192" y="3712464"/>
              <a:ext cx="5330952"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Check action/objective confounds"/>
            <p:cNvSpPr txBox="1"/>
            <p:nvPr/>
          </p:nvSpPr>
          <p:spPr>
            <a:xfrm>
              <a:off x="6153912" y="3849624"/>
              <a:ext cx="5239512"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Check action/objective confounds</a:t>
              </a:r>
            </a:p>
          </p:txBody>
        </p:sp>
      </p:grpSp>
      <p:sp>
        <p:nvSpPr>
          <p:cNvPr id="19" name="body:Classes, lanes and individual order are not a mandatory development ladder."/>
          <p:cNvSpPr txBox="1"/>
          <p:nvPr/>
        </p:nvSpPr>
        <p:spPr>
          <a:xfrm>
            <a:off x="777240" y="525780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Classes, lanes and individual order are not a mandatory development ladder.</a:t>
            </a:r>
          </a:p>
        </p:txBody>
      </p:sp>
      <p:sp>
        <p:nvSpPr>
          <p:cNvPr id="20" name="body:Next: match full aggregate history, advice choices and objective."/>
          <p:cNvSpPr txBox="1"/>
          <p:nvPr/>
        </p:nvSpPr>
        <p:spPr>
          <a:xfrm>
            <a:off x="777240" y="5760720"/>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match full aggregate history, advice choices and objective.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Lane differences need not change decision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Lane differences need not change decisions</a:t>
            </a:r>
          </a:p>
        </p:txBody>
      </p:sp>
      <p:sp>
        <p:nvSpPr>
          <p:cNvPr id="3" name="body:Illustration only: equal totals, not a certified full-history match."/>
          <p:cNvSpPr txBox="1"/>
          <p:nvPr/>
        </p:nvSpPr>
        <p:spPr>
          <a:xfrm>
            <a:off x="777240" y="118872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7D8791"/>
                </a:solidFill>
                <a:latin typeface="Calibri"/>
              </a:defRPr>
            </a:pPr>
            <a:r>
              <a:t>Illustration only: equal totals, not a certified full-history match.</a:t>
            </a:r>
          </a:p>
        </p:txBody>
      </p:sp>
      <p:grpSp>
        <p:nvGrpSpPr>
          <p:cNvPr id="18" name="Illustrative 30-vehicle-equivalent lane-allocation plot"/>
          <p:cNvGrpSpPr/>
          <p:nvPr/>
        </p:nvGrpSpPr>
        <p:grpSpPr>
          <a:xfrm>
            <a:off x="868680" y="1828800"/>
            <a:ext cx="10451592" cy="2020824"/>
            <a:chOff x="868680" y="1828800"/>
            <a:chExt cx="10451592" cy="2020824"/>
          </a:xfrm>
        </p:grpSpPr>
        <p:sp>
          <p:nvSpPr>
            <p:cNvPr id="4" name="plot:Situation 1"/>
            <p:cNvSpPr txBox="1"/>
            <p:nvPr/>
          </p:nvSpPr>
          <p:spPr>
            <a:xfrm>
              <a:off x="868680" y="1828800"/>
              <a:ext cx="4882896" cy="347472"/>
            </a:xfrm>
            <a:prstGeom prst="rect">
              <a:avLst/>
            </a:prstGeom>
            <a:noFill/>
          </p:spPr>
          <p:txBody>
            <a:bodyPr wrap="none" lIns="36576" rIns="36576" tIns="18288" bIns="18288" anchor="t">
              <a:spAutoFit/>
            </a:bodyPr>
            <a:lstStyle/>
            <a:p>
              <a:pPr algn="ctr">
                <a:spcBef>
                  <a:spcPts val="0"/>
                </a:spcBef>
                <a:spcAft>
                  <a:spcPts val="0"/>
                </a:spcAft>
                <a:defRPr sz="1800" b="1">
                  <a:solidFill>
                    <a:srgbClr val="243341"/>
                  </a:solidFill>
                  <a:latin typeface="Calibri"/>
                </a:defRPr>
              </a:pPr>
              <a:r>
                <a:t>Situation 1</a:t>
              </a:r>
            </a:p>
          </p:txBody>
        </p:sp>
        <p:sp>
          <p:nvSpPr>
            <p:cNvPr id="5" name="Rectangle 4"/>
            <p:cNvSpPr/>
            <p:nvPr/>
          </p:nvSpPr>
          <p:spPr>
            <a:xfrm>
              <a:off x="868680" y="2423160"/>
              <a:ext cx="2441448" cy="685800"/>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10128" y="2423160"/>
              <a:ext cx="2441448" cy="68580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ot:15"/>
            <p:cNvSpPr txBox="1"/>
            <p:nvPr/>
          </p:nvSpPr>
          <p:spPr>
            <a:xfrm>
              <a:off x="886968" y="2542032"/>
              <a:ext cx="2404872"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15</a:t>
              </a:r>
            </a:p>
          </p:txBody>
        </p:sp>
        <p:sp>
          <p:nvSpPr>
            <p:cNvPr id="8" name="plot:15"/>
            <p:cNvSpPr txBox="1"/>
            <p:nvPr/>
          </p:nvSpPr>
          <p:spPr>
            <a:xfrm>
              <a:off x="3328416" y="2542032"/>
              <a:ext cx="2404872"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15</a:t>
              </a:r>
            </a:p>
          </p:txBody>
        </p:sp>
        <p:sp>
          <p:nvSpPr>
            <p:cNvPr id="9" name="plot:Situation 2"/>
            <p:cNvSpPr txBox="1"/>
            <p:nvPr/>
          </p:nvSpPr>
          <p:spPr>
            <a:xfrm>
              <a:off x="6437376" y="1828800"/>
              <a:ext cx="4882896" cy="347472"/>
            </a:xfrm>
            <a:prstGeom prst="rect">
              <a:avLst/>
            </a:prstGeom>
            <a:noFill/>
          </p:spPr>
          <p:txBody>
            <a:bodyPr wrap="none" lIns="36576" rIns="36576" tIns="18288" bIns="18288" anchor="t">
              <a:spAutoFit/>
            </a:bodyPr>
            <a:lstStyle/>
            <a:p>
              <a:pPr algn="ctr">
                <a:spcBef>
                  <a:spcPts val="0"/>
                </a:spcBef>
                <a:spcAft>
                  <a:spcPts val="0"/>
                </a:spcAft>
                <a:defRPr sz="1800" b="1">
                  <a:solidFill>
                    <a:srgbClr val="243341"/>
                  </a:solidFill>
                  <a:latin typeface="Calibri"/>
                </a:defRPr>
              </a:pPr>
              <a:r>
                <a:t>Situation 2</a:t>
              </a:r>
            </a:p>
          </p:txBody>
        </p:sp>
        <p:sp>
          <p:nvSpPr>
            <p:cNvPr id="10" name="Rectangle 9"/>
            <p:cNvSpPr/>
            <p:nvPr/>
          </p:nvSpPr>
          <p:spPr>
            <a:xfrm>
              <a:off x="6437376" y="2423160"/>
              <a:ext cx="813816" cy="685800"/>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51192" y="2423160"/>
              <a:ext cx="4069080" cy="68580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ot:5"/>
            <p:cNvSpPr txBox="1"/>
            <p:nvPr/>
          </p:nvSpPr>
          <p:spPr>
            <a:xfrm>
              <a:off x="6455664" y="2542032"/>
              <a:ext cx="777240"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5</a:t>
              </a:r>
            </a:p>
          </p:txBody>
        </p:sp>
        <p:sp>
          <p:nvSpPr>
            <p:cNvPr id="13" name="plot:25"/>
            <p:cNvSpPr txBox="1"/>
            <p:nvPr/>
          </p:nvSpPr>
          <p:spPr>
            <a:xfrm>
              <a:off x="7269479" y="2542032"/>
              <a:ext cx="4032504"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25</a:t>
              </a:r>
            </a:p>
          </p:txBody>
        </p:sp>
        <p:sp>
          <p:nvSpPr>
            <p:cNvPr id="14" name="Rectangle 13"/>
            <p:cNvSpPr/>
            <p:nvPr/>
          </p:nvSpPr>
          <p:spPr>
            <a:xfrm>
              <a:off x="2816352" y="3566160"/>
              <a:ext cx="201168" cy="201168"/>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ot:Ending lane"/>
            <p:cNvSpPr txBox="1"/>
            <p:nvPr/>
          </p:nvSpPr>
          <p:spPr>
            <a:xfrm>
              <a:off x="3127248" y="3520440"/>
              <a:ext cx="1847088" cy="32918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Ending lane</a:t>
              </a:r>
            </a:p>
          </p:txBody>
        </p:sp>
        <p:sp>
          <p:nvSpPr>
            <p:cNvPr id="16" name="Rectangle 15"/>
            <p:cNvSpPr/>
            <p:nvPr/>
          </p:nvSpPr>
          <p:spPr>
            <a:xfrm>
              <a:off x="6464808" y="3566160"/>
              <a:ext cx="201168" cy="201168"/>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ot:Continuing lanes"/>
            <p:cNvSpPr txBox="1"/>
            <p:nvPr/>
          </p:nvSpPr>
          <p:spPr>
            <a:xfrm>
              <a:off x="6766560" y="3520440"/>
              <a:ext cx="2971800" cy="32918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Continuing lanes</a:t>
              </a:r>
            </a:p>
          </p:txBody>
        </p:sp>
      </p:grpSp>
      <p:sp>
        <p:nvSpPr>
          <p:cNvPr id="19" name="body:Required: match the complete retained aggregate observations and history."/>
          <p:cNvSpPr txBox="1"/>
          <p:nvPr/>
        </p:nvSpPr>
        <p:spPr>
          <a:xfrm>
            <a:off x="777240" y="4251960"/>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43341"/>
                </a:solidFill>
                <a:latin typeface="Calibri"/>
              </a:defRPr>
            </a:pPr>
            <a:r>
              <a:t>Required: match the complete retained aggregate observations and history.</a:t>
            </a:r>
          </a:p>
        </p:txBody>
      </p:sp>
      <p:sp>
        <p:nvSpPr>
          <p:cNvPr id="20" name="body:Information loss: identical inputs still conceal decision-relevant differences."/>
          <p:cNvSpPr txBox="1"/>
          <p:nvPr/>
        </p:nvSpPr>
        <p:spPr>
          <a:xfrm>
            <a:off x="777240" y="470916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Information loss: identical inputs still conceal decision-relevant differences.</a:t>
            </a:r>
          </a:p>
        </p:txBody>
      </p:sp>
      <p:sp>
        <p:nvSpPr>
          <p:cNvPr id="21" name="body:Model inadequacy: available information is used poorly by one model."/>
          <p:cNvSpPr txBox="1"/>
          <p:nvPr/>
        </p:nvSpPr>
        <p:spPr>
          <a:xfrm>
            <a:off x="777240" y="516636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Model inadequacy: available information is used poorly by one model.</a:t>
            </a:r>
          </a:p>
        </p:txBody>
      </p:sp>
      <p:sp>
        <p:nvSpPr>
          <p:cNvPr id="22" name="body:Decision-loss test: no common acceptable advice in the tested menu."/>
          <p:cNvSpPr txBox="1"/>
          <p:nvPr/>
        </p:nvSpPr>
        <p:spPr>
          <a:xfrm>
            <a:off x="777240" y="562356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Decision-loss test: no common acceptable advice in the tested menu.</a:t>
            </a:r>
          </a:p>
        </p:txBody>
      </p:sp>
      <p:sp>
        <p:nvSpPr>
          <p:cNvPr id="23" name="body:Next: can hidden lane state alter the value of common advice?"/>
          <p:cNvSpPr txBox="1"/>
          <p:nvPr/>
        </p:nvSpPr>
        <p:spPr>
          <a:xfrm>
            <a:off x="777240" y="6080760"/>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can hidden lane state alter the value of common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Hidden state must change useful decision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Hidden state must change useful decisions</a:t>
            </a:r>
          </a:p>
        </p:txBody>
      </p:sp>
      <p:grpSp>
        <p:nvGrpSpPr>
          <p:cNvPr id="14" name="Advice-response-interaction-usefulness chain"/>
          <p:cNvGrpSpPr/>
          <p:nvPr/>
        </p:nvGrpSpPr>
        <p:grpSpPr>
          <a:xfrm>
            <a:off x="749808" y="1600200"/>
            <a:ext cx="10689336" cy="868680"/>
            <a:chOff x="749808" y="1600200"/>
            <a:chExt cx="10689336" cy="868680"/>
          </a:xfrm>
        </p:grpSpPr>
        <p:sp>
          <p:nvSpPr>
            <p:cNvPr id="3" name="Rectangle 2"/>
            <p:cNvSpPr/>
            <p:nvPr/>
          </p:nvSpPr>
          <p:spPr>
            <a:xfrm>
              <a:off x="749808"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dy:Shared advice"/>
            <p:cNvSpPr txBox="1"/>
            <p:nvPr/>
          </p:nvSpPr>
          <p:spPr>
            <a:xfrm>
              <a:off x="795528"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Shared advice</a:t>
              </a:r>
            </a:p>
          </p:txBody>
        </p:sp>
        <p:sp>
          <p:nvSpPr>
            <p:cNvPr id="5" name="Rectangle 4"/>
            <p:cNvSpPr/>
            <p:nvPr/>
          </p:nvSpPr>
          <p:spPr>
            <a:xfrm>
              <a:off x="3566160"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ody:Desired speed"/>
            <p:cNvSpPr txBox="1"/>
            <p:nvPr/>
          </p:nvSpPr>
          <p:spPr>
            <a:xfrm>
              <a:off x="3611879"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Desired speed</a:t>
              </a:r>
            </a:p>
          </p:txBody>
        </p:sp>
        <p:sp>
          <p:nvSpPr>
            <p:cNvPr id="7" name="Rectangle 6"/>
            <p:cNvSpPr/>
            <p:nvPr/>
          </p:nvSpPr>
          <p:spPr>
            <a:xfrm>
              <a:off x="6382512"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Merging"/>
            <p:cNvSpPr txBox="1"/>
            <p:nvPr/>
          </p:nvSpPr>
          <p:spPr>
            <a:xfrm>
              <a:off x="6428232"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Merging</a:t>
              </a:r>
            </a:p>
          </p:txBody>
        </p:sp>
        <p:sp>
          <p:nvSpPr>
            <p:cNvPr id="9" name="Rectangle 8"/>
            <p:cNvSpPr/>
            <p:nvPr/>
          </p:nvSpPr>
          <p:spPr>
            <a:xfrm>
              <a:off x="9198864"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dy:Outcome?"/>
            <p:cNvSpPr txBox="1"/>
            <p:nvPr/>
          </p:nvSpPr>
          <p:spPr>
            <a:xfrm>
              <a:off x="9244584"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Outcome?</a:t>
              </a:r>
            </a:p>
          </p:txBody>
        </p:sp>
        <p:sp>
          <p:nvSpPr>
            <p:cNvPr id="11" name="Right Arrow 10"/>
            <p:cNvSpPr/>
            <p:nvPr/>
          </p:nvSpPr>
          <p:spPr>
            <a:xfrm>
              <a:off x="3108960" y="1929384"/>
              <a:ext cx="32918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5925312" y="1929384"/>
              <a:ext cx="32918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8741664" y="1929384"/>
              <a:ext cx="32918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body:Hidden contrast is possible in conditional free flow—but that is not enough."/>
          <p:cNvSpPr txBox="1"/>
          <p:nvPr/>
        </p:nvSpPr>
        <p:spPr>
          <a:xfrm>
            <a:off x="777240" y="3154680"/>
            <a:ext cx="10652760" cy="42062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Hidden contrast is possible in conditional free flow—but that is not enough.</a:t>
            </a:r>
          </a:p>
        </p:txBody>
      </p:sp>
      <p:sp>
        <p:nvSpPr>
          <p:cNvPr id="16" name="body:Fixed-service subcase: earlier arrivals make highest advice a common best."/>
          <p:cNvSpPr txBox="1"/>
          <p:nvPr/>
        </p:nvSpPr>
        <p:spPr>
          <a:xfrm>
            <a:off x="777240" y="3858768"/>
            <a:ext cx="10652760" cy="42062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Fixed-service subcase: earlier arrivals make highest advice a common best.</a:t>
            </a:r>
          </a:p>
        </p:txBody>
      </p:sp>
      <p:sp>
        <p:nvSpPr>
          <p:cNvPr id="17" name="body:Thus inspect native merging: can state-dependent benefits outweigh delay?"/>
          <p:cNvSpPr txBox="1"/>
          <p:nvPr/>
        </p:nvSpPr>
        <p:spPr>
          <a:xfrm>
            <a:off x="777240" y="4562856"/>
            <a:ext cx="10652760" cy="42062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Thus inspect native merging: can state-dependent benefits outweigh delay?</a:t>
            </a:r>
          </a:p>
        </p:txBody>
      </p:sp>
      <p:sp>
        <p:nvSpPr>
          <p:cNvPr id="18" name="body:Next: find a reachable hidden-state contrast with different useful advice."/>
          <p:cNvSpPr txBox="1"/>
          <p:nvPr/>
        </p:nvSpPr>
        <p:spPr>
          <a:xfrm>
            <a:off x="777240" y="5266944"/>
            <a:ext cx="10652760" cy="420624"/>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find a reachable hidden-state contrast with different useful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Mechanisms exist; information value is open"/>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Mechanisms exist; information value is open</a:t>
            </a:r>
          </a:p>
        </p:txBody>
      </p:sp>
      <p:sp>
        <p:nvSpPr>
          <p:cNvPr id="3" name="body:Supported: strong aggregate alternatives and plausible merge mechanisms."/>
          <p:cNvSpPr txBox="1"/>
          <p:nvPr/>
        </p:nvSpPr>
        <p:spPr>
          <a:xfrm>
            <a:off x="777240" y="1234440"/>
            <a:ext cx="10652760" cy="365760"/>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Supported: strong aggregate alternatives and plausible merge mechanisms.</a:t>
            </a:r>
          </a:p>
        </p:txBody>
      </p:sp>
      <p:sp>
        <p:nvSpPr>
          <p:cNvPr id="4" name="body:Missing: a reachable full-history match requiring different useful advice."/>
          <p:cNvSpPr txBox="1"/>
          <p:nvPr/>
        </p:nvSpPr>
        <p:spPr>
          <a:xfrm>
            <a:off x="777240" y="1719072"/>
            <a:ext cx="1065276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Missing: a reachable full-history match requiring different useful advice.</a:t>
            </a:r>
          </a:p>
        </p:txBody>
      </p:sp>
      <p:grpSp>
        <p:nvGrpSpPr>
          <p:cNvPr id="13" name="Where hidden lane contrast can survive"/>
          <p:cNvGrpSpPr/>
          <p:nvPr/>
        </p:nvGrpSpPr>
        <p:grpSpPr>
          <a:xfrm>
            <a:off x="914400" y="2404872"/>
            <a:ext cx="10332720" cy="1984248"/>
            <a:chOff x="914400" y="2404872"/>
            <a:chExt cx="10332720" cy="1984248"/>
          </a:xfrm>
        </p:grpSpPr>
        <p:sp>
          <p:nvSpPr>
            <p:cNvPr id="5" name="Rectangle 4"/>
            <p:cNvSpPr/>
            <p:nvPr/>
          </p:nvSpPr>
          <p:spPr>
            <a:xfrm>
              <a:off x="914400" y="2560320"/>
              <a:ext cx="10332720" cy="26517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999232"/>
              <a:ext cx="10332720" cy="26517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438144"/>
              <a:ext cx="7278624" cy="26517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8193024" y="3127248"/>
              <a:ext cx="1042416" cy="438912"/>
            </a:xfrm>
            <a:prstGeom prst="line">
              <a:avLst/>
            </a:prstGeom>
            <a:ln w="1905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670048" y="2404872"/>
              <a:ext cx="877824" cy="1481328"/>
            </a:xfrm>
            <a:prstGeom prst="ellipse">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50608" y="2404872"/>
              <a:ext cx="877824" cy="1481328"/>
            </a:xfrm>
            <a:prstGeom prst="ellipse">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Earlier upstream"/>
            <p:cNvSpPr txBox="1"/>
            <p:nvPr/>
          </p:nvSpPr>
          <p:spPr>
            <a:xfrm>
              <a:off x="1865376" y="4023360"/>
              <a:ext cx="2487168" cy="365760"/>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Earlier upstream</a:t>
              </a:r>
            </a:p>
          </p:txBody>
        </p:sp>
        <p:sp>
          <p:nvSpPr>
            <p:cNvPr id="12" name="body:Near the narrowing"/>
            <p:cNvSpPr txBox="1"/>
            <p:nvPr/>
          </p:nvSpPr>
          <p:spPr>
            <a:xfrm>
              <a:off x="6099048" y="4023360"/>
              <a:ext cx="2980944" cy="365760"/>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Near the narrowing</a:t>
              </a:r>
            </a:p>
          </p:txBody>
        </p:sp>
      </p:grpSp>
      <p:sp>
        <p:nvSpPr>
          <p:cNvPr id="14" name="body:Next: make the contrast reachable without omitting informative history."/>
          <p:cNvSpPr txBox="1"/>
          <p:nvPr/>
        </p:nvSpPr>
        <p:spPr>
          <a:xfrm>
            <a:off x="777240" y="4727448"/>
            <a:ext cx="1065276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make the contrast reachable without omitting informative history.</a:t>
            </a:r>
          </a:p>
        </p:txBody>
      </p:sp>
      <p:sp>
        <p:nvSpPr>
          <p:cNvPr id="15" name="body:If useful advice must differ, test the smallest conservative added state."/>
          <p:cNvSpPr txBox="1"/>
          <p:nvPr/>
        </p:nvSpPr>
        <p:spPr>
          <a:xfrm>
            <a:off x="777240" y="5230368"/>
            <a:ext cx="10652760" cy="365760"/>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If useful advice must differ, test the smallest conservative added state.</a:t>
            </a:r>
          </a:p>
        </p:txBody>
      </p:sp>
      <p:sp>
        <p:nvSpPr>
          <p:cNvPr id="16" name="body:Then test gradient correctness and independent usefulness separately."/>
          <p:cNvSpPr txBox="1"/>
          <p:nvPr/>
        </p:nvSpPr>
        <p:spPr>
          <a:xfrm>
            <a:off x="777240" y="5733288"/>
            <a:ext cx="10652760" cy="365760"/>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Then test gradient correctness and independent usefulness separately.</a:t>
            </a:r>
          </a:p>
        </p:txBody>
      </p:sp>
      <p:sp>
        <p:nvSpPr>
          <p:cNvPr id="17" name="body:Without that evidence, do not infer that richer traffic detail is necessary."/>
          <p:cNvSpPr txBox="1"/>
          <p:nvPr/>
        </p:nvSpPr>
        <p:spPr>
          <a:xfrm>
            <a:off x="777240" y="6236208"/>
            <a:ext cx="1065276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Without that evidence, do not infer that richer traffic detail is necessary.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resolution for useful freeway control</dc:title>
  <dc:subject>From model compatibility to task-first information-value findings through 18 September 2026</dc:subject>
  <dc:creator>Research review</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
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weekly_vector_1.svg" ContentType="image/svg+xml"/>
  <Override PartName="/ppt/media/weekly_vector_2.svg" ContentType="image/svg+xml"/>
  <Override PartName="/ppt/media/weekly_vector_3.svg" ContentType="image/svg+xml"/>
  <Override PartName="/ppt/media/weekly_vector_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7, week ending 9 October 2026. Continue from last week's mass/flow information-hiding obstruction through the completed D2 forward-contract continuation. Slides 3--10 are the group-meeting backbone; 11--14 are technical discussion pages. This deck synthesizes existing source/static review, not a simulation or a new scientific pass. The review is temporarily parked at Q.J.F.R; preserving the full field is recommended but unapproved.</a:t>
            </a:r>
          </a:p>
          <a:p/>
          <a:p>
            <a:r>
              <a:t>Sources:</a:t>
            </a:r>
          </a:p>
          <a:p>
            <a:r>
              <a:t>temp_content/feedback/feedback.md</a:t>
            </a:r>
          </a:p>
          <a:p>
            <a:r>
              <a:t>misc/selective_discreteness_ramp_metering_review/reporting/rm12/bp_r_stage3/d2_forward/findings_and_field_gate.md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presentation is eight substantive slides, 3--10. It gives a complete semantic review arc: the original obstruction, bounded negative mechanism screens, operational-information backtracking, revised representation claim, supported physical family, memory/exact-state construction and its remaining gaps. Four further substantive slides supply technical examples for expert conversation without adding slides beyond the requested twelve-page substantive limit.</a:t>
            </a:r>
          </a:p>
          <a:p/>
          <a:p>
            <a:r>
              <a:t>Sources:</a:t>
            </a:r>
          </a:p>
          <a:p>
            <a:r>
              <a:t>temp_content/feedback/feedback.md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with the question left open last week, not a progress log. Originally we sought traffic detail unresolved after all admitted aggregate mass, flow, supported speed, ramp and control history, which also changed useful common ramp-rate actions under complete all-stream TST. This week checked why that task did not follow from physical merge effects, then explicitly backtracked to model-reduction adequacy. The general research motivation survives, but the original hidden-history claim is not established. Forward fidelity, derivative correctness and useful decisions are separate. A compact sufficient model is an acceptable outcome. Use the source and small analytical certificates before any implementation or experiment.</a:t>
            </a:r>
          </a:p>
          <a:p/>
          <a:p>
            <a:r>
              <a:t>Sources:</a:t>
            </a:r>
          </a:p>
          <a:p>
            <a:r>
              <a:t>misc/selective_discreteness_ramp_metering_review/reporting/rm9_99_scoped_closure.md</a:t>
            </a:r>
          </a:p>
          <a:p>
            <a:r>
              <a:t>misc/selective_discreteness_ramp_metering_review/reporting/rm12/bp_r/semantic_position_in_review_tree.md</a:t>
            </a:r>
          </a:p>
          <a:p>
            <a:r>
              <a:t>misc/selective_discreteness_ramp_metering_review/reporting/rm12/bp_r_stage3/baseline_review_scope_check.md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last deck's obstruction, then this week's stronger-history audit. The normalized two-lane free-branch example has known coefficients c1=1, c2=1.5. Masses (2,8) and (6,4) both total 10 but yield flows 14 and 12; in that branch total mass and aggregate flow reconstruct the split. These are normalized algebraic units, not calibrated traffic observations. Subsequent RM9 observer-C work uses section/Edie-supported speed accounting rather than inventing a favorable speed channel. If a complete earlier physical state is uniquely known and the dynamics, controls and forcing are exact and public, deterministic evolution fixes the future. Knowing only aggregate initial statistics is different; congested/history domains were not universally ruled out. Neither equal snapshots nor extra lanes alone certify a lawful full-history/action distinction.</a:t>
            </a:r>
          </a:p>
          <a:p/>
          <a:p>
            <a:r>
              <a:t>Sources:</a:t>
            </a:r>
          </a:p>
          <a:p>
            <a:r>
              <a:t>misc/slides/weekly_freeway_control_review_20261002_notes.md</a:t>
            </a:r>
          </a:p>
          <a:p>
            <a:r>
              <a:t>misc/selective_discreteness_ramp_metering_review/reporting/rm9_99_scoped_closure.md</a:t>
            </a:r>
          </a:p>
          <a:p>
            <a:r>
              <a:t>misc/selective_discreteness_ramp_metering_review/synthesis/rm9/rm9_separate_resource_and_observer_audit.tex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RM10 reviewed acceleration/recovery: recovery means how a slow entrant accelerates, encounters traffic and ceases to impose an extra restriction, not that the whole freeway is uncongested. Sources support the mechanism. Some mean/speed/hysteresis models are conditionally sufficient; richer families did not bind genuine initialization, equal full history and different useful common rates. RM11 C0 separately reviewed finite longitudinal merging opportunity with genuine sites, including a two-lane antecedent. Public lane geometry and observed position can be retained by spatial macroscopic competitors. Residual gap/position information and its action relevance remained unestablished. Both bounded reviews closed with scoped negative task admission; neither proved the mechanisms false or all aggregate representations sufficient. The diagrams explain physical leads, not reached matched-history cases.</a:t>
            </a:r>
          </a:p>
          <a:p/>
          <a:p>
            <a:r>
              <a:t>Sources:</a:t>
            </a:r>
          </a:p>
          <a:p>
            <a:r>
              <a:t>misc/selective_discreteness_ramp_metering_review/reporting/rm10/rm10_70_findings_and_conclusion.md</a:t>
            </a:r>
          </a:p>
          <a:p>
            <a:r>
              <a:t>misc/selective_discreteness_ramp_metering_review/reporting/rm11/c0_findings_and_disposition.md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RM12 Stage 1 BP-I audited a documented operational information domain. Point-detector inputs are not automatically a complete cell-wide observer, but used inputs are better documented than all accessible initial/history knowledge. No justified missing-history witness was admitted. BP-R then explicitly changed the claim: what response does an independently evolving model lose when it compresses a shared known scenario? One local ramp, common bounded upstream rate schedules, public forcing and complete all-stream TST remain. The slow group's condition may be known to every model, each initialized by its declared projection. It is then a question of representation, not private controller information. No repeated feed of future reference trajectories is allowed. Spatial/memory/moment models are strong rivals; a sufficient small summary is a positive result. Backtracking preserves the earlier scoped negatives instead of relabeling them as a newly solved original information question.</a:t>
            </a:r>
          </a:p>
          <a:p/>
          <a:p>
            <a:r>
              <a:t>Sources:</a:t>
            </a:r>
          </a:p>
          <a:p>
            <a:r>
              <a:t>misc/selective_discreteness_ramp_metering_review/reporting/rm12/bp_i/findings_and_gate.md</a:t>
            </a:r>
          </a:p>
          <a:p>
            <a:r>
              <a:t>misc/selective_discreteness_ramp_metering_review/reporting/rm12/bp_r/semantic_position_in_review_tree.md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BP-R Stage 3 selected the Laval--Daganzo continuum--particle/multilane hybrid family: lane-wise Kinematic Wave (KW) conservation coupled to selected entrants' constrained speed/position trajectories. Hybrid in this source means macroscopic streams plus selected microscopic kinetics, not merely lane resolution or a discretization. Our approved adaptation keeps continuous vehicle-equivalent population and zero-population restriction metadata. Restrictions are effects of traffic already counted in the field. Upstream continuous effective-rate permission acts before finite ramp propagation; permission is not actual merge discharge or a faithfully resolved binary signal. The mandatory merge uses a fixed ramp receiving share with unused capacity available to other eligible traffic. Mainline discretionary transfers remain sampled. This physical family is literature-supported, but the whole adapted module composition and its necessity/benefit are not source theorems.</a:t>
            </a:r>
          </a:p>
          <a:p/>
          <a:p>
            <a:r>
              <a:t>Sources:</a:t>
            </a:r>
          </a:p>
          <a:p>
            <a:r>
              <a:t>misc/selective_discreteness_ramp_metering_review/reporting/rm12/bp_r_stage3/findings_and_reference_gate.md</a:t>
            </a:r>
          </a:p>
          <a:p>
            <a:r>
              <a:t>misc/selective_discreteness_ramp_metering_review/reporting/rm12/bp_r_stage3/meter_boundary_gate.md</a:t>
            </a:r>
          </a:p>
          <a:p>
            <a:r>
              <a:t>misc/selective_discreteness_ramp_metering_review/reporting/rm12/bp_r_stage3/merge_allocation_gate.md</a:t>
            </a:r>
          </a:p>
          <a:p>
            <a:r>
              <a:t>misc/selective_discreteness_ramp_metering_review/reporting/rm12/bp_r_stage3/d2_forward/findings_and_field_gate.md</a:t>
            </a:r>
          </a:p>
          <a:p>
            <a:r>
              <a:t>https://escholarship.org/content/qt8w70q261/qt8w70q261.pdf</a:t>
            </a:r>
          </a:p>
          <a:p>
            <a:r>
              <a:t>https://bpb-us-e1.wpmucdn.com/sites.gatech.edu/dist/f/3571/files/2023/03/merges.pdf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 3 primary comparator was a mechanism-oriented present-condition mean service law; the companion was a congestion-triggered dynamic capacity drop model. Both are legitimate families, with different source domains. A's local stationary limits pass, but zero present entries is not a complete transient recovery state; B can impose a drop at sampled onset while the chosen reference has not yet created a moving restriction. These are bounded law/activation mismatches, not a proof that every aggregate model fails. T1 strengthens the primary state to distinguish startup, active effects and recovery. Transfer counter remainders supply supported event creation memory. Event times reconstruct motion only in the restricted free-ahead case; congestion changes recovery. Group counts/means lose position-speed association. M1 expands to spatial/kinetic groups; G1 selects exact distinct signatures first, without an engineering cost criterion or a concurrent reduced-model acceptance condition. Reductions are deferred until the exact reference chain is qualified.</a:t>
            </a:r>
          </a:p>
          <a:p/>
          <a:p>
            <a:r>
              <a:t>Sources:</a:t>
            </a:r>
          </a:p>
          <a:p>
            <a:r>
              <a:t>misc/selective_discreteness_ramp_metering_review/reporting/rm12/bp_r_stage3/dual_qualification_findings_and_scope_gate.md</a:t>
            </a:r>
          </a:p>
          <a:p>
            <a:r>
              <a:t>misc/selective_discreteness_ramp_metering_review/reporting/rm12/bp_r_stage3/event_memory_findings_and_gate.md</a:t>
            </a:r>
          </a:p>
          <a:p>
            <a:r>
              <a:t>misc/selective_discreteness_ramp_metering_review/reporting/rm12/bp_r_stage3/grouped_recovery_findings_and_gate.md</a:t>
            </a:r>
          </a:p>
          <a:p>
            <a:r>
              <a:t>misc/selective_discreteness_ramp_metering_review/reporting/rm12/bp_r_stage3/exact_information_findings_and_gate.md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Exact-first qualification retained all restriction signatures and own history, then bound sampled insertion E1: completed actual transfers create zero-population descriptors at the regular clock, with own updated counts and donor request-phase speed, no retrospective effect. K.A resolves braking when a queue is encountered, integrates actual distance, carries the ending speed and permits positive recovery at the next regular clock. Traffic counts must adjust for accepted transfers and be rebased on actual section crossing. The alignment ladder examined unchanged interfaces, explicit restriction-aware adaptation and a count/wave representation. Uniform whole-cell fields concretely lose retained empty gaps. Step 2 supports exact local two-record evolution; neither it nor step 3 closes all endogenous transfer/motion/birth interactions. Subsequent own-field transfer work qualifies additional bounded coupled examples. This is constructive partial support, not all-mode or indefinite evolution. The diagram is schematic; no new traffic trajectory is simulated.</a:t>
            </a:r>
          </a:p>
          <a:p/>
          <a:p>
            <a:r>
              <a:t>Sources:</a:t>
            </a:r>
          </a:p>
          <a:p>
            <a:r>
              <a:t>misc/selective_discreteness_ramp_metering_review/reporting/rm12/bp_r_stage3/sampled_insertion_findings.md</a:t>
            </a:r>
          </a:p>
          <a:p>
            <a:r>
              <a:t>misc/selective_discreteness_ramp_metering_review/reporting/rm12/bp_r_stage3/motion_contact_findings_and_gate.md</a:t>
            </a:r>
          </a:p>
          <a:p>
            <a:r>
              <a:t>misc/selective_discreteness_ramp_metering_review/reporting/rm12/bp_r_stage3/joined_step_findings_and_gate.md</a:t>
            </a:r>
          </a:p>
          <a:p>
            <a:r>
              <a:t>misc/selective_discreteness_ramp_metering_review/reporting/rm12/bp_r_stage3/alignment_ladder_findings.md</a:t>
            </a:r>
          </a:p>
          <a:p>
            <a:r>
              <a:t>misc/selective_discreteness_ramp_metering_review/reporting/rm12/bp_r_stage3/fixed_share_completion_findings_and_gate.md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primary page synthesizes the last completed D2 continuation. The whole-forward contract now consolidates upstream continuous admission, finite ramp propagation, lane-wise first-order field, own request/history sampling, T.A amount allowances, P.A held competition weights, N.A fixed ramp priority/unused receiving, D2 physical sender pooling, K.A old-record motion, accepted counts and completed E1 births. These are approved contract choices, with source/static/local support rather than whole-model adoption. The D2 static allocator has a general slack-resource invariance argument plus 5,832 exact cases, 8,292 strict donor/ramp lifts and 3,716 slack receiver lifts, all pass. This is not a traffic simulation or a whole-network existence result. A completed joint one-step field example includes quota exhaustion, wave contacts, a section crossing and two simultaneous births. The current Q.J.F.R field-carryover decision is open: A preserve completed profile (recommended), B qualify a projection. Autonomous repeated evolution, clearance, reached common-rate complete-TST leverage, independent reductions and derivative usefulness remain missing. Stage 3/67 open, Stage 4 unopened; do not infer mesoscopic necessity.</a:t>
            </a:r>
          </a:p>
          <a:p/>
          <a:p>
            <a:r>
              <a:t>Sources:</a:t>
            </a:r>
          </a:p>
          <a:p>
            <a:r>
              <a:t>misc/selective_discreteness_ramp_metering_review/reporting/rm12/bp_r_stage3/d2_forward/findings_and_field_gate.md</a:t>
            </a:r>
          </a:p>
          <a:p>
            <a:r>
              <a:t>misc/selective_discreteness_ramp_metering_review/synthesis/rm12/bp_r_stage3/d2_forward/forward_contract_and_qualification.md</a:t>
            </a:r>
          </a:p>
          <a:p>
            <a:r>
              <a:t>misc/selective_discreteness_ramp_metering_review/reporting/rm12/bp_r_stage3/fixed_share_completion_findings_and_gate.md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 attaches effects after completed actual transfers, not permission, green pulses or equal-size physical packets. An illustrative unit threshold sees 0.4 then 0.6 equivalents: no birth at the first clock, one at the second. The first amount already entered the population; its counter remainder survives pauses. Small terminal remainders still count in population/exits/TST even if no additional descriptor appears. Several simultaneous descriptors at one point get the same own count and distinct motion signatures, no artificial spacing or extra mass. The second example is the bounded moment-update gap: equal-probability speeds (0,20) and (10,10) have equal mean 10. Clipping individual speeds to an ahead limit of 10 gives means 5 and 10. Thus a mean alone cannot determine this recovery update. This is not a reached ramp-control failure or a proof against all richer compact statistics. Exact distinct records are selected before approximation; underlying moving-restriction trajectories and ordinary conserved traffic remain different parts of the state.</a:t>
            </a:r>
          </a:p>
          <a:p/>
          <a:p>
            <a:r>
              <a:t>Sources:</a:t>
            </a:r>
          </a:p>
          <a:p>
            <a:r>
              <a:t>misc/selective_discreteness_ramp_metering_review/reporting/rm12/bp_r_stage3/sampled_insertion_findings.md</a:t>
            </a:r>
          </a:p>
          <a:p>
            <a:r>
              <a:t>misc/selective_discreteness_ramp_metering_review/reporting/rm12/bp_r_stage3/event_memory_findings_and_gate.md</a:t>
            </a:r>
          </a:p>
          <a:p>
            <a:r>
              <a:t>misc/selective_discreteness_ramp_metering_review/reporting/rm12/bp_r_stage3/grouped_recovery_findings_and_gate.md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groups three consecutive closed methodological choices: T.A sampled requests are integrated mass allowances; P.A holds their original competition weights during the public step without a queue bonus; D2 shares the physical donor's available sending among active original requests without an additional theta-times-capacity rate ceiling. N.A still fixes the ramp's geometric share and permits unused receiving redistribution. Weights refresh on the next regular request clock; fulfilling an allowance closes that movement with no retry or enlarged amount. The late-arrival diagnostic is a 30m donor, u=30m/s, 1s step, n=.45eq, sampled lateral fraction .25 and Q=9/14eq/s. Traffic in the first 3m reaches the exit at .9s; through receiving is blocked and lateral receiving free. D1's extra .25Q rate ceiling would serve 9/560=.016071eq; approved D2 serves 9/140=.064286eq, both below d=.1125eq. These are distinct timing laws for the same request, not a hidden-state witness. D1 remains conditionally sound if an independently justified persistent direction-specific instantaneous cap exists. Current evidence does not require it. D2's fixed-weight static queue-invariance result is positive only for the finite allocator, not the whole endogenous evolution.</a:t>
            </a:r>
          </a:p>
          <a:p/>
          <a:p>
            <a:r>
              <a:t>Sources:</a:t>
            </a:r>
          </a:p>
          <a:p>
            <a:r>
              <a:t>misc/selective_discreteness_ramp_metering_review/reporting/rm12/bp_r_stage3/transfer_feedback_findings_and_gate.md</a:t>
            </a:r>
          </a:p>
          <a:p>
            <a:r>
              <a:t>misc/selective_discreteness_ramp_metering_review/reporting/rm12/bp_r_stage3/quota_allocation_findings_and_gate.md</a:t>
            </a:r>
          </a:p>
          <a:p>
            <a:r>
              <a:t>misc/selective_discreteness_ramp_metering_review/reporting/rm12/bp_r_stage3/fixed_share_completion_findings_and_gate.md</a:t>
            </a:r>
          </a:p>
          <a:p>
            <a:r>
              <a:t>misc/selective_discreteness_ramp_metering_review/reporting/rm12/bp_r_stage3/d2_forward/findings_and_field_gate.md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latest completed D2 pass supplies this ordinary-field diagnostic. Both 30m donors have mass .45eq, the same fixed-end counts and no restriction records. Their common sampled lateral allowance is .1125eq, through receiving is blocked, lateral receiving is free, and Q=9/14eq/s. The early field has jam density .15eq/m on the last 3m [27,30]. Sending starts immediately and the allowance is exhausted after .175s, giving .1125eq. The late field has the same jam block on [0,3]; its front reaches the exit at .9s and serves Q*.1=9/140=.064286eq. These are admissible first-order field/request diagnostics, not two certified reachable equal-history scenarios. A mass-plus-anchor reconstruction maps them to the same field, so conservation and exact retained records do not imply ordinary profile/timing preservation. A sufficiently resolved macroscopic field can distinguish them. No external exit before the end means one-step population-time is the same; no full-TST benefit or metadata necessity follows. Current Q.J.F.R remains open: A retain completed full profile is recommended; B qualify a finite numerical mass-and-anchor reconstruction is legitimate if its error/reference contract is justified. Neither selected by this presentation.</a:t>
            </a:r>
          </a:p>
          <a:p/>
          <a:p>
            <a:r>
              <a:t>Sources:</a:t>
            </a:r>
          </a:p>
          <a:p>
            <a:r>
              <a:t>misc/selective_discreteness_ramp_metering_review/reporting/rm12/bp_r_stage3/d2_forward/findings_and_field_gate.md</a:t>
            </a:r>
          </a:p>
          <a:p>
            <a:r>
              <a:t>misc/selective_discreteness_ramp_metering_review/synthesis/rm12/bp_r_stage3/d2_forward/forward_math.tex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all-stream total system time J is the integral until clearance of the whole not-yet-exited population: outside waiting, the finite ramp and every modeled mainline lane. Vehicle-equivalent seconds are the units. Mean time is J divided by the fixed total cohort mass if needed; this slide uses total time. Relocating waiting from mainline to ramp or outside does not improve this objective unless total exit timing changes. The population curves drawn here are conceptual layers, not calculated trajectories. The general sensitivity path is rate permission to actual admission/travel/queue, accepted transfers and moving effects, exits, then complete J. Structural topology, record membership and creation events require a declared derivative/event contract, not an unsupported global smoothness claim. Exact forward qualification, clearance and a reached intervention-sensitive response come before specific gradients. Strong independent spatial/memory/moment rivals and declared initial projections make the representation comparison fair. AD/finite-difference correctness and independent-reference directional usefulness are later distinct evidence products. No optimizer, SUMO, traffic simulation or numerical gradient was performed for this review or presentation. This is the discussion endpoint, not an automatic Stage 4 opening.</a:t>
            </a:r>
          </a:p>
          <a:p/>
          <a:p>
            <a:r>
              <a:t>Sources:</a:t>
            </a:r>
          </a:p>
          <a:p>
            <a:r>
              <a:t>misc/selective_discreteness_ramp_metering_review/synthesis/rm12/bp_r_stage3/d2_forward/forward_contract_and_qualification.md</a:t>
            </a:r>
          </a:p>
          <a:p>
            <a:r>
              <a:t>misc/selective_discreteness_ramp_metering_review/reporting/rm12/bp_r_stage3/baseline_review_scope_check.md</a:t>
            </a:r>
          </a:p>
          <a:p>
            <a:r>
              <a:t>misc/selective_discreteness_ramp_metering_review/rm12_30_provisional_four_stage_roadmap.md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weekly_vector_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weekly_vector_2.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weekly_vector_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weekly_vector_4.sv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metering: what should models retai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metering: what should models retain?</a:t>
            </a:r>
          </a:p>
        </p:txBody>
      </p:sp>
      <p:sp>
        <p:nvSpPr>
          <p:cNvPr id="3" name="body:From information hiding to an adequate prediction model"/>
          <p:cNvSpPr txBox="1"/>
          <p:nvPr/>
        </p:nvSpPr>
        <p:spPr>
          <a:xfrm>
            <a:off x="777240" y="1965960"/>
            <a:ext cx="10652760" cy="56692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From information hiding to an adequate prediction model</a:t>
            </a:r>
          </a:p>
        </p:txBody>
      </p:sp>
      <p:sp>
        <p:nvSpPr>
          <p:cNvPr id="4" name="body:Weekly methodology review · 9 October 2026"/>
          <p:cNvSpPr txBox="1"/>
          <p:nvPr/>
        </p:nvSpPr>
        <p:spPr>
          <a:xfrm>
            <a:off x="777240" y="2898648"/>
            <a:ext cx="10652760" cy="502920"/>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Weekly methodology review · 9 October 2026</a:t>
            </a:r>
          </a:p>
        </p:txBody>
      </p:sp>
      <p:sp>
        <p:nvSpPr>
          <p:cNvPr id="5" name="body:One local ramp merge · common rate decisions · complete system time / Source review and analytical checks; the research task remains open."/>
          <p:cNvSpPr txBox="1"/>
          <p:nvPr/>
        </p:nvSpPr>
        <p:spPr>
          <a:xfrm>
            <a:off x="777240" y="3813048"/>
            <a:ext cx="10652760" cy="86868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One local ramp merge · common rate decisions · complete system time</a:t>
            </a:r>
          </a:p>
          <a:p>
            <a:pPr algn="l">
              <a:spcBef>
                <a:spcPts val="0"/>
              </a:spcBef>
              <a:spcAft>
                <a:spcPts val="0"/>
              </a:spcAft>
              <a:defRPr sz="1800" b="0">
                <a:solidFill>
                  <a:srgbClr val="243341"/>
                </a:solidFill>
                <a:latin typeface="Calibri"/>
              </a:defRPr>
            </a:pPr>
            <a:r>
              <a:t>Source review and analytical checks; the research task remains open.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Content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Contents</a:t>
            </a:r>
          </a:p>
        </p:txBody>
      </p:sp>
      <p:sp>
        <p:nvSpPr>
          <p:cNvPr id="3" name="body:Group meeting · slides 3–10"/>
          <p:cNvSpPr txBox="1"/>
          <p:nvPr/>
        </p:nvSpPr>
        <p:spPr>
          <a:xfrm>
            <a:off x="749808" y="18288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Group meeting · slides 3–10</a:t>
            </a:r>
          </a:p>
        </p:txBody>
      </p:sp>
      <p:sp>
        <p:nvSpPr>
          <p:cNvPr id="4" name="body:Why the original information claim stalled"/>
          <p:cNvSpPr txBox="1"/>
          <p:nvPr/>
        </p:nvSpPr>
        <p:spPr>
          <a:xfrm>
            <a:off x="749808" y="248716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Why the original information claim stalled</a:t>
            </a:r>
          </a:p>
        </p:txBody>
      </p:sp>
      <p:sp>
        <p:nvSpPr>
          <p:cNvPr id="5" name="body:What backtracking changed, and what the new chain establishes"/>
          <p:cNvSpPr txBox="1"/>
          <p:nvPr/>
        </p:nvSpPr>
        <p:spPr>
          <a:xfrm>
            <a:off x="749808" y="31455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What backtracking changed, and what the new chain establishes</a:t>
            </a:r>
          </a:p>
        </p:txBody>
      </p:sp>
      <p:sp>
        <p:nvSpPr>
          <p:cNvPr id="6" name="body:Technical discussion · slides 11–14"/>
          <p:cNvSpPr txBox="1"/>
          <p:nvPr/>
        </p:nvSpPr>
        <p:spPr>
          <a:xfrm>
            <a:off x="749808" y="38039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Technical discussion · slides 11–14</a:t>
            </a:r>
          </a:p>
        </p:txBody>
      </p:sp>
      <p:sp>
        <p:nvSpPr>
          <p:cNvPr id="7" name="body:Creation and recovery; shared service; spatial fields; control evidence"/>
          <p:cNvSpPr txBox="1"/>
          <p:nvPr/>
        </p:nvSpPr>
        <p:spPr>
          <a:xfrm>
            <a:off x="749808" y="44622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Creation and recovery; shared service; spatial fields; control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Which traffic detail matters for control?"/>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Which traffic detail matters for control?</a:t>
            </a:r>
          </a:p>
        </p:txBody>
      </p:sp>
      <p:sp>
        <p:nvSpPr>
          <p:cNvPr id="3" name="body:A physical traffic effect is only the start of a control-relevant claim."/>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physical traffic effect is only the start of a control-relevant claim.</a:t>
            </a:r>
          </a:p>
        </p:txBody>
      </p:sp>
      <p:sp>
        <p:nvSpPr>
          <p:cNvPr id="4" name="body:1. What traffic detail is unresolved, or lost by a declared model?"/>
          <p:cNvSpPr txBox="1"/>
          <p:nvPr/>
        </p:nvSpPr>
        <p:spPr>
          <a:xfrm>
            <a:off x="749808" y="20116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1. What traffic detail is unresolved, or lost by a declared model?</a:t>
            </a:r>
          </a:p>
        </p:txBody>
      </p:sp>
      <p:sp>
        <p:nvSpPr>
          <p:cNvPr id="5" name="body:2. Can that detail change useful common ramp-rate decisions?"/>
          <p:cNvSpPr txBox="1"/>
          <p:nvPr/>
        </p:nvSpPr>
        <p:spPr>
          <a:xfrm>
            <a:off x="749808" y="27432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2. Can that detail change useful common ramp-rate decisions?</a:t>
            </a:r>
          </a:p>
        </p:txBody>
      </p:sp>
      <p:sp>
        <p:nvSpPr>
          <p:cNvPr id="6" name="body:3. Can its gradient predict improvement in complete system time?"/>
          <p:cNvSpPr txBox="1"/>
          <p:nvPr/>
        </p:nvSpPr>
        <p:spPr>
          <a:xfrm>
            <a:off x="749808" y="34747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3. Can its gradient predict improvement in complete system time?</a:t>
            </a:r>
          </a:p>
        </p:txBody>
      </p:sp>
      <p:sp>
        <p:nvSpPr>
          <p:cNvPr id="7" name="body:Keep genuine tasks and strong rivals; add assumptions only with justification."/>
          <p:cNvSpPr txBox="1"/>
          <p:nvPr/>
        </p:nvSpPr>
        <p:spPr>
          <a:xfrm>
            <a:off x="749808" y="49834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Keep genuine tasks and strong rivals; add assumptions only with justification.</a:t>
            </a:r>
          </a:p>
        </p:txBody>
      </p:sp>
      <p:sp>
        <p:nvSpPr>
          <p:cNvPr id="8" name="body:Separate physical support, state adequacy, control relevance and useful gradients."/>
          <p:cNvSpPr txBox="1"/>
          <p:nvPr/>
        </p:nvSpPr>
        <p:spPr>
          <a:xfrm>
            <a:off x="749808" y="55046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Separate physical support, state adequacy, control relevance and useful gradients.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Equal mass can still reveal the lane split"/>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Equal mass can still reveal the lane split</a:t>
            </a:r>
          </a:p>
        </p:txBody>
      </p:sp>
      <p:sp>
        <p:nvSpPr>
          <p:cNvPr id="3" name="body:Observed flow can reveal the very lane split that density alone hides."/>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Observed flow can reveal the very lane split that density alone hides.</a:t>
            </a:r>
          </a:p>
        </p:txBody>
      </p:sp>
      <p:grpSp>
        <p:nvGrpSpPr>
          <p:cNvPr id="24" name="diagram:equal mass with different observed flow"/>
          <p:cNvGrpSpPr/>
          <p:nvPr/>
        </p:nvGrpSpPr>
        <p:grpSpPr>
          <a:xfrm>
            <a:off x="914400" y="1920240"/>
            <a:ext cx="10076688" cy="2624328"/>
            <a:chOff x="914400" y="1920240"/>
            <a:chExt cx="10076688" cy="2624328"/>
          </a:xfrm>
        </p:grpSpPr>
        <p:sp>
          <p:nvSpPr>
            <p:cNvPr id="4" name="plot:Same total mass: 10"/>
            <p:cNvSpPr txBox="1"/>
            <p:nvPr/>
          </p:nvSpPr>
          <p:spPr>
            <a:xfrm>
              <a:off x="914400" y="1920240"/>
              <a:ext cx="44805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Same total mass: 10</a:t>
              </a:r>
            </a:p>
          </p:txBody>
        </p:sp>
        <p:sp>
          <p:nvSpPr>
            <p:cNvPr id="5" name="plot:Lane 1"/>
            <p:cNvSpPr txBox="1"/>
            <p:nvPr/>
          </p:nvSpPr>
          <p:spPr>
            <a:xfrm>
              <a:off x="914400" y="2560320"/>
              <a:ext cx="12344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Lane 1</a:t>
              </a:r>
            </a:p>
          </p:txBody>
        </p:sp>
        <p:sp>
          <p:nvSpPr>
            <p:cNvPr id="6" name="Rectangle 5"/>
            <p:cNvSpPr/>
            <p:nvPr/>
          </p:nvSpPr>
          <p:spPr>
            <a:xfrm>
              <a:off x="2212848" y="2569463"/>
              <a:ext cx="2606040" cy="30175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12848" y="2569463"/>
              <a:ext cx="521208" cy="30175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2"/>
            <p:cNvSpPr txBox="1"/>
            <p:nvPr/>
          </p:nvSpPr>
          <p:spPr>
            <a:xfrm>
              <a:off x="4864608" y="2560320"/>
              <a:ext cx="548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2</a:t>
              </a:r>
            </a:p>
          </p:txBody>
        </p:sp>
        <p:sp>
          <p:nvSpPr>
            <p:cNvPr id="9" name="plot:Lane 2"/>
            <p:cNvSpPr txBox="1"/>
            <p:nvPr/>
          </p:nvSpPr>
          <p:spPr>
            <a:xfrm>
              <a:off x="914400" y="3319272"/>
              <a:ext cx="12344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Lane 2</a:t>
              </a:r>
            </a:p>
          </p:txBody>
        </p:sp>
        <p:sp>
          <p:nvSpPr>
            <p:cNvPr id="10" name="Rectangle 9"/>
            <p:cNvSpPr/>
            <p:nvPr/>
          </p:nvSpPr>
          <p:spPr>
            <a:xfrm>
              <a:off x="2212848" y="3328415"/>
              <a:ext cx="2606040" cy="30175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12848" y="3328415"/>
              <a:ext cx="2084832" cy="301752"/>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ot:8"/>
            <p:cNvSpPr txBox="1"/>
            <p:nvPr/>
          </p:nvSpPr>
          <p:spPr>
            <a:xfrm>
              <a:off x="4864608" y="3319272"/>
              <a:ext cx="548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8</a:t>
              </a:r>
            </a:p>
          </p:txBody>
        </p:sp>
        <p:sp>
          <p:nvSpPr>
            <p:cNvPr id="13" name="plot:Observed total flow: 14"/>
            <p:cNvSpPr txBox="1"/>
            <p:nvPr/>
          </p:nvSpPr>
          <p:spPr>
            <a:xfrm>
              <a:off x="914400" y="4160520"/>
              <a:ext cx="44805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67D86"/>
                  </a:solidFill>
                  <a:latin typeface="Calibri"/>
                </a:defRPr>
              </a:pPr>
              <a:r>
                <a:t>Observed total flow: 14</a:t>
              </a:r>
            </a:p>
          </p:txBody>
        </p:sp>
        <p:sp>
          <p:nvSpPr>
            <p:cNvPr id="14" name="plot:Same total mass: 10"/>
            <p:cNvSpPr txBox="1"/>
            <p:nvPr/>
          </p:nvSpPr>
          <p:spPr>
            <a:xfrm>
              <a:off x="6492240" y="1920240"/>
              <a:ext cx="44805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Same total mass: 10</a:t>
              </a:r>
            </a:p>
          </p:txBody>
        </p:sp>
        <p:sp>
          <p:nvSpPr>
            <p:cNvPr id="15" name="plot:Lane 1"/>
            <p:cNvSpPr txBox="1"/>
            <p:nvPr/>
          </p:nvSpPr>
          <p:spPr>
            <a:xfrm>
              <a:off x="6492240" y="2560320"/>
              <a:ext cx="12344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Lane 1</a:t>
              </a:r>
            </a:p>
          </p:txBody>
        </p:sp>
        <p:sp>
          <p:nvSpPr>
            <p:cNvPr id="16" name="Rectangle 15"/>
            <p:cNvSpPr/>
            <p:nvPr/>
          </p:nvSpPr>
          <p:spPr>
            <a:xfrm>
              <a:off x="7790688" y="2569463"/>
              <a:ext cx="2606040" cy="30175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90688" y="2569463"/>
              <a:ext cx="1563624" cy="30175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lot:6"/>
            <p:cNvSpPr txBox="1"/>
            <p:nvPr/>
          </p:nvSpPr>
          <p:spPr>
            <a:xfrm>
              <a:off x="10442448" y="2560320"/>
              <a:ext cx="548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6</a:t>
              </a:r>
            </a:p>
          </p:txBody>
        </p:sp>
        <p:sp>
          <p:nvSpPr>
            <p:cNvPr id="19" name="plot:Lane 2"/>
            <p:cNvSpPr txBox="1"/>
            <p:nvPr/>
          </p:nvSpPr>
          <p:spPr>
            <a:xfrm>
              <a:off x="6492240" y="3319272"/>
              <a:ext cx="12344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Lane 2</a:t>
              </a:r>
            </a:p>
          </p:txBody>
        </p:sp>
        <p:sp>
          <p:nvSpPr>
            <p:cNvPr id="20" name="Rectangle 19"/>
            <p:cNvSpPr/>
            <p:nvPr/>
          </p:nvSpPr>
          <p:spPr>
            <a:xfrm>
              <a:off x="7790688" y="3328415"/>
              <a:ext cx="2606040" cy="30175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90688" y="3328415"/>
              <a:ext cx="1042416" cy="301752"/>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lot:4"/>
            <p:cNvSpPr txBox="1"/>
            <p:nvPr/>
          </p:nvSpPr>
          <p:spPr>
            <a:xfrm>
              <a:off x="10442448" y="3319272"/>
              <a:ext cx="548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4</a:t>
              </a:r>
            </a:p>
          </p:txBody>
        </p:sp>
        <p:sp>
          <p:nvSpPr>
            <p:cNvPr id="23" name="plot:Observed total flow: 12"/>
            <p:cNvSpPr txBox="1"/>
            <p:nvPr/>
          </p:nvSpPr>
          <p:spPr>
            <a:xfrm>
              <a:off x="6492240" y="4160520"/>
              <a:ext cx="44805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67D86"/>
                  </a:solidFill>
                  <a:latin typeface="Calibri"/>
                </a:defRPr>
              </a:pPr>
              <a:r>
                <a:t>Observed total flow: 12</a:t>
              </a:r>
            </a:p>
          </p:txBody>
        </p:sp>
      </p:grpSp>
      <p:pic>
        <p:nvPicPr>
          <p:cNvPr id="25" name="math:lane_observer" descr="lane_observer.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7958" y="4736592"/>
            <a:ext cx="9551323" cy="493776"/>
          </a:xfrm>
          <a:prstGeom prst="rect">
            <a:avLst/>
          </a:prstGeom>
        </p:spPr>
      </p:pic>
      <p:sp>
        <p:nvSpPr>
          <p:cNvPr id="26" name="body:Known complete state + exact public dynamics fix the future."/>
          <p:cNvSpPr txBox="1"/>
          <p:nvPr/>
        </p:nvSpPr>
        <p:spPr>
          <a:xfrm>
            <a:off x="749808" y="55321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Known complete state + exact public dynamics fix the future.</a:t>
            </a:r>
          </a:p>
        </p:txBody>
      </p:sp>
      <p:sp>
        <p:nvSpPr>
          <p:cNvPr id="27" name="body:This is a conditional obstruction, not a claim that all freeway detail is observable."/>
          <p:cNvSpPr txBox="1"/>
          <p:nvPr/>
        </p:nvSpPr>
        <p:spPr>
          <a:xfrm>
            <a:off x="749808" y="5971031"/>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This is a conditional obstruction, not a claim that all freeway detail is observable.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Physical support did not settle hiddennes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Physical support did not settle hiddenness</a:t>
            </a:r>
          </a:p>
        </p:txBody>
      </p:sp>
      <p:sp>
        <p:nvSpPr>
          <p:cNvPr id="3" name="body:Recovery and finite merge space are real leads; neither proved useful hiddenness."/>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Recovery and finite merge space are real leads; neither proved useful hiddenness.</a:t>
            </a:r>
          </a:p>
        </p:txBody>
      </p:sp>
      <p:grpSp>
        <p:nvGrpSpPr>
          <p:cNvPr id="18" name="diagram:supported recovery and finite merging geometry"/>
          <p:cNvGrpSpPr/>
          <p:nvPr/>
        </p:nvGrpSpPr>
        <p:grpSpPr>
          <a:xfrm>
            <a:off x="841248" y="1975104"/>
            <a:ext cx="10543032" cy="2505456"/>
            <a:chOff x="841248" y="1975104"/>
            <a:chExt cx="10543032" cy="2505456"/>
          </a:xfrm>
        </p:grpSpPr>
        <p:sp>
          <p:nvSpPr>
            <p:cNvPr id="4" name="plot:Recovery: a slow entrant accelerates"/>
            <p:cNvSpPr txBox="1"/>
            <p:nvPr/>
          </p:nvSpPr>
          <p:spPr>
            <a:xfrm>
              <a:off x="841248" y="1975104"/>
              <a:ext cx="512064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Recovery: a slow entrant accelerates</a:t>
              </a:r>
            </a:p>
          </p:txBody>
        </p:sp>
        <p:sp>
          <p:nvSpPr>
            <p:cNvPr id="5" name="Rectangle 4"/>
            <p:cNvSpPr/>
            <p:nvPr/>
          </p:nvSpPr>
          <p:spPr>
            <a:xfrm>
              <a:off x="960120" y="2926080"/>
              <a:ext cx="411480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2958084"/>
              <a:ext cx="1417320"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5184648" y="3054096"/>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2560320" y="2697480"/>
              <a:ext cx="0" cy="822960"/>
            </a:xfrm>
            <a:prstGeom prst="line">
              <a:avLst/>
            </a:prstGeom>
            <a:ln w="29209">
              <a:solidFill>
                <a:srgbClr val="A87532"/>
              </a:solidFill>
            </a:ln>
          </p:spPr>
          <p:style>
            <a:lnRef idx="2">
              <a:schemeClr val="accent1"/>
            </a:lnRef>
            <a:fillRef idx="0">
              <a:schemeClr val="accent1"/>
            </a:fillRef>
            <a:effectRef idx="1">
              <a:schemeClr val="accent1"/>
            </a:effectRef>
            <a:fontRef idx="minor">
              <a:schemeClr val="tx1"/>
            </a:fontRef>
          </p:style>
        </p:cxnSp>
        <p:sp>
          <p:nvSpPr>
            <p:cNvPr id="9" name="Right Arrow 8"/>
            <p:cNvSpPr/>
            <p:nvPr/>
          </p:nvSpPr>
          <p:spPr>
            <a:xfrm>
              <a:off x="2724912" y="2816352"/>
              <a:ext cx="411480" cy="182880"/>
            </a:xfrm>
            <a:prstGeom prst="rightArrow">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3410712" y="2816352"/>
              <a:ext cx="822960" cy="182880"/>
            </a:xfrm>
            <a:prstGeom prst="rightArrow">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ot:Slow effect → recovery along the road"/>
            <p:cNvSpPr txBox="1"/>
            <p:nvPr/>
          </p:nvSpPr>
          <p:spPr>
            <a:xfrm>
              <a:off x="960120" y="3703320"/>
              <a:ext cx="457200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Slow effect → recovery along the road</a:t>
              </a:r>
            </a:p>
          </p:txBody>
        </p:sp>
        <p:sp>
          <p:nvSpPr>
            <p:cNvPr id="12" name="plot:Finite lane: limited space to merge"/>
            <p:cNvSpPr txBox="1"/>
            <p:nvPr/>
          </p:nvSpPr>
          <p:spPr>
            <a:xfrm>
              <a:off x="6263640" y="1975104"/>
              <a:ext cx="512064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Finite lane: limited space to merge</a:t>
              </a:r>
            </a:p>
          </p:txBody>
        </p:sp>
        <p:sp>
          <p:nvSpPr>
            <p:cNvPr id="13" name="Rectangle 12"/>
            <p:cNvSpPr/>
            <p:nvPr/>
          </p:nvSpPr>
          <p:spPr>
            <a:xfrm>
              <a:off x="6373368" y="2816352"/>
              <a:ext cx="4251960" cy="36576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73368" y="3474720"/>
              <a:ext cx="2926080" cy="36576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9299448" y="3182112"/>
              <a:ext cx="530352" cy="292608"/>
            </a:xfrm>
            <a:prstGeom prst="line">
              <a:avLst/>
            </a:prstGeom>
            <a:ln w="26670">
              <a:solidFill>
                <a:srgbClr val="267D86"/>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299448" y="3474720"/>
              <a:ext cx="0" cy="365760"/>
            </a:xfrm>
            <a:prstGeom prst="line">
              <a:avLst/>
            </a:prstGeom>
            <a:ln w="26670">
              <a:solidFill>
                <a:srgbClr val="7D8791"/>
              </a:solidFill>
            </a:ln>
          </p:spPr>
          <p:style>
            <a:lnRef idx="2">
              <a:schemeClr val="accent1"/>
            </a:lnRef>
            <a:fillRef idx="0">
              <a:schemeClr val="accent1"/>
            </a:fillRef>
            <a:effectRef idx="1">
              <a:schemeClr val="accent1"/>
            </a:effectRef>
            <a:fontRef idx="minor">
              <a:schemeClr val="tx1"/>
            </a:fontRef>
          </p:style>
        </p:cxnSp>
        <p:sp>
          <p:nvSpPr>
            <p:cNvPr id="17" name="plot:Spatial macro can retain location"/>
            <p:cNvSpPr txBox="1"/>
            <p:nvPr/>
          </p:nvSpPr>
          <p:spPr>
            <a:xfrm>
              <a:off x="6419088" y="4096512"/>
              <a:ext cx="46634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Spatial macro can retain location</a:t>
              </a:r>
            </a:p>
          </p:txBody>
        </p:sp>
      </p:grpSp>
      <p:sp>
        <p:nvSpPr>
          <p:cNvPr id="19" name="body:Missing in both: a lawful residual after full history, linked to a useful rate action."/>
          <p:cNvSpPr txBox="1"/>
          <p:nvPr/>
        </p:nvSpPr>
        <p:spPr>
          <a:xfrm>
            <a:off x="749808" y="51480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Missing in both: a lawful residual after full history, linked to a useful rate action.</a:t>
            </a:r>
          </a:p>
        </p:txBody>
      </p:sp>
      <p:sp>
        <p:nvSpPr>
          <p:cNvPr id="20" name="body:Backtrack at the obstructing contract before adding more traffic mechanisms."/>
          <p:cNvSpPr txBox="1"/>
          <p:nvPr/>
        </p:nvSpPr>
        <p:spPr>
          <a:xfrm>
            <a:off x="749808" y="56692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Backtrack at the obstructing contract before adding more traffic mechanisms.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Backtracking: from unknown to unrepresented"/>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Backtracking: from unknown to unrepresented</a:t>
            </a:r>
          </a:p>
        </p:txBody>
      </p:sp>
      <p:sp>
        <p:nvSpPr>
          <p:cNvPr id="3" name="body:Known traffic can still be poorly represented by a particular model."/>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Known traffic can still be poorly represented by a particular model.</a:t>
            </a:r>
          </a:p>
        </p:txBody>
      </p:sp>
      <p:grpSp>
        <p:nvGrpSpPr>
          <p:cNvPr id="22" name="diagram:information-domain audit then common-scenario projection"/>
          <p:cNvGrpSpPr/>
          <p:nvPr/>
        </p:nvGrpSpPr>
        <p:grpSpPr>
          <a:xfrm>
            <a:off x="868680" y="1965960"/>
            <a:ext cx="10515600" cy="3172968"/>
            <a:chOff x="868680" y="1965960"/>
            <a:chExt cx="10515600" cy="3172968"/>
          </a:xfrm>
        </p:grpSpPr>
        <p:sp>
          <p:nvSpPr>
            <p:cNvPr id="4" name="plot:First: ground operational knowledge"/>
            <p:cNvSpPr txBox="1"/>
            <p:nvPr/>
          </p:nvSpPr>
          <p:spPr>
            <a:xfrm>
              <a:off x="868680" y="1965960"/>
              <a:ext cx="50292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First: ground operational knowledge</a:t>
              </a:r>
            </a:p>
          </p:txBody>
        </p:sp>
        <p:sp>
          <p:nvSpPr>
            <p:cNvPr id="5" name="Rectangle 4"/>
            <p:cNvSpPr/>
            <p:nvPr/>
          </p:nvSpPr>
          <p:spPr>
            <a:xfrm>
              <a:off x="1005840" y="2834640"/>
              <a:ext cx="4206240" cy="164592"/>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2331720" y="2560320"/>
              <a:ext cx="0" cy="649224"/>
            </a:xfrm>
            <a:prstGeom prst="line">
              <a:avLst/>
            </a:prstGeom>
            <a:ln w="34290">
              <a:solidFill>
                <a:srgbClr val="267D86"/>
              </a:solidFill>
            </a:ln>
          </p:spPr>
          <p:style>
            <a:lnRef idx="2">
              <a:schemeClr val="accent1"/>
            </a:lnRef>
            <a:fillRef idx="0">
              <a:schemeClr val="accent1"/>
            </a:fillRef>
            <a:effectRef idx="1">
              <a:schemeClr val="accent1"/>
            </a:effectRef>
            <a:fontRef idx="minor">
              <a:schemeClr val="tx1"/>
            </a:fontRef>
          </p:style>
        </p:cxnSp>
        <p:sp>
          <p:nvSpPr>
            <p:cNvPr id="7" name="plot:Detector inputs ≠ all accessible history"/>
            <p:cNvSpPr txBox="1"/>
            <p:nvPr/>
          </p:nvSpPr>
          <p:spPr>
            <a:xfrm>
              <a:off x="960120" y="3456432"/>
              <a:ext cx="48920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Detector inputs ≠ all accessible history</a:t>
              </a:r>
            </a:p>
          </p:txBody>
        </p:sp>
        <p:sp>
          <p:nvSpPr>
            <p:cNvPr id="8" name="plot:Knowledge contract stayed incomplete"/>
            <p:cNvSpPr txBox="1"/>
            <p:nvPr/>
          </p:nvSpPr>
          <p:spPr>
            <a:xfrm>
              <a:off x="960120" y="3959352"/>
              <a:ext cx="48463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Knowledge contract stayed incomplete</a:t>
              </a:r>
            </a:p>
          </p:txBody>
        </p:sp>
        <p:sp>
          <p:nvSpPr>
            <p:cNvPr id="9" name="plot:Then: test representation adequacy"/>
            <p:cNvSpPr txBox="1"/>
            <p:nvPr/>
          </p:nvSpPr>
          <p:spPr>
            <a:xfrm>
              <a:off x="6236208" y="1965960"/>
              <a:ext cx="50292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Then: test representation adequacy</a:t>
              </a:r>
            </a:p>
          </p:txBody>
        </p:sp>
        <p:sp>
          <p:nvSpPr>
            <p:cNvPr id="10" name="Rectangle 9"/>
            <p:cNvSpPr/>
            <p:nvPr/>
          </p:nvSpPr>
          <p:spPr>
            <a:xfrm>
              <a:off x="6400800" y="2670048"/>
              <a:ext cx="3822191"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2702052"/>
              <a:ext cx="1371600"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10332719" y="2798064"/>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955279" y="2532888"/>
              <a:ext cx="0" cy="713232"/>
            </a:xfrm>
            <a:prstGeom prst="line">
              <a:avLst/>
            </a:prstGeom>
            <a:ln w="2540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223760" y="3291840"/>
              <a:ext cx="685800" cy="457199"/>
            </a:xfrm>
            <a:prstGeom prst="line">
              <a:avLst/>
            </a:prstGeom>
            <a:ln w="20320">
              <a:solidFill>
                <a:srgbClr val="7D879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09560" y="3291840"/>
              <a:ext cx="1673352" cy="457199"/>
            </a:xfrm>
            <a:prstGeom prst="line">
              <a:avLst/>
            </a:prstGeom>
            <a:ln w="2032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446520" y="3895344"/>
              <a:ext cx="1051560" cy="292608"/>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4343400"/>
              <a:ext cx="1508760" cy="292608"/>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lot:Retained detail"/>
            <p:cNvSpPr txBox="1"/>
            <p:nvPr/>
          </p:nvSpPr>
          <p:spPr>
            <a:xfrm>
              <a:off x="6446520" y="4754880"/>
              <a:ext cx="23774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Retained detail</a:t>
              </a:r>
            </a:p>
          </p:txBody>
        </p:sp>
        <p:sp>
          <p:nvSpPr>
            <p:cNvPr id="19" name="Rectangle 18"/>
            <p:cNvSpPr/>
            <p:nvPr/>
          </p:nvSpPr>
          <p:spPr>
            <a:xfrm>
              <a:off x="9171432" y="3886200"/>
              <a:ext cx="1371600" cy="749808"/>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9281160" y="4050791"/>
              <a:ext cx="1170432" cy="438913"/>
            </a:xfrm>
            <a:prstGeom prst="line">
              <a:avLst/>
            </a:prstGeom>
            <a:ln w="25400">
              <a:solidFill>
                <a:srgbClr val="416F9B"/>
              </a:solidFill>
            </a:ln>
          </p:spPr>
          <p:style>
            <a:lnRef idx="2">
              <a:schemeClr val="accent1"/>
            </a:lnRef>
            <a:fillRef idx="0">
              <a:schemeClr val="accent1"/>
            </a:fillRef>
            <a:effectRef idx="1">
              <a:schemeClr val="accent1"/>
            </a:effectRef>
            <a:fontRef idx="minor">
              <a:schemeClr val="tx1"/>
            </a:fontRef>
          </p:style>
        </p:cxnSp>
        <p:sp>
          <p:nvSpPr>
            <p:cNvPr id="21" name="plot:Compact state"/>
            <p:cNvSpPr txBox="1"/>
            <p:nvPr/>
          </p:nvSpPr>
          <p:spPr>
            <a:xfrm>
              <a:off x="8732520" y="4754880"/>
              <a:ext cx="26517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Compact state</a:t>
              </a:r>
            </a:p>
          </p:txBody>
        </p:sp>
      </p:grpSp>
      <p:sp>
        <p:nvSpPr>
          <p:cNvPr id="23" name="body:Same physical scenario, rate choices and full objective; each model evolves its own state."/>
          <p:cNvSpPr txBox="1"/>
          <p:nvPr/>
        </p:nvSpPr>
        <p:spPr>
          <a:xfrm>
            <a:off x="749808" y="557784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Same physical scenario, rate choices and full objective; each model evolves its own state.</a:t>
            </a:r>
          </a:p>
        </p:txBody>
      </p:sp>
      <p:sp>
        <p:nvSpPr>
          <p:cNvPr id="24" name="body:If a compact summary preserves the response, that is a useful scientific result."/>
          <p:cNvSpPr txBox="1"/>
          <p:nvPr/>
        </p:nvSpPr>
        <p:spPr>
          <a:xfrm>
            <a:off x="749808" y="602589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If a compact summary preserves the response, that is a useful scientific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slow merge leaves a moving traffic effect"/>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A slow merge leaves a moving traffic effect</a:t>
            </a:r>
          </a:p>
        </p:txBody>
      </p:sp>
      <p:sp>
        <p:nvSpPr>
          <p:cNvPr id="3" name="body:A slow entrant can hold followers back while empty road opens ahead."/>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slow entrant can hold followers back while empty road opens ahead.</a:t>
            </a:r>
          </a:p>
        </p:txBody>
      </p:sp>
      <p:grpSp>
        <p:nvGrpSpPr>
          <p:cNvPr id="20" name="diagram:finite ramp and moving restriction in conserved lane flow"/>
          <p:cNvGrpSpPr/>
          <p:nvPr/>
        </p:nvGrpSpPr>
        <p:grpSpPr>
          <a:xfrm>
            <a:off x="841248" y="1883664"/>
            <a:ext cx="10396728" cy="3849624"/>
            <a:chOff x="841248" y="1883664"/>
            <a:chExt cx="10396728" cy="3849624"/>
          </a:xfrm>
        </p:grpSpPr>
        <p:sp>
          <p:nvSpPr>
            <p:cNvPr id="4" name="plot:Mainline lanes"/>
            <p:cNvSpPr txBox="1"/>
            <p:nvPr/>
          </p:nvSpPr>
          <p:spPr>
            <a:xfrm>
              <a:off x="841248" y="1883664"/>
              <a:ext cx="2057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Mainline lanes</a:t>
              </a:r>
            </a:p>
          </p:txBody>
        </p:sp>
        <p:sp>
          <p:nvSpPr>
            <p:cNvPr id="5" name="Rectangle 4"/>
            <p:cNvSpPr/>
            <p:nvPr/>
          </p:nvSpPr>
          <p:spPr>
            <a:xfrm>
              <a:off x="2834640" y="1993392"/>
              <a:ext cx="7863840" cy="42062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34640" y="2944368"/>
              <a:ext cx="7863840" cy="512064"/>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62072" y="2971800"/>
              <a:ext cx="2240280" cy="45720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5138928" y="2734056"/>
              <a:ext cx="0" cy="941831"/>
            </a:xfrm>
            <a:prstGeom prst="line">
              <a:avLst/>
            </a:prstGeom>
            <a:ln w="33020">
              <a:solidFill>
                <a:srgbClr val="A87532"/>
              </a:solidFill>
            </a:ln>
          </p:spPr>
          <p:style>
            <a:lnRef idx="2">
              <a:schemeClr val="accent1"/>
            </a:lnRef>
            <a:fillRef idx="0">
              <a:schemeClr val="accent1"/>
            </a:fillRef>
            <a:effectRef idx="1">
              <a:schemeClr val="accent1"/>
            </a:effectRef>
            <a:fontRef idx="minor">
              <a:schemeClr val="tx1"/>
            </a:fontRef>
          </p:style>
        </p:cxnSp>
        <p:sp>
          <p:nvSpPr>
            <p:cNvPr id="9" name="Right Arrow 8"/>
            <p:cNvSpPr/>
            <p:nvPr/>
          </p:nvSpPr>
          <p:spPr>
            <a:xfrm>
              <a:off x="5303520" y="3136392"/>
              <a:ext cx="484632" cy="164592"/>
            </a:xfrm>
            <a:prstGeom prst="rightArrow">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10835640" y="2130552"/>
              <a:ext cx="402336" cy="15544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10835640" y="3136392"/>
              <a:ext cx="402336" cy="15544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ot:Dense followers"/>
            <p:cNvSpPr txBox="1"/>
            <p:nvPr/>
          </p:nvSpPr>
          <p:spPr>
            <a:xfrm>
              <a:off x="2926080" y="3767328"/>
              <a:ext cx="25603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Dense followers</a:t>
              </a:r>
            </a:p>
          </p:txBody>
        </p:sp>
        <p:sp>
          <p:nvSpPr>
            <p:cNvPr id="13" name="plot:Gap ahead"/>
            <p:cNvSpPr txBox="1"/>
            <p:nvPr/>
          </p:nvSpPr>
          <p:spPr>
            <a:xfrm>
              <a:off x="5943600" y="3767328"/>
              <a:ext cx="25603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Gap ahead</a:t>
              </a:r>
            </a:p>
          </p:txBody>
        </p:sp>
        <p:sp>
          <p:nvSpPr>
            <p:cNvPr id="14" name="plot:Retained location + constrained speed"/>
            <p:cNvSpPr txBox="1"/>
            <p:nvPr/>
          </p:nvSpPr>
          <p:spPr>
            <a:xfrm>
              <a:off x="3840480" y="2414016"/>
              <a:ext cx="5166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Retained location + constrained speed</a:t>
              </a:r>
            </a:p>
          </p:txBody>
        </p:sp>
        <p:cxnSp>
          <p:nvCxnSpPr>
            <p:cNvPr id="15" name="Connector 14"/>
            <p:cNvCxnSpPr/>
            <p:nvPr/>
          </p:nvCxnSpPr>
          <p:spPr>
            <a:xfrm flipV="1">
              <a:off x="1508760" y="3474720"/>
              <a:ext cx="4023360" cy="1371600"/>
            </a:xfrm>
            <a:prstGeom prst="line">
              <a:avLst/>
            </a:prstGeom>
            <a:ln w="2540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508760" y="3785615"/>
              <a:ext cx="4023360" cy="1371601"/>
            </a:xfrm>
            <a:prstGeom prst="line">
              <a:avLst/>
            </a:prstGeom>
            <a:ln w="2540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331720" y="4562856"/>
              <a:ext cx="118872" cy="320040"/>
            </a:xfrm>
            <a:prstGeom prst="line">
              <a:avLst/>
            </a:prstGeom>
            <a:ln w="38100">
              <a:solidFill>
                <a:srgbClr val="A87532"/>
              </a:solidFill>
            </a:ln>
          </p:spPr>
          <p:style>
            <a:lnRef idx="2">
              <a:schemeClr val="accent1"/>
            </a:lnRef>
            <a:fillRef idx="0">
              <a:schemeClr val="accent1"/>
            </a:fillRef>
            <a:effectRef idx="1">
              <a:schemeClr val="accent1"/>
            </a:effectRef>
            <a:fontRef idx="minor">
              <a:schemeClr val="tx1"/>
            </a:fontRef>
          </p:style>
        </p:cxnSp>
        <p:sp>
          <p:nvSpPr>
            <p:cNvPr id="18" name="plot:Upstream rate permission"/>
            <p:cNvSpPr txBox="1"/>
            <p:nvPr/>
          </p:nvSpPr>
          <p:spPr>
            <a:xfrm>
              <a:off x="932688" y="5349240"/>
              <a:ext cx="320040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Upstream rate permission</a:t>
              </a:r>
            </a:p>
          </p:txBody>
        </p:sp>
        <p:sp>
          <p:nvSpPr>
            <p:cNvPr id="19" name="plot:Finite ramp; travel and queue"/>
            <p:cNvSpPr txBox="1"/>
            <p:nvPr/>
          </p:nvSpPr>
          <p:spPr>
            <a:xfrm>
              <a:off x="3108960" y="4471416"/>
              <a:ext cx="37033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Finite ramp; travel and queue</a:t>
              </a:r>
            </a:p>
          </p:txBody>
        </p:sp>
      </p:grpSp>
      <p:sp>
        <p:nvSpPr>
          <p:cNvPr id="21" name="body:Population stays continuous and conserved; a restriction adds no extra vehicle mass."/>
          <p:cNvSpPr txBox="1"/>
          <p:nvPr/>
        </p:nvSpPr>
        <p:spPr>
          <a:xfrm>
            <a:off x="749808" y="58887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Population stays continuous and conserved; a restriction adds no extra vehicle mass.</a:t>
            </a:r>
          </a:p>
        </p:txBody>
      </p:sp>
      <p:sp>
        <p:nvSpPr>
          <p:cNvPr id="22" name="body:Basis: Laval–Daganzo flow and moving effects; the joined task uses explicit adaptations."/>
          <p:cNvSpPr txBox="1"/>
          <p:nvPr/>
        </p:nvSpPr>
        <p:spPr>
          <a:xfrm>
            <a:off x="749808" y="62910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Basis: Laval–Daganzo flow and moving effects; the joined task uses explicit adaptations.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ecovery outlasts the current entry rate"/>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Recovery outlasts the current entry rate</a:t>
            </a:r>
          </a:p>
        </p:txBody>
      </p:sp>
      <p:sp>
        <p:nvSpPr>
          <p:cNvPr id="3" name="body:Stopping new merge entries does not instantly erase an old slow entrant."/>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Stopping new merge entries does not instantly erase an old slow entrant.</a:t>
            </a:r>
          </a:p>
        </p:txBody>
      </p:sp>
      <p:grpSp>
        <p:nvGrpSpPr>
          <p:cNvPr id="13" name="diagram:entry cessation and continuing restriction recovery"/>
          <p:cNvGrpSpPr/>
          <p:nvPr/>
        </p:nvGrpSpPr>
        <p:grpSpPr>
          <a:xfrm>
            <a:off x="868680" y="1874519"/>
            <a:ext cx="10131551" cy="3502153"/>
            <a:chOff x="868680" y="1874519"/>
            <a:chExt cx="10131551" cy="3502153"/>
          </a:xfrm>
        </p:grpSpPr>
        <p:sp>
          <p:nvSpPr>
            <p:cNvPr id="4" name="plot:Actual merge entries"/>
            <p:cNvSpPr txBox="1"/>
            <p:nvPr/>
          </p:nvSpPr>
          <p:spPr>
            <a:xfrm>
              <a:off x="868680" y="2121408"/>
              <a:ext cx="25603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Actual merge entries</a:t>
              </a:r>
            </a:p>
          </p:txBody>
        </p:sp>
        <p:sp>
          <p:nvSpPr>
            <p:cNvPr id="5" name="plot:Existing restriction"/>
            <p:cNvSpPr txBox="1"/>
            <p:nvPr/>
          </p:nvSpPr>
          <p:spPr>
            <a:xfrm>
              <a:off x="868680" y="3008376"/>
              <a:ext cx="25603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Existing restriction</a:t>
              </a:r>
            </a:p>
          </p:txBody>
        </p:sp>
        <p:sp>
          <p:nvSpPr>
            <p:cNvPr id="6" name="Rectangle 5"/>
            <p:cNvSpPr/>
            <p:nvPr/>
          </p:nvSpPr>
          <p:spPr>
            <a:xfrm>
              <a:off x="3657600" y="2176272"/>
              <a:ext cx="2971800" cy="2560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3063240"/>
              <a:ext cx="5303520" cy="256032"/>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629400" y="1874519"/>
              <a:ext cx="0" cy="2011681"/>
            </a:xfrm>
            <a:prstGeom prst="line">
              <a:avLst/>
            </a:prstGeom>
            <a:ln w="19050">
              <a:solidFill>
                <a:srgbClr val="7D8791"/>
              </a:solidFill>
            </a:ln>
          </p:spPr>
          <p:style>
            <a:lnRef idx="2">
              <a:schemeClr val="accent1"/>
            </a:lnRef>
            <a:fillRef idx="0">
              <a:schemeClr val="accent1"/>
            </a:fillRef>
            <a:effectRef idx="1">
              <a:schemeClr val="accent1"/>
            </a:effectRef>
            <a:fontRef idx="minor">
              <a:schemeClr val="tx1"/>
            </a:fontRef>
          </p:style>
        </p:cxnSp>
        <p:sp>
          <p:nvSpPr>
            <p:cNvPr id="9" name="plot:Entries stop"/>
            <p:cNvSpPr txBox="1"/>
            <p:nvPr/>
          </p:nvSpPr>
          <p:spPr>
            <a:xfrm>
              <a:off x="5486400" y="4050791"/>
              <a:ext cx="2880360" cy="384048"/>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Entries stop</a:t>
              </a:r>
            </a:p>
          </p:txBody>
        </p:sp>
        <p:sp>
          <p:nvSpPr>
            <p:cNvPr id="10" name="plot:Recovery continues"/>
            <p:cNvSpPr txBox="1"/>
            <p:nvPr/>
          </p:nvSpPr>
          <p:spPr>
            <a:xfrm>
              <a:off x="7351775" y="2569464"/>
              <a:ext cx="3648456"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Recovery continues</a:t>
              </a:r>
            </a:p>
          </p:txBody>
        </p:sp>
        <p:cxnSp>
          <p:nvCxnSpPr>
            <p:cNvPr id="11" name="Connector 10"/>
            <p:cNvCxnSpPr/>
            <p:nvPr/>
          </p:nvCxnSpPr>
          <p:spPr>
            <a:xfrm>
              <a:off x="3657600" y="4736592"/>
              <a:ext cx="6903720" cy="0"/>
            </a:xfrm>
            <a:prstGeom prst="line">
              <a:avLst/>
            </a:prstGeom>
            <a:ln w="2159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12" name="plot:Time after actual merging (schematic)"/>
            <p:cNvSpPr txBox="1"/>
            <p:nvPr/>
          </p:nvSpPr>
          <p:spPr>
            <a:xfrm>
              <a:off x="3657600" y="4992624"/>
              <a:ext cx="69494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Time after actual merging (schematic)</a:t>
              </a:r>
            </a:p>
          </p:txBody>
        </p:sp>
      </p:grpSp>
      <p:sp>
        <p:nvSpPr>
          <p:cNvPr id="14" name="body:Event counters can remember creation; congestion makes a simple recovery timer unsafe."/>
          <p:cNvSpPr txBox="1"/>
          <p:nvPr/>
        </p:nvSpPr>
        <p:spPr>
          <a:xfrm>
            <a:off x="749808" y="559612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Event counters can remember creation; congestion makes a simple recovery timer unsafe.</a:t>
            </a:r>
          </a:p>
        </p:txBody>
      </p:sp>
      <p:sp>
        <p:nvSpPr>
          <p:cNvPr id="15" name="body:Keep distinct position/speed effects first; test safe reduction after the chain is qualified."/>
          <p:cNvSpPr txBox="1"/>
          <p:nvPr/>
        </p:nvSpPr>
        <p:spPr>
          <a:xfrm>
            <a:off x="749808" y="604418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Keep distinct position/speed effects first; test safe reduction after the chain is qualified.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One traffic state must drive every component"/>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One traffic state must drive every component</a:t>
            </a:r>
          </a:p>
        </p:txBody>
      </p:sp>
      <p:sp>
        <p:nvSpPr>
          <p:cNvPr id="3" name="body:Exact effect records cannot act consistently on a field that has erased their gaps."/>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Exact effect records cannot act consistently on a field that has erased their gaps.</a:t>
            </a:r>
          </a:p>
        </p:txBody>
      </p:sp>
      <p:grpSp>
        <p:nvGrpSpPr>
          <p:cNvPr id="16" name="diagram:gap-preserving field versus cell average"/>
          <p:cNvGrpSpPr/>
          <p:nvPr/>
        </p:nvGrpSpPr>
        <p:grpSpPr>
          <a:xfrm>
            <a:off x="868680" y="1810512"/>
            <a:ext cx="9829800" cy="2825496"/>
            <a:chOff x="868680" y="1810512"/>
            <a:chExt cx="9829800" cy="2825496"/>
          </a:xfrm>
        </p:grpSpPr>
        <p:sp>
          <p:nvSpPr>
            <p:cNvPr id="4" name="plot:Completed spatial field"/>
            <p:cNvSpPr txBox="1"/>
            <p:nvPr/>
          </p:nvSpPr>
          <p:spPr>
            <a:xfrm>
              <a:off x="868680" y="1938528"/>
              <a:ext cx="3200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Completed spatial field</a:t>
              </a:r>
            </a:p>
          </p:txBody>
        </p:sp>
        <p:sp>
          <p:nvSpPr>
            <p:cNvPr id="5" name="Rectangle 4"/>
            <p:cNvSpPr/>
            <p:nvPr/>
          </p:nvSpPr>
          <p:spPr>
            <a:xfrm>
              <a:off x="4251960" y="1984248"/>
              <a:ext cx="6446520" cy="457200"/>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70248" y="2002536"/>
              <a:ext cx="1298448" cy="42062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12280" y="2002536"/>
              <a:ext cx="1344168" cy="42062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5596128" y="1810512"/>
              <a:ext cx="0" cy="850392"/>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65592" y="1810512"/>
              <a:ext cx="0" cy="850392"/>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sp>
          <p:nvSpPr>
            <p:cNvPr id="10" name="plot:Retained empty gap"/>
            <p:cNvSpPr txBox="1"/>
            <p:nvPr/>
          </p:nvSpPr>
          <p:spPr>
            <a:xfrm>
              <a:off x="5760720" y="2724912"/>
              <a:ext cx="2423160" cy="384048"/>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Retained empty gap</a:t>
              </a:r>
            </a:p>
          </p:txBody>
        </p:sp>
        <p:sp>
          <p:nvSpPr>
            <p:cNvPr id="11" name="plot:Whole-cell averaging"/>
            <p:cNvSpPr txBox="1"/>
            <p:nvPr/>
          </p:nvSpPr>
          <p:spPr>
            <a:xfrm>
              <a:off x="868680" y="3511296"/>
              <a:ext cx="3200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Whole-cell averaging</a:t>
              </a:r>
            </a:p>
          </p:txBody>
        </p:sp>
        <p:sp>
          <p:nvSpPr>
            <p:cNvPr id="12" name="Rectangle 11"/>
            <p:cNvSpPr/>
            <p:nvPr/>
          </p:nvSpPr>
          <p:spPr>
            <a:xfrm>
              <a:off x="4251960" y="3557016"/>
              <a:ext cx="6446520" cy="457200"/>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5596128" y="3383280"/>
              <a:ext cx="0" cy="859536"/>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165592" y="3383280"/>
              <a:ext cx="0" cy="859536"/>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sp>
          <p:nvSpPr>
            <p:cNvPr id="15" name="plot:Same total mass; wrong traffic between effects"/>
            <p:cNvSpPr txBox="1"/>
            <p:nvPr/>
          </p:nvSpPr>
          <p:spPr>
            <a:xfrm>
              <a:off x="4709160" y="4251960"/>
              <a:ext cx="56235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Same total mass; wrong traffic between effects</a:t>
              </a:r>
            </a:p>
          </p:txBody>
        </p:sp>
      </p:grpSp>
      <p:sp>
        <p:nvSpPr>
          <p:cNvPr id="17" name="body:Sampled births, queue braking and count attachments now have local certificates."/>
          <p:cNvSpPr txBox="1"/>
          <p:nvPr/>
        </p:nvSpPr>
        <p:spPr>
          <a:xfrm>
            <a:off x="749808" y="509320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Sampled births, queue braking and count attachments now have local certificates.</a:t>
            </a:r>
          </a:p>
        </p:txBody>
      </p:sp>
      <p:sp>
        <p:nvSpPr>
          <p:cNvPr id="18" name="body:Alignment review: unchanged averages fail; richer fields give partial constructive support."/>
          <p:cNvSpPr txBox="1"/>
          <p:nvPr/>
        </p:nvSpPr>
        <p:spPr>
          <a:xfrm>
            <a:off x="749808" y="555955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Alignment review: unchanged averages fail; richer fields give partial constructive support.</a:t>
            </a:r>
          </a:p>
        </p:txBody>
      </p:sp>
      <p:sp>
        <p:nvSpPr>
          <p:cNvPr id="19" name="body:One shared field must determine motion, lane transfers and the completed next state."/>
          <p:cNvSpPr txBox="1"/>
          <p:nvPr/>
        </p:nvSpPr>
        <p:spPr>
          <a:xfrm>
            <a:off x="749808" y="602589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One shared field must determine motion, lane transfers and the completed next state.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candidate chain; the task remains ope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A candidate chain; the task remains open</a:t>
            </a:r>
          </a:p>
        </p:txBody>
      </p:sp>
      <p:sp>
        <p:nvSpPr>
          <p:cNvPr id="3" name="body:Local checks support the chain; useful gradients are not established."/>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Local checks support the chain; useful gradients are not established.</a:t>
            </a:r>
          </a:p>
        </p:txBody>
      </p:sp>
      <p:grpSp>
        <p:nvGrpSpPr>
          <p:cNvPr id="11" name="diagram:causal sensitivity chain"/>
          <p:cNvGrpSpPr/>
          <p:nvPr/>
        </p:nvGrpSpPr>
        <p:grpSpPr>
          <a:xfrm>
            <a:off x="713232" y="1920240"/>
            <a:ext cx="10789920" cy="704088"/>
            <a:chOff x="713232" y="1920240"/>
            <a:chExt cx="10789920" cy="704088"/>
          </a:xfrm>
        </p:grpSpPr>
        <p:sp>
          <p:nvSpPr>
            <p:cNvPr id="4" name="plot:Rate permission / + finite ramp"/>
            <p:cNvSpPr txBox="1"/>
            <p:nvPr/>
          </p:nvSpPr>
          <p:spPr>
            <a:xfrm>
              <a:off x="713232" y="1920240"/>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Rate permission</a:t>
              </a:r>
            </a:p>
            <a:p>
              <a:pPr algn="ctr">
                <a:spcBef>
                  <a:spcPts val="0"/>
                </a:spcBef>
                <a:spcAft>
                  <a:spcPts val="0"/>
                </a:spcAft>
                <a:defRPr sz="1800" b="1">
                  <a:solidFill>
                    <a:srgbClr val="267D86"/>
                  </a:solidFill>
                  <a:latin typeface="Calibri"/>
                </a:defRPr>
              </a:pPr>
              <a:r>
                <a:t>+ finite ramp</a:t>
              </a:r>
            </a:p>
          </p:txBody>
        </p:sp>
        <p:sp>
          <p:nvSpPr>
            <p:cNvPr id="5" name="Right Arrow 4"/>
            <p:cNvSpPr/>
            <p:nvPr/>
          </p:nvSpPr>
          <p:spPr>
            <a:xfrm>
              <a:off x="3193542" y="219456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Lane-wise field / ↔ moving effects"/>
            <p:cNvSpPr txBox="1"/>
            <p:nvPr/>
          </p:nvSpPr>
          <p:spPr>
            <a:xfrm>
              <a:off x="3490722" y="1920240"/>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Lane-wise field</a:t>
              </a:r>
            </a:p>
            <a:p>
              <a:pPr algn="ctr">
                <a:spcBef>
                  <a:spcPts val="0"/>
                </a:spcBef>
                <a:spcAft>
                  <a:spcPts val="0"/>
                </a:spcAft>
                <a:defRPr sz="1800" b="1">
                  <a:solidFill>
                    <a:srgbClr val="267D86"/>
                  </a:solidFill>
                  <a:latin typeface="Calibri"/>
                </a:defRPr>
              </a:pPr>
              <a:r>
                <a:t>↔ moving effects</a:t>
              </a:r>
            </a:p>
          </p:txBody>
        </p:sp>
        <p:sp>
          <p:nvSpPr>
            <p:cNvPr id="7" name="Right Arrow 6"/>
            <p:cNvSpPr/>
            <p:nvPr/>
          </p:nvSpPr>
          <p:spPr>
            <a:xfrm>
              <a:off x="5971032" y="219456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Shared transfers / + own counts"/>
            <p:cNvSpPr txBox="1"/>
            <p:nvPr/>
          </p:nvSpPr>
          <p:spPr>
            <a:xfrm>
              <a:off x="6268212" y="1920240"/>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Shared transfers</a:t>
              </a:r>
            </a:p>
            <a:p>
              <a:pPr algn="ctr">
                <a:spcBef>
                  <a:spcPts val="0"/>
                </a:spcBef>
                <a:spcAft>
                  <a:spcPts val="0"/>
                </a:spcAft>
                <a:defRPr sz="1800" b="1">
                  <a:solidFill>
                    <a:srgbClr val="267D86"/>
                  </a:solidFill>
                  <a:latin typeface="Calibri"/>
                </a:defRPr>
              </a:pPr>
              <a:r>
                <a:t>+ own counts</a:t>
              </a:r>
            </a:p>
          </p:txBody>
        </p:sp>
        <p:sp>
          <p:nvSpPr>
            <p:cNvPr id="9" name="Right Arrow 8"/>
            <p:cNvSpPr/>
            <p:nvPr/>
          </p:nvSpPr>
          <p:spPr>
            <a:xfrm>
              <a:off x="8748522" y="219456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lot:Sampled births / + next state"/>
            <p:cNvSpPr txBox="1"/>
            <p:nvPr/>
          </p:nvSpPr>
          <p:spPr>
            <a:xfrm>
              <a:off x="9045702" y="1920240"/>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Sampled births</a:t>
              </a:r>
            </a:p>
            <a:p>
              <a:pPr algn="ctr">
                <a:spcBef>
                  <a:spcPts val="0"/>
                </a:spcBef>
                <a:spcAft>
                  <a:spcPts val="0"/>
                </a:spcAft>
                <a:defRPr sz="1800" b="1">
                  <a:solidFill>
                    <a:srgbClr val="267D86"/>
                  </a:solidFill>
                  <a:latin typeface="Calibri"/>
                </a:defRPr>
              </a:pPr>
              <a:r>
                <a:t>+ next state</a:t>
              </a:r>
            </a:p>
          </p:txBody>
        </p:sp>
      </p:grpSp>
      <p:sp>
        <p:nvSpPr>
          <p:cNvPr id="12" name="body:Established: continuous accounting, selected service rules and local coupled certificates."/>
          <p:cNvSpPr txBox="1"/>
          <p:nvPr/>
        </p:nvSpPr>
        <p:spPr>
          <a:xfrm>
            <a:off x="749808" y="33741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Established: continuous accounting, selected service rules and local coupled certificates.</a:t>
            </a:r>
          </a:p>
        </p:txBody>
      </p:sp>
      <p:sp>
        <p:nvSpPr>
          <p:cNvPr id="13" name="body:Static shared-service check: queue growth alone does not earn extra priority."/>
          <p:cNvSpPr txBox="1"/>
          <p:nvPr/>
        </p:nvSpPr>
        <p:spPr>
          <a:xfrm>
            <a:off x="749808" y="39319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Static shared-service check: queue growth alone does not earn extra priority.</a:t>
            </a:r>
          </a:p>
        </p:txBody>
      </p:sp>
      <p:sp>
        <p:nvSpPr>
          <p:cNvPr id="14" name="body:Open now: the ordinary traffic profile preserved at the next timestep."/>
          <p:cNvSpPr txBox="1"/>
          <p:nvPr/>
        </p:nvSpPr>
        <p:spPr>
          <a:xfrm>
            <a:off x="749808" y="44897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Open now: the ordinary traffic profile preserved at the next timestep.</a:t>
            </a:r>
          </a:p>
        </p:txBody>
      </p:sp>
      <p:sp>
        <p:nvSpPr>
          <p:cNvPr id="15" name="body:Still needed: repeated evolution, clearance and full-system control response."/>
          <p:cNvSpPr txBox="1"/>
          <p:nvPr/>
        </p:nvSpPr>
        <p:spPr>
          <a:xfrm>
            <a:off x="749808" y="50474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Still needed: repeated evolution, clearance and full-system control response.</a:t>
            </a:r>
          </a:p>
        </p:txBody>
      </p:sp>
      <p:sp>
        <p:nvSpPr>
          <p:cNvPr id="16" name="body:Then: fair independent reductions, gradient correctness and decision usefulness."/>
          <p:cNvSpPr txBox="1"/>
          <p:nvPr/>
        </p:nvSpPr>
        <p:spPr>
          <a:xfrm>
            <a:off x="749808" y="56052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Then: fair independent reductions, gradient correctness and decision usefulness.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effect creation and recovery"/>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effect creation and recovery</a:t>
            </a:r>
          </a:p>
        </p:txBody>
      </p:sp>
      <p:sp>
        <p:nvSpPr>
          <p:cNvPr id="3" name="body:A transfer counter creates an effect record; it never creates extra traffic."/>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transfer counter creates an effect record; it never creates extra traffic.</a:t>
            </a:r>
          </a:p>
        </p:txBody>
      </p:sp>
      <p:grpSp>
        <p:nvGrpSpPr>
          <p:cNvPr id="12" name="diagram:continuous actual mass and sampled descriptor threshold"/>
          <p:cNvGrpSpPr/>
          <p:nvPr/>
        </p:nvGrpSpPr>
        <p:grpSpPr>
          <a:xfrm>
            <a:off x="914400" y="1920240"/>
            <a:ext cx="9966960" cy="1728216"/>
            <a:chOff x="914400" y="1920240"/>
            <a:chExt cx="9966960" cy="1728216"/>
          </a:xfrm>
        </p:grpSpPr>
        <p:sp>
          <p:nvSpPr>
            <p:cNvPr id="4" name="plot:Illustrative threshold: 1 equivalent"/>
            <p:cNvSpPr txBox="1"/>
            <p:nvPr/>
          </p:nvSpPr>
          <p:spPr>
            <a:xfrm>
              <a:off x="914400" y="1920240"/>
              <a:ext cx="50292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Illustrative threshold: 1 equivalent</a:t>
              </a:r>
            </a:p>
          </p:txBody>
        </p:sp>
        <p:sp>
          <p:nvSpPr>
            <p:cNvPr id="5" name="Rectangle 4"/>
            <p:cNvSpPr/>
            <p:nvPr/>
          </p:nvSpPr>
          <p:spPr>
            <a:xfrm>
              <a:off x="932688" y="2660904"/>
              <a:ext cx="7772400" cy="219456"/>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2688" y="2660904"/>
              <a:ext cx="3108960" cy="219456"/>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41648" y="2660904"/>
              <a:ext cx="4663440" cy="219456"/>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4041648" y="2523744"/>
              <a:ext cx="0" cy="649224"/>
            </a:xfrm>
            <a:prstGeom prst="line">
              <a:avLst/>
            </a:prstGeom>
            <a:ln w="2159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705088" y="2523744"/>
              <a:ext cx="0" cy="649224"/>
            </a:xfrm>
            <a:prstGeom prst="line">
              <a:avLst/>
            </a:prstGeom>
            <a:ln w="27940">
              <a:solidFill>
                <a:srgbClr val="A87532"/>
              </a:solidFill>
            </a:ln>
          </p:spPr>
          <p:style>
            <a:lnRef idx="2">
              <a:schemeClr val="accent1"/>
            </a:lnRef>
            <a:fillRef idx="0">
              <a:schemeClr val="accent1"/>
            </a:fillRef>
            <a:effectRef idx="1">
              <a:schemeClr val="accent1"/>
            </a:effectRef>
            <a:fontRef idx="minor">
              <a:schemeClr val="tx1"/>
            </a:fontRef>
          </p:style>
        </p:cxnSp>
        <p:sp>
          <p:nvSpPr>
            <p:cNvPr id="10" name="plot:0.4: no new record"/>
            <p:cNvSpPr txBox="1"/>
            <p:nvPr/>
          </p:nvSpPr>
          <p:spPr>
            <a:xfrm>
              <a:off x="932688" y="3264408"/>
              <a:ext cx="32918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0.4: no new record</a:t>
              </a:r>
            </a:p>
          </p:txBody>
        </p:sp>
        <p:sp>
          <p:nvSpPr>
            <p:cNvPr id="11" name="plot:Then 0.6: one record at the next update"/>
            <p:cNvSpPr txBox="1"/>
            <p:nvPr/>
          </p:nvSpPr>
          <p:spPr>
            <a:xfrm>
              <a:off x="4572000" y="3264408"/>
              <a:ext cx="6309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Then 0.6: one record at the next update</a:t>
              </a:r>
            </a:p>
          </p:txBody>
        </p:sp>
      </p:grpSp>
      <p:sp>
        <p:nvSpPr>
          <p:cNvPr id="13" name="body:Counter progress persists when entries pause; all accepted mass stays accounted for."/>
          <p:cNvSpPr txBox="1"/>
          <p:nvPr/>
        </p:nvSpPr>
        <p:spPr>
          <a:xfrm>
            <a:off x="749808" y="4014215"/>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Counter progress persists when entries pause; all accepted mass stays accounted for.</a:t>
            </a:r>
          </a:p>
        </p:txBody>
      </p:sp>
      <p:sp>
        <p:nvSpPr>
          <p:cNvPr id="14" name="body:Recovery also needs the traffic ahead: identical mean speeds can evolve differently."/>
          <p:cNvSpPr txBox="1"/>
          <p:nvPr/>
        </p:nvSpPr>
        <p:spPr>
          <a:xfrm>
            <a:off x="749808" y="45171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Recovery also needs the traffic ahead: identical mean speeds can evolve differently.</a:t>
            </a:r>
          </a:p>
        </p:txBody>
      </p:sp>
      <p:pic>
        <p:nvPicPr>
          <p:cNvPr id="15" name="math:mean_braking" descr="mean_braking.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8805" y="5138928"/>
            <a:ext cx="5062197" cy="97840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amounts versus rate ceiling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amounts versus rate ceilings</a:t>
            </a:r>
          </a:p>
        </p:txBody>
      </p:sp>
      <p:sp>
        <p:nvSpPr>
          <p:cNvPr id="3" name="body:A 25% lane-change request limits mass; it need not limit instantaneous sending."/>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25% lane-change request limits mass; it need not limit instantaneous sending.</a:t>
            </a:r>
          </a:p>
        </p:txBody>
      </p:sp>
      <p:pic>
        <p:nvPicPr>
          <p:cNvPr id="4" name="math:amount_and_service" descr="amount_and_servic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8648" y="1828800"/>
            <a:ext cx="8457374" cy="1115568"/>
          </a:xfrm>
          <a:prstGeom prst="rect">
            <a:avLst/>
          </a:prstGeom>
        </p:spPr>
      </p:pic>
      <p:grpSp>
        <p:nvGrpSpPr>
          <p:cNvPr id="12" name="diagram:same late arrival under two explicit sender rules"/>
          <p:cNvGrpSpPr/>
          <p:nvPr/>
        </p:nvGrpSpPr>
        <p:grpSpPr>
          <a:xfrm>
            <a:off x="941832" y="3520440"/>
            <a:ext cx="9848088" cy="1801368"/>
            <a:chOff x="941832" y="3520440"/>
            <a:chExt cx="9848088" cy="1801368"/>
          </a:xfrm>
        </p:grpSpPr>
        <p:sp>
          <p:nvSpPr>
            <p:cNvPr id="5" name="plot:Extra direction-specific rate cap"/>
            <p:cNvSpPr txBox="1"/>
            <p:nvPr/>
          </p:nvSpPr>
          <p:spPr>
            <a:xfrm>
              <a:off x="941832" y="3520440"/>
              <a:ext cx="42062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Extra direction-specific rate cap</a:t>
              </a:r>
            </a:p>
          </p:txBody>
        </p:sp>
        <p:sp>
          <p:nvSpPr>
            <p:cNvPr id="6" name="plot:Accepted: shared sending"/>
            <p:cNvSpPr txBox="1"/>
            <p:nvPr/>
          </p:nvSpPr>
          <p:spPr>
            <a:xfrm>
              <a:off x="941832" y="4343400"/>
              <a:ext cx="4553712"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67D86"/>
                  </a:solidFill>
                  <a:latin typeface="Calibri"/>
                </a:defRPr>
              </a:pPr>
              <a:r>
                <a:t>Accepted: shared sending</a:t>
              </a:r>
            </a:p>
          </p:txBody>
        </p:sp>
        <p:sp>
          <p:nvSpPr>
            <p:cNvPr id="7" name="Rectangle 6"/>
            <p:cNvSpPr/>
            <p:nvPr/>
          </p:nvSpPr>
          <p:spPr>
            <a:xfrm>
              <a:off x="5577840" y="3602736"/>
              <a:ext cx="4315968" cy="25603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0" y="3602736"/>
              <a:ext cx="1078992" cy="256032"/>
            </a:xfrm>
            <a:prstGeom prst="rect">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4425696"/>
              <a:ext cx="4315968" cy="25603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0" y="4425696"/>
              <a:ext cx="4315968" cy="2560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ot:Accepted mass in the final 0.1 s"/>
            <p:cNvSpPr txBox="1"/>
            <p:nvPr/>
          </p:nvSpPr>
          <p:spPr>
            <a:xfrm>
              <a:off x="5577840" y="4937760"/>
              <a:ext cx="52120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Accepted mass in the final 0.1 s</a:t>
              </a:r>
            </a:p>
          </p:txBody>
        </p:sp>
      </p:grpSp>
      <p:sp>
        <p:nvSpPr>
          <p:cNvPr id="13" name="body:Through is blocked; the lateral target is free; the amount allowance is not exhausted."/>
          <p:cNvSpPr txBox="1"/>
          <p:nvPr/>
        </p:nvSpPr>
        <p:spPr>
          <a:xfrm>
            <a:off x="749808" y="554126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Through is blocked; the lateral target is free; the amount allowance is not exhausted.</a:t>
            </a:r>
          </a:p>
        </p:txBody>
      </p:sp>
      <p:sp>
        <p:nvSpPr>
          <p:cNvPr id="14" name="body:Queue growth changes availability, not the fixed competition weight or allowed mass."/>
          <p:cNvSpPr txBox="1"/>
          <p:nvPr/>
        </p:nvSpPr>
        <p:spPr>
          <a:xfrm>
            <a:off x="749808" y="6007607"/>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Queue growth changes availability, not the fixed competition weight or allowed mass.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records do not preserve the field"/>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records do not preserve the field</a:t>
            </a:r>
          </a:p>
        </p:txBody>
      </p:sp>
      <p:sp>
        <p:nvSpPr>
          <p:cNvPr id="3" name="body:Where the same mass sits determines when it can reach the transfer port."/>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Where the same mass sits determines when it can reach the transfer port.</a:t>
            </a:r>
          </a:p>
        </p:txBody>
      </p:sp>
      <p:grpSp>
        <p:nvGrpSpPr>
          <p:cNvPr id="16" name="diagram:same cell totals different physical arrival times"/>
          <p:cNvGrpSpPr/>
          <p:nvPr/>
        </p:nvGrpSpPr>
        <p:grpSpPr>
          <a:xfrm>
            <a:off x="950976" y="1938528"/>
            <a:ext cx="10058400" cy="3621024"/>
            <a:chOff x="950976" y="1938528"/>
            <a:chExt cx="10058400" cy="3621024"/>
          </a:xfrm>
        </p:grpSpPr>
        <p:sp>
          <p:nvSpPr>
            <p:cNvPr id="4" name="plot:Same 30 m cell; 0.45 equivalents; same request and boundary counts"/>
            <p:cNvSpPr txBox="1"/>
            <p:nvPr/>
          </p:nvSpPr>
          <p:spPr>
            <a:xfrm>
              <a:off x="950976" y="1938528"/>
              <a:ext cx="99669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Same 30 m cell; 0.45 equivalents; same request and boundary counts</a:t>
              </a:r>
            </a:p>
          </p:txBody>
        </p:sp>
        <p:sp>
          <p:nvSpPr>
            <p:cNvPr id="5" name="plot:Traffic at the exit"/>
            <p:cNvSpPr txBox="1"/>
            <p:nvPr/>
          </p:nvSpPr>
          <p:spPr>
            <a:xfrm>
              <a:off x="950976" y="2761488"/>
              <a:ext cx="2880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Traffic at the exit</a:t>
              </a:r>
            </a:p>
          </p:txBody>
        </p:sp>
        <p:sp>
          <p:nvSpPr>
            <p:cNvPr id="6" name="Rectangle 5"/>
            <p:cNvSpPr/>
            <p:nvPr/>
          </p:nvSpPr>
          <p:spPr>
            <a:xfrm>
              <a:off x="3968496" y="2770632"/>
              <a:ext cx="598932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8884" y="2802636"/>
              <a:ext cx="598932" cy="36576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10067544" y="2898648"/>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ot:Immediate service; 0.1125 equivalents transferred"/>
            <p:cNvSpPr txBox="1"/>
            <p:nvPr/>
          </p:nvSpPr>
          <p:spPr>
            <a:xfrm>
              <a:off x="3968496" y="3429000"/>
              <a:ext cx="6729984"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Immediate service; 0.1125 equivalents transferred</a:t>
              </a:r>
            </a:p>
          </p:txBody>
        </p:sp>
        <p:sp>
          <p:nvSpPr>
            <p:cNvPr id="10" name="plot:Traffic at the entrance"/>
            <p:cNvSpPr txBox="1"/>
            <p:nvPr/>
          </p:nvSpPr>
          <p:spPr>
            <a:xfrm>
              <a:off x="950976" y="4187952"/>
              <a:ext cx="2880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Traffic at the entrance</a:t>
              </a:r>
            </a:p>
          </p:txBody>
        </p:sp>
        <p:sp>
          <p:nvSpPr>
            <p:cNvPr id="11" name="Rectangle 10"/>
            <p:cNvSpPr/>
            <p:nvPr/>
          </p:nvSpPr>
          <p:spPr>
            <a:xfrm>
              <a:off x="3968496" y="4197096"/>
              <a:ext cx="598932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8496" y="4229100"/>
              <a:ext cx="598932"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10067544" y="4325112"/>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736592" y="4919472"/>
              <a:ext cx="5212080" cy="0"/>
            </a:xfrm>
            <a:prstGeom prst="line">
              <a:avLst/>
            </a:prstGeom>
            <a:ln w="22860">
              <a:solidFill>
                <a:srgbClr val="416F9B"/>
              </a:solidFill>
              <a:tailEnd type="triangle"/>
            </a:ln>
          </p:spPr>
          <p:style>
            <a:lnRef idx="2">
              <a:schemeClr val="accent1"/>
            </a:lnRef>
            <a:fillRef idx="0">
              <a:schemeClr val="accent1"/>
            </a:fillRef>
            <a:effectRef idx="1">
              <a:schemeClr val="accent1"/>
            </a:effectRef>
            <a:fontRef idx="minor">
              <a:schemeClr val="tx1"/>
            </a:fontRef>
          </p:style>
        </p:cxnSp>
        <p:sp>
          <p:nvSpPr>
            <p:cNvPr id="15" name="plot:Arrival at 0.9 s; 0.0643 equivalents transferred"/>
            <p:cNvSpPr txBox="1"/>
            <p:nvPr/>
          </p:nvSpPr>
          <p:spPr>
            <a:xfrm>
              <a:off x="3968496" y="5175504"/>
              <a:ext cx="70408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Arrival at 0.9 s; 0.0643 equivalents transferred</a:t>
              </a:r>
            </a:p>
          </p:txBody>
        </p:sp>
      </p:grpSp>
      <p:sp>
        <p:nvSpPr>
          <p:cNvPr id="17" name="body:A spatial macro model can retain this difference; it is not an identity-necessity result."/>
          <p:cNvSpPr txBox="1"/>
          <p:nvPr/>
        </p:nvSpPr>
        <p:spPr>
          <a:xfrm>
            <a:off x="749808" y="574243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spatial macro model can retain this difference; it is not an identity-necessity result.</a:t>
            </a:r>
          </a:p>
        </p:txBody>
      </p:sp>
      <p:sp>
        <p:nvSpPr>
          <p:cNvPr id="18" name="body:Open choice: carry the completed profile, or qualify an explicit numerical reconstruction."/>
          <p:cNvSpPr txBox="1"/>
          <p:nvPr/>
        </p:nvSpPr>
        <p:spPr>
          <a:xfrm>
            <a:off x="749808" y="614476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Open choice: carry the completed profile, or qualify an explicit numerical reconstruction.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the useful-gradient evidence chai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the useful-gradient evidence chain</a:t>
            </a:r>
          </a:p>
        </p:txBody>
      </p:sp>
      <p:sp>
        <p:nvSpPr>
          <p:cNvPr id="3" name="body:A useful direction must improve complete exit timing, including traffic held back."/>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useful direction must improve complete exit timing, including traffic held back.</a:t>
            </a:r>
          </a:p>
        </p:txBody>
      </p:sp>
      <p:grpSp>
        <p:nvGrpSpPr>
          <p:cNvPr id="11" name="diagram:all-stream population included in system time"/>
          <p:cNvGrpSpPr/>
          <p:nvPr/>
        </p:nvGrpSpPr>
        <p:grpSpPr>
          <a:xfrm>
            <a:off x="941832" y="2002536"/>
            <a:ext cx="9802368" cy="2276856"/>
            <a:chOff x="941832" y="2002536"/>
            <a:chExt cx="9802368" cy="2276856"/>
          </a:xfrm>
        </p:grpSpPr>
        <p:sp>
          <p:nvSpPr>
            <p:cNvPr id="4" name="plot:Waiting outside"/>
            <p:cNvSpPr txBox="1"/>
            <p:nvPr/>
          </p:nvSpPr>
          <p:spPr>
            <a:xfrm>
              <a:off x="941832" y="2002536"/>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Waiting outside</a:t>
              </a:r>
            </a:p>
          </p:txBody>
        </p:sp>
        <p:sp>
          <p:nvSpPr>
            <p:cNvPr id="5" name="Rectangle 4"/>
            <p:cNvSpPr/>
            <p:nvPr/>
          </p:nvSpPr>
          <p:spPr>
            <a:xfrm>
              <a:off x="4069080" y="2020824"/>
              <a:ext cx="3977639" cy="283464"/>
            </a:xfrm>
            <a:prstGeom prst="rect">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On the ramp"/>
            <p:cNvSpPr txBox="1"/>
            <p:nvPr/>
          </p:nvSpPr>
          <p:spPr>
            <a:xfrm>
              <a:off x="941832" y="2688336"/>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 the ramp</a:t>
              </a:r>
            </a:p>
          </p:txBody>
        </p:sp>
        <p:sp>
          <p:nvSpPr>
            <p:cNvPr id="7" name="Rectangle 6"/>
            <p:cNvSpPr/>
            <p:nvPr/>
          </p:nvSpPr>
          <p:spPr>
            <a:xfrm>
              <a:off x="4069080" y="2706624"/>
              <a:ext cx="3063240" cy="283464"/>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On the mainline"/>
            <p:cNvSpPr txBox="1"/>
            <p:nvPr/>
          </p:nvSpPr>
          <p:spPr>
            <a:xfrm>
              <a:off x="941832" y="3374136"/>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 the mainline</a:t>
              </a:r>
            </a:p>
          </p:txBody>
        </p:sp>
        <p:sp>
          <p:nvSpPr>
            <p:cNvPr id="9" name="Rectangle 8"/>
            <p:cNvSpPr/>
            <p:nvPr/>
          </p:nvSpPr>
          <p:spPr>
            <a:xfrm>
              <a:off x="4069080" y="3392424"/>
              <a:ext cx="5715000" cy="28346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lot:Count every not-yet-exited stream (schematic)"/>
            <p:cNvSpPr txBox="1"/>
            <p:nvPr/>
          </p:nvSpPr>
          <p:spPr>
            <a:xfrm>
              <a:off x="4069080" y="3895344"/>
              <a:ext cx="66751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Count every not-yet-exited stream (schematic)</a:t>
              </a:r>
            </a:p>
          </p:txBody>
        </p:sp>
      </p:grpSp>
      <p:pic>
        <p:nvPicPr>
          <p:cNvPr id="12" name="math:complete_tst" descr="complete_tst.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91411" y="4498848"/>
            <a:ext cx="4270137" cy="658368"/>
          </a:xfrm>
          <a:prstGeom prst="rect">
            <a:avLst/>
          </a:prstGeom>
        </p:spPr>
      </p:pic>
      <p:sp>
        <p:nvSpPr>
          <p:cNvPr id="13" name="body:N: remaining vehicle-equivalent mass; J: total system time until every stream clears."/>
          <p:cNvSpPr txBox="1"/>
          <p:nvPr/>
        </p:nvSpPr>
        <p:spPr>
          <a:xfrm>
            <a:off x="749808" y="557784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 remaining vehicle-equivalent mass; J: total system time until every stream clears.</a:t>
            </a:r>
          </a:p>
        </p:txBody>
      </p:sp>
      <p:sp>
        <p:nvSpPr>
          <p:cNvPr id="14" name="body:Finish the forward chain and fair reductions, then verify derivatives and decision gains."/>
          <p:cNvSpPr txBox="1"/>
          <p:nvPr/>
        </p:nvSpPr>
        <p:spPr>
          <a:xfrm>
            <a:off x="749808" y="60624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Finish the forward chain and fair reductions, then verify derivatives and decision gains.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Ramp metering: from hidden information to an adequate control model</dc:title>
  <dc:subject>Method-first ramp-metering task and model-reduction review, through 9 October 2026</dc:subject>
  <dc:creator>Research review</dc:creator>
  <cp:keywords>VSL, ramp metering, hidden information, useful gradients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
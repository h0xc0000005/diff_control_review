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weekly_vector_1.svg" ContentType="image/svg+xml"/>
  <Override PartName="/ppt/media/weekly_vector_2.svg" ContentType="image/svg+xml"/>
  <Override PartName="/ppt/media/weekly_vector_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 7, week ending 9 October 2026. Continue from last week's mass/flow information-hiding obstruction through the completed D2 forward-contract continuation. Slides 3--10 are the group-meeting backbone; 11--14 are technical discussion pages. This deck synthesizes existing source/static review, not a simulation or a new scientific pass. The review is temporarily parked at Q.J.F.R; preserving the full field is recommended but unapproved.</a:t>
            </a:r>
          </a:p>
          <a:p/>
          <a:p>
            <a:r>
              <a:t>Sources:</a:t>
            </a:r>
          </a:p>
          <a:p>
            <a:r>
              <a:t>temp_content/feedback/feedback.md</a:t>
            </a:r>
          </a:p>
          <a:p>
            <a:r>
              <a:t>misc/selective_discreteness_ramp_metering_review/reporting/rm12/bp_r_stage3/d2_forward/findings_and_field_gate.md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presentation is eight substantive slides, 3--10. It gives a complete semantic review arc: the original obstruction, bounded negative mechanism screens, operational-information backtracking, revised representation claim, supported physical family, memory/exact-state construction and its remaining gaps. Four further substantive slides supply technical examples for expert conversation without adding slides beyond the requested twelve-page substantive limit.</a:t>
            </a:r>
          </a:p>
          <a:p/>
          <a:p>
            <a:r>
              <a:t>Sources:</a:t>
            </a:r>
          </a:p>
          <a:p>
            <a:r>
              <a:t>temp_content/feedback/feedback.md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Set the common research chain against which every later result is judged.</a:t>
            </a:r>
          </a:p>
          <a:p/>
          <a:p>
            <a:r>
              <a:t>Connection from the preceding question: Last week established that equal mass alone does not make lane information unavailable.</a:t>
            </a:r>
          </a:p>
          <a:p/>
          <a:p>
            <a:r>
              <a:t>Finding and scope: Physical support, unresolved information, useful common actions and useful gradients are distinct obligations.</a:t>
            </a:r>
          </a:p>
          <a:p/>
          <a:p>
            <a:r>
              <a:t>Why this leads onward: The original history claim motivates a search for genuine unresolved traffic detail.</a:t>
            </a:r>
          </a:p>
          <a:p/>
          <a:p>
            <a:r>
              <a:t>Begin with the question left open last week, not a progress log. Originally we sought traffic detail unresolved after all admitted aggregate mass, flow, supported speed, ramp and control history, which also changed useful common ramp-rate actions under complete all-stream TST. This week checked why that task did not follow from physical merge effects, then explicitly backtracked to model-reduction adequacy. The general research motivation survives, but the original hidden-history claim is not established. Forward fidelity, derivative correctness and useful decisions are separate. A compact sufficient model is an acceptable outcome. Use the source and small analytical certificates before any implementation or experiment.</a:t>
            </a:r>
          </a:p>
          <a:p/>
          <a:p>
            <a:r>
              <a:t>Sources:</a:t>
            </a:r>
          </a:p>
          <a:p>
            <a:r>
              <a:t>misc/selective_discreteness_ramp_metering_review/reporting/rm9_99_scoped_closure.md</a:t>
            </a:r>
          </a:p>
          <a:p>
            <a:r>
              <a:t>misc/selective_discreteness_ramp_metering_review/reporting/rm12/bp_r/semantic_position_in_review_tree.md</a:t>
            </a:r>
          </a:p>
          <a:p>
            <a:r>
              <a:t>misc/selective_discreteness_ramp_metering_review/reporting/rm12/bp_r_stage3/baseline_review_scope_check.md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Use last week's obstruction to explain why this week's mechanism reviews were needed.</a:t>
            </a:r>
          </a:p>
          <a:p/>
          <a:p>
            <a:r>
              <a:t>Connection from the preceding question: The original question asks for information unavailable after all declared observations and history.</a:t>
            </a:r>
          </a:p>
          <a:p/>
          <a:p>
            <a:r>
              <a:t>Finding and scope: Flow can reveal lane allocation, and known complete initialization plus exact public dynamics can determine later states; these are conditional results.</a:t>
            </a:r>
          </a:p>
          <a:p/>
          <a:p>
            <a:r>
              <a:t>Why this leads onward: Therefore we tested recovery and finite merge space before changing the claim.</a:t>
            </a:r>
          </a:p>
          <a:p/>
          <a:p>
            <a:r>
              <a:t>Recap the last deck's obstruction, then this week's stronger-history audit. The normalized two-lane free-branch example has known coefficients c1=1, c2=1.5. Masses (2,8) and (6,4) both total 10 but yield flows 14 and 12; in that branch total mass and aggregate flow reconstruct the split. These are normalized algebraic units, not calibrated traffic observations. Subsequent RM9 observer-C work uses section/Edie-supported speed accounting rather than inventing a favorable speed channel. If a complete earlier physical state is uniquely known and the dynamics, controls and forcing are exact and public, deterministic evolution fixes the future. Knowing only aggregate initial statistics is different; congested/history domains were not universally ruled out. Neither equal snapshots nor extra lanes alone certify a lawful full-history/action distinction.</a:t>
            </a:r>
          </a:p>
          <a:p/>
          <a:p>
            <a:r>
              <a:t>Amendment: the earlier normalized mass/flow calculation is no longer displayed; this page now explains only the consequence that opened this week's review.</a:t>
            </a:r>
          </a:p>
          <a:p/>
          <a:p>
            <a:r>
              <a:t>Sources:</a:t>
            </a:r>
          </a:p>
          <a:p>
            <a:r>
              <a:t>misc/slides/weekly_freeway_control_review_20261002_notes.md</a:t>
            </a:r>
          </a:p>
          <a:p>
            <a:r>
              <a:t>misc/selective_discreteness_ramp_metering_review/reporting/rm9_99_scoped_closure.md</a:t>
            </a:r>
          </a:p>
          <a:p>
            <a:r>
              <a:t>misc/selective_discreteness_ramp_metering_review/synthesis/rm9/rm9_separate_resource_and_observer_audit.tex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Name the proposed missing information and show why physical mechanism support did not certify hiddenness.</a:t>
            </a:r>
          </a:p>
          <a:p/>
          <a:p>
            <a:r>
              <a:t>Connection from the preceding question: The elementary lane-split construction did not establish a complete-history residual.</a:t>
            </a:r>
          </a:p>
          <a:p/>
          <a:p>
            <a:r>
              <a:t>Finding and scope: Entrant location/speed/recovery and lane-end distance/gap timing are supported physical leads, but the reviewed sources did not join full-history ambiguity to useful common-rate actions.</a:t>
            </a:r>
          </a:p>
          <a:p/>
          <a:p>
            <a:r>
              <a:t>Why this leads onward: Because the full-history link remained missing, we reconsidered that claim.</a:t>
            </a:r>
          </a:p>
          <a:p/>
          <a:p>
            <a:r>
              <a:t>RM10 reviewed acceleration/recovery: recovery means how a slow entrant accelerates, encounters traffic and ceases to impose an extra restriction, not that the whole freeway is uncongested. Sources support the mechanism. Some mean/speed/hysteresis models are conditionally sufficient; richer families did not bind genuine initialization, equal full history and different useful common rates. RM11 C0 separately reviewed finite longitudinal merging opportunity with genuine sites, including a two-lane antecedent. Public lane geometry and observed position can be retained by spatial macroscopic competitors. Residual gap/position information and its action relevance remained unestablished. Both bounded reviews closed with scoped negative task admission; neither proved the mechanisms false or all aggregate representations sufficient. The diagrams explain physical leads, not reached matched-history cases.</a:t>
            </a:r>
          </a:p>
          <a:p/>
          <a:p>
            <a:r>
              <a:t>Sources:</a:t>
            </a:r>
          </a:p>
          <a:p>
            <a:r>
              <a:t>misc/selective_discreteness_ramp_metering_review/reporting/rm10/rm10_70_findings_and_conclusion.md</a:t>
            </a:r>
          </a:p>
          <a:p>
            <a:r>
              <a:t>misc/selective_discreteness_ramp_metering_review/reporting/rm11/c0_findings_and_disposition.md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Explain the actual backtracking point: from unresolved knowledge to loss caused by a declared model reduction.</a:t>
            </a:r>
          </a:p>
          <a:p/>
          <a:p>
            <a:r>
              <a:t>Connection from the preceding question: Two physical extensions failed the same history/action admission link; operational detector inputs did not bind all initial/history knowledge either.</a:t>
            </a:r>
          </a:p>
          <a:p/>
          <a:p>
            <a:r>
              <a:t>Finding and scope: BP-R permits common known physical initialization with declared model projections and independent evolution; it does not establish the original hidden-history claim.</a:t>
            </a:r>
          </a:p>
          <a:p/>
          <a:p>
            <a:r>
              <a:t>Why this leads onward: This change lets us audit a shared physical model before asking what can be removed.</a:t>
            </a:r>
          </a:p>
          <a:p/>
          <a:p>
            <a:r>
              <a:t>RM12 Stage 1 BP-I audited a documented operational information domain. Point-detector inputs are not automatically a complete cell-wide observer, but used inputs are better documented than all accessible initial/history knowledge. No justified missing-history witness was admitted. BP-R then explicitly changed the claim: what response does an independently evolving model lose when it compresses a shared known scenario? One local ramp, common bounded upstream rate schedules, public forcing and complete all-stream TST remain. The slow group's condition may be known to every model, each initialized by its declared projection. It is then a question of representation, not private controller information. No repeated feed of future reference trajectories is allowed. Spatial/memory/moment models are strong rivals; a sufficient small summary is a positive result. Backtracking preserves the earlier scoped negatives instead of relabeling them as a newly solved original information question.</a:t>
            </a:r>
          </a:p>
          <a:p/>
          <a:p>
            <a:r>
              <a:t>Sources:</a:t>
            </a:r>
          </a:p>
          <a:p>
            <a:r>
              <a:t>misc/selective_discreteness_ramp_metering_review/reporting/rm12/bp_i/findings_and_gate.md</a:t>
            </a:r>
          </a:p>
          <a:p>
            <a:r>
              <a:t>misc/selective_discreteness_ramp_metering_review/reporting/rm12/bp_r/semantic_position_in_review_tree.md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Bind the supported physical mechanism to the unchanged upstream metering task.</a:t>
            </a:r>
          </a:p>
          <a:p/>
          <a:p>
            <a:r>
              <a:t>Connection from the preceding question: A model-reduction comparison needs one specified physical reference and common control authority.</a:t>
            </a:r>
          </a:p>
          <a:p/>
          <a:p>
            <a:r>
              <a:t>Finding and scope: The connected ramp arrow explicitly traces a transferred entrant into a downstream moving restriction; lane-wise conserved flow and selected entrant kinetics are coupled.</a:t>
            </a:r>
          </a:p>
          <a:p/>
          <a:p>
            <a:r>
              <a:t>Why this leads onward: The next question is what state remembers the entrant's continuing traffic effect.</a:t>
            </a:r>
          </a:p>
          <a:p/>
          <a:p>
            <a:r>
              <a:t>BP-R Stage 3 selected the Laval--Daganzo continuum--particle/multilane hybrid family: lane-wise Kinematic Wave (KW) conservation coupled to selected entrants' constrained speed/position trajectories. Hybrid in this source means macroscopic streams plus selected microscopic kinetics, not merely lane resolution or a discretization. Our approved adaptation keeps continuous vehicle-equivalent population and zero-population restriction metadata. Restrictions are effects of traffic already counted in the field. Upstream continuous effective-rate permission acts before finite ramp propagation; permission is not actual merge discharge or a faithfully resolved binary signal. The mandatory merge uses a fixed ramp receiving share with unused capacity available to other eligible traffic. Mainline discretionary transfers remain sampled. This physical family is literature-supported, but the whole adapted module composition and its necessity/benefit are not source theorems.</a:t>
            </a:r>
          </a:p>
          <a:p/>
          <a:p>
            <a:r>
              <a:t>Sources:</a:t>
            </a:r>
          </a:p>
          <a:p>
            <a:r>
              <a:t>misc/selective_discreteness_ramp_metering_review/reporting/rm12/bp_r_stage3/findings_and_reference_gate.md</a:t>
            </a:r>
          </a:p>
          <a:p>
            <a:r>
              <a:t>misc/selective_discreteness_ramp_metering_review/reporting/rm12/bp_r_stage3/meter_boundary_gate.md</a:t>
            </a:r>
          </a:p>
          <a:p>
            <a:r>
              <a:t>misc/selective_discreteness_ramp_metering_review/reporting/rm12/bp_r_stage3/merge_allocation_gate.md</a:t>
            </a:r>
          </a:p>
          <a:p>
            <a:r>
              <a:t>misc/selective_discreteness_ramp_metering_review/reporting/rm12/bp_r_stage3/d2_forward/findings_and_field_gate.md</a:t>
            </a:r>
          </a:p>
          <a:p>
            <a:r>
              <a:t>https://escholarship.org/content/qt8w70q261/qt8w70q261.pdf</a:t>
            </a:r>
          </a:p>
          <a:p>
            <a:r>
              <a:t>https://bpb-us-e1.wpmucdn.com/sites.gatech.edu/dist/f/3571/files/2023/03/merges.pdf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Explain why current-entry mean service was not a complete transient recovery model, and why exact-state qualification was selected first.</a:t>
            </a:r>
          </a:p>
          <a:p/>
          <a:p>
            <a:r>
              <a:t>Connection from the preceding question: Slow entrants can continue affecting service after the upstream action and actual merge entries have changed.</a:t>
            </a:r>
          </a:p>
          <a:p/>
          <a:p>
            <a:r>
              <a:t>Finding and scope: Zero current entries is compatible with an active old restriction or recovered motion. By itself that signal cannot select the correct extra service effect; event counters certify creation, not all recovery.</a:t>
            </a:r>
          </a:p>
          <a:p/>
          <a:p>
            <a:r>
              <a:t>Why this leads onward: We retained exact effects to qualify the chain before testing smaller summaries.</a:t>
            </a:r>
          </a:p>
          <a:p/>
          <a:p>
            <a:r>
              <a:t>The Stage 3 primary comparator was a mechanism-oriented present-condition mean service law; the companion was a congestion-triggered dynamic capacity drop model. Both are legitimate families, with different source domains. A's local stationary limits pass, but zero present entries is not a complete transient recovery state; B can impose a drop at sampled onset while the chosen reference has not yet created a moving restriction. These are bounded law/activation mismatches, not a proof that every aggregate model fails. T1 strengthens the primary state to distinguish startup, active effects and recovery. Transfer counter remainders supply supported event creation memory. Event times reconstruct motion only in the restricted free-ahead case; congestion changes recovery. Group counts/means lose position-speed association. M1 expands to spatial/kinetic groups; G1 selects exact distinct signatures first, without an engineering cost criterion or a concurrent reduced-model acceptance condition. Reductions are deferred until the exact reference chain is qualified.</a:t>
            </a:r>
          </a:p>
          <a:p/>
          <a:p>
            <a:r>
              <a:t>The two phases are schematic recovery conditions, not a new reached trajectory or equal-aggregate-history pair. Their only deliberately shared signal is zero current actual entry rate. The point concerns the present-entry penalty component, not a refutation of all spatial, memory or moment models. A record can remain retained when no longer binding; no automatic deletion or new recovery law is introduced by this illustration.</a:t>
            </a:r>
          </a:p>
          <a:p/>
          <a:p>
            <a:r>
              <a:t>Sources:</a:t>
            </a:r>
          </a:p>
          <a:p>
            <a:r>
              <a:t>misc/selective_discreteness_ramp_metering_review/reporting/rm12/bp_r_stage3/dual_qualification_findings_and_scope_gate.md</a:t>
            </a:r>
          </a:p>
          <a:p>
            <a:r>
              <a:t>misc/selective_discreteness_ramp_metering_review/reporting/rm12/bp_r_stage3/event_memory_findings_and_gate.md</a:t>
            </a:r>
          </a:p>
          <a:p>
            <a:r>
              <a:t>misc/selective_discreteness_ramp_metering_review/reporting/rm12/bp_r_stage3/grouped_recovery_findings_and_gate.md</a:t>
            </a:r>
          </a:p>
          <a:p>
            <a:r>
              <a:t>misc/selective_discreteness_ramp_metering_review/reporting/rm12/bp_r_stage3/exact_information_findings_and_gate.md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Show why retaining exact disturbance descriptors did not automatically complete the forward model.</a:t>
            </a:r>
          </a:p>
          <a:p/>
          <a:p>
            <a:r>
              <a:t>Connection from the preceding question: Exact-first retention removes the need to invent the discarded recovery arrangement.</a:t>
            </a:r>
          </a:p>
          <a:p/>
          <a:p>
            <a:r>
              <a:t>Finding and scope: Motion needs the same traffic ahead that service updates; averaging a field can erase retained empty gaps even while mass and records survive. Local richer-field evolution is supported, whole composition remains partial.</a:t>
            </a:r>
          </a:p>
          <a:p/>
          <a:p>
            <a:r>
              <a:t>Why this leads onward: Information value can only be tested after the shared update predicts its own next state.</a:t>
            </a:r>
          </a:p>
          <a:p/>
          <a:p>
            <a:r>
              <a:t>Exact-first qualification retained all restriction signatures and own history, then bound sampled insertion E1: completed actual transfers create zero-population descriptors at the regular clock, with own updated counts and donor request-phase speed, no retrospective effect. K.A resolves braking when a queue is encountered, integrates actual distance, carries the ending speed and permits positive recovery at the next regular clock. Traffic counts must adjust for accepted transfers and be rebased on actual section crossing. The alignment ladder examined unchanged interfaces, explicit restriction-aware adaptation and a count/wave representation. Uniform whole-cell fields concretely lose retained empty gaps. Step 2 supports exact local two-record evolution; neither it nor step 3 closes all endogenous transfer/motion/birth interactions. Subsequent own-field transfer work qualifies additional bounded coupled examples. This is constructive partial support, not all-mode or indefinite evolution. The diagram is schematic; no new traffic trajectory is simulated.</a:t>
            </a:r>
          </a:p>
          <a:p/>
          <a:p>
            <a:r>
              <a:t>Sources:</a:t>
            </a:r>
          </a:p>
          <a:p>
            <a:r>
              <a:t>misc/selective_discreteness_ramp_metering_review/reporting/rm12/bp_r_stage3/sampled_insertion_findings.md</a:t>
            </a:r>
          </a:p>
          <a:p>
            <a:r>
              <a:t>misc/selective_discreteness_ramp_metering_review/reporting/rm12/bp_r_stage3/motion_contact_findings_and_gate.md</a:t>
            </a:r>
          </a:p>
          <a:p>
            <a:r>
              <a:t>misc/selective_discreteness_ramp_metering_review/reporting/rm12/bp_r_stage3/joined_step_findings_and_gate.md</a:t>
            </a:r>
          </a:p>
          <a:p>
            <a:r>
              <a:t>misc/selective_discreteness_ramp_metering_review/reporting/rm12/bp_r_stage3/alignment_ladder_findings.md</a:t>
            </a:r>
          </a:p>
          <a:p>
            <a:r>
              <a:t>misc/selective_discreteness_ramp_metering_review/reporting/rm12/bp_r_stage3/fixed_share_completion_findings_and_gate.md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Separate the established model contract and local evidence from the unestablished whole-task research claims.</a:t>
            </a:r>
          </a:p>
          <a:p/>
          <a:p>
            <a:r>
              <a:t>Connection from the preceding question: Birth, motion, transfer and field audits provide a recognizable common model chain.</a:t>
            </a:r>
          </a:p>
          <a:p/>
          <a:p>
            <a:r>
              <a:t>Finding and scope: Selected rules and bounded local/static checks are consolidated; autonomous repetition, clearance, control response and fair reductions are not completed.</a:t>
            </a:r>
          </a:p>
          <a:p/>
          <a:p>
            <a:r>
              <a:t>Why this leads onward: Local construction is supported; full control-response and gradient claims remain open.</a:t>
            </a:r>
          </a:p>
          <a:p/>
          <a:p>
            <a:r>
              <a:t>This final primary page synthesizes the last completed D2 continuation. The whole-forward contract now consolidates upstream continuous admission, finite ramp propagation, lane-wise first-order field, own request/history sampling, T.A amount allowances, P.A held competition weights, N.A fixed ramp priority/unused receiving, D2 physical sender pooling, K.A old-record motion, accepted counts and completed E1 births. These are approved contract choices, with source/static/local support rather than whole-model adoption. The D2 static allocator has a general slack-resource invariance argument plus 5,832 exact cases, 8,292 strict donor/ramp lifts and 3,716 slack receiver lifts, all pass. This is not a traffic simulation or a whole-network existence result. A completed joint one-step field example includes quota exhaustion, wave contacts, a section crossing and two simultaneous births. The current Q.J.F.R field-carryover decision is open: A preserve completed profile (recommended), B qualify a projection. Autonomous repeated evolution, clearance, reached common-rate complete-TST leverage, independent reductions and derivative usefulness remain missing. Stage 3/67 open, Stage 4 unopened; do not infer mesoscopic necessity.</a:t>
            </a:r>
          </a:p>
          <a:p/>
          <a:p>
            <a:r>
              <a:t>Sources:</a:t>
            </a:r>
          </a:p>
          <a:p>
            <a:r>
              <a:t>misc/selective_discreteness_ramp_metering_review/reporting/rm12/bp_r_stage3/d2_forward/findings_and_field_gate.md</a:t>
            </a:r>
          </a:p>
          <a:p>
            <a:r>
              <a:t>misc/selective_discreteness_ramp_metering_review/synthesis/rm12/bp_r_stage3/d2_forward/forward_contract_and_qualification.md</a:t>
            </a:r>
          </a:p>
          <a:p>
            <a:r>
              <a:t>misc/selective_discreteness_ramp_metering_review/reporting/rm12/bp_r_stage3/fixed_share_completion_findings_and_gate.md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Explain the two retained-state duties: actual-transfer creation bookkeeping and traffic-dependent recovery.</a:t>
            </a:r>
          </a:p>
          <a:p/>
          <a:p>
            <a:r>
              <a:t>Connection from the preceding question: The main presentation selected exact-state qualification before reduction.</a:t>
            </a:r>
          </a:p>
          <a:p/>
          <a:p>
            <a:r>
              <a:t>Finding and scope: A threshold counter creates no population, while equal means can evolve differently under individual braking; the latter is a local update diagnostic.</a:t>
            </a:r>
          </a:p>
          <a:p/>
          <a:p>
            <a:r>
              <a:t>Why this leads onward: Creation memory is qualified locally; recovery still needs the surrounding traffic field.</a:t>
            </a:r>
          </a:p>
          <a:p/>
          <a:p>
            <a:r>
              <a:t>E1 attaches effects after completed actual transfers, not permission, green pulses or equal-size physical packets. An illustrative unit threshold sees 0.4 then 0.6 equivalents: no birth at the first clock, one at the second. The first amount already entered the population; its counter remainder survives pauses. Small terminal remainders still count in population/exits/TST even if no additional descriptor appears. Several simultaneous descriptors at one point get the same own count and distinct motion signatures, no artificial spacing or extra mass. The second example is the bounded moment-update gap: equal-probability speeds (0,20) and (10,10) have equal mean 10. Clipping individual speeds to an ahead limit of 10 gives means 5 and 10. Thus a mean alone cannot determine this recovery update. This is not a reached ramp-control failure or a proof against all richer compact statistics. Exact distinct records are selected before approximation; underlying moving-restriction trajectories and ordinary conserved traffic remain different parts of the state.</a:t>
            </a:r>
          </a:p>
          <a:p/>
          <a:p>
            <a:r>
              <a:t>Sources:</a:t>
            </a:r>
          </a:p>
          <a:p>
            <a:r>
              <a:t>misc/selective_discreteness_ramp_metering_review/reporting/rm12/bp_r_stage3/sampled_insertion_findings.md</a:t>
            </a:r>
          </a:p>
          <a:p>
            <a:r>
              <a:t>misc/selective_discreteness_ramp_metering_review/reporting/rm12/bp_r_stage3/event_memory_findings_and_gate.md</a:t>
            </a:r>
          </a:p>
          <a:p>
            <a:r>
              <a:t>misc/selective_discreteness_ramp_metering_review/reporting/rm12/bp_r_stage3/grouped_recovery_findings_and_gate.md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Explain how the accepted amount/weight/sending choices help complete the shared conservative transfer interface.</a:t>
            </a:r>
          </a:p>
          <a:p/>
          <a:p>
            <a:r>
              <a:t>Connection from the preceding question: A moving restriction model needs a port rule consistent with actual sending, receiving and remaining movement requests.</a:t>
            </a:r>
          </a:p>
          <a:p/>
          <a:p>
            <a:r>
              <a:t>Finding and scope: The accepted D2 completion imposes no extra oriented instantaneous rate cap; original amount ceilings and held competition weights remain.</a:t>
            </a:r>
          </a:p>
          <a:p/>
          <a:p>
            <a:r>
              <a:t>Why this leads onward: The accepted service rule helps join disturbance state to conservative traffic flow.</a:t>
            </a:r>
          </a:p>
          <a:p/>
          <a:p>
            <a:r>
              <a:t>This page groups three consecutive closed methodological choices: T.A sampled requests are integrated mass allowances; P.A holds their original competition weights during the public step without a queue bonus; D2 shares the physical donor's available sending among active original requests without an additional theta-times-capacity rate ceiling. N.A still fixes the ramp's geometric share and permits unused receiving redistribution. Weights refresh on the next regular request clock; fulfilling an allowance closes that movement with no retry or enlarged amount. The late-arrival diagnostic is a 30m donor, u=30m/s, 1s step, n=.45eq, sampled lateral fraction .25 and Q=9/14eq/s. Traffic in the first 3m reaches the exit at .9s; through receiving is blocked and lateral receiving free. D1's extra .25Q rate ceiling would serve 9/560=.016071eq; approved D2 serves 9/140=.064286eq, both below d=.1125eq. These are distinct timing laws for the same request, not a hidden-state witness. D1 remains conditionally sound if an independently justified persistent direction-specific instantaneous cap exists. Current evidence does not require it. D2's fixed-weight static queue-invariance result is positive only for the finite allocator, not the whole endogenous evolution.</a:t>
            </a:r>
          </a:p>
          <a:p/>
          <a:p>
            <a:r>
              <a:t>Sources:</a:t>
            </a:r>
          </a:p>
          <a:p>
            <a:r>
              <a:t>misc/selective_discreteness_ramp_metering_review/reporting/rm12/bp_r_stage3/transfer_feedback_findings_and_gate.md</a:t>
            </a:r>
          </a:p>
          <a:p>
            <a:r>
              <a:t>misc/selective_discreteness_ramp_metering_review/reporting/rm12/bp_r_stage3/quota_allocation_findings_and_gate.md</a:t>
            </a:r>
          </a:p>
          <a:p>
            <a:r>
              <a:t>misc/selective_discreteness_ramp_metering_review/reporting/rm12/bp_r_stage3/fixed_share_completion_findings_and_gate.md</a:t>
            </a:r>
          </a:p>
          <a:p>
            <a:r>
              <a:t>misc/selective_discreteness_ramp_metering_review/reporting/rm12/bp_r_stage3/d2_forward/findings_and_field_gate.md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Identify the last completed checkpoint's state contract and why it must close before a fair reduction comparison.</a:t>
            </a:r>
          </a:p>
          <a:p/>
          <a:p>
            <a:r>
              <a:t>Connection from the preceding question: D2's static map is qualified, but each next interval also needs its ordinary spatial traffic field.</a:t>
            </a:r>
          </a:p>
          <a:p/>
          <a:p>
            <a:r>
              <a:t>Finding and scope: Equal cell mass and fixed-end count anchors can yield different arrival timing. This is an ordinary spatial-profile diagnostic, not a reached-history or mesoscopic-necessity certificate.</a:t>
            </a:r>
          </a:p>
          <a:p/>
          <a:p>
            <a:r>
              <a:t>Why this leads onward: A faithful reference is needed before errors can be attributed to omitted effect records.</a:t>
            </a:r>
          </a:p>
          <a:p/>
          <a:p>
            <a:r>
              <a:t>The latest completed D2 pass supplies this ordinary-field diagnostic. Both 30m donors have mass .45eq, the same fixed-end counts and no restriction records. Their common sampled lateral allowance is .1125eq, through receiving is blocked, lateral receiving is free, and Q=9/14eq/s. The early field has jam density .15eq/m on the last 3m [27,30]. Sending starts immediately and the allowance is exhausted after .175s, giving .1125eq. The late field has the same jam block on [0,3]; its front reaches the exit at .9s and serves Q*.1=9/140=.064286eq. These are admissible first-order field/request diagnostics, not two certified reachable equal-history scenarios. A mass-plus-anchor reconstruction maps them to the same field, so conservation and exact retained records do not imply ordinary profile/timing preservation. A sufficiently resolved macroscopic field can distinguish them. No external exit before the end means one-step population-time is the same; no full-TST benefit or metadata necessity follows. Current Q.J.F.R remains open: A retain completed full profile is recommended; B qualify a finite numerical mass-and-anchor reconstruction is legitimate if its error/reference contract is justified. Neither selected by this presentation.</a:t>
            </a:r>
          </a:p>
          <a:p/>
          <a:p>
            <a:r>
              <a:t>Sources:</a:t>
            </a:r>
          </a:p>
          <a:p>
            <a:r>
              <a:t>misc/selective_discreteness_ramp_metering_review/reporting/rm12/bp_r_stage3/d2_forward/findings_and_field_gate.md</a:t>
            </a:r>
          </a:p>
          <a:p>
            <a:r>
              <a:t>misc/selective_discreteness_ramp_metering_review/synthesis/rm12/bp_r_stage3/d2_forward/forward_math.tex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purpose: Reconnect the unfinished forward-model work to the ultimate control and gradient research goal.</a:t>
            </a:r>
          </a:p>
          <a:p/>
          <a:p>
            <a:r>
              <a:t>Connection from the preceding question: A local flow prediction difference is weaker than complete intervention-sensitive exits and total system time.</a:t>
            </a:r>
          </a:p>
          <a:p/>
          <a:p>
            <a:r>
              <a:t>Finding and scope: All waiting populations must count; correct derivatives and independently useful directions require different evidence.</a:t>
            </a:r>
          </a:p>
          <a:p/>
          <a:p>
            <a:r>
              <a:t>Why this leads onward: A correct forward model and a useful control direction require separate evidence.</a:t>
            </a:r>
          </a:p>
          <a:p/>
          <a:p>
            <a:r>
              <a:t>Complete all-stream total system time J is the integral until clearance of the whole not-yet-exited population: outside waiting, the finite ramp and every modeled mainline lane. Vehicle-equivalent seconds are the units. Mean time is J divided by the fixed total cohort mass if needed; this slide uses total time. Relocating waiting from mainline to ramp or outside does not improve this objective unless total exit timing changes. The population curves drawn here are conceptual layers, not calculated trajectories. The general sensitivity path is rate permission to actual admission/travel/queue, accepted transfers and moving effects, exits, then complete J. Structural topology, record membership and creation events require a declared derivative/event contract, not an unsupported global smoothness claim. Exact forward qualification, clearance and a reached intervention-sensitive response come before specific gradients. Strong independent spatial/memory/moment rivals and declared initial projections make the representation comparison fair. AD/finite-difference correctness and independent-reference directional usefulness are later distinct evidence products. No optimizer, SUMO, traffic simulation or numerical gradient was performed for this review or presentation. This is the discussion endpoint, not an automatic Stage 4 opening.</a:t>
            </a:r>
          </a:p>
          <a:p/>
          <a:p>
            <a:r>
              <a:t>Sources:</a:t>
            </a:r>
          </a:p>
          <a:p>
            <a:r>
              <a:t>misc/selective_discreteness_ramp_metering_review/synthesis/rm12/bp_r_stage3/d2_forward/forward_contract_and_qualification.md</a:t>
            </a:r>
          </a:p>
          <a:p>
            <a:r>
              <a:t>misc/selective_discreteness_ramp_metering_review/reporting/rm12/bp_r_stage3/baseline_review_scope_check.md</a:t>
            </a:r>
          </a:p>
          <a:p>
            <a:r>
              <a:t>misc/selective_discreteness_ramp_metering_review/rm12_30_provisional_four_stage_roadmap.md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weekly_vector_1.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weekly_vector_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weekly_vector_3.sv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amp metering: from detail to decision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Ramp metering: from detail to decisions</a:t>
            </a:r>
          </a:p>
        </p:txBody>
      </p:sp>
      <p:sp>
        <p:nvSpPr>
          <p:cNvPr id="3" name="body:Which retained traffic state can support useful rate decisions?"/>
          <p:cNvSpPr txBox="1"/>
          <p:nvPr/>
        </p:nvSpPr>
        <p:spPr>
          <a:xfrm>
            <a:off x="777240" y="1965960"/>
            <a:ext cx="10652760" cy="56692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Which retained traffic state can support useful rate decisions?</a:t>
            </a:r>
          </a:p>
        </p:txBody>
      </p:sp>
      <p:sp>
        <p:nvSpPr>
          <p:cNvPr id="4" name="body:Weekly methodology review · 9 October 2026"/>
          <p:cNvSpPr txBox="1"/>
          <p:nvPr/>
        </p:nvSpPr>
        <p:spPr>
          <a:xfrm>
            <a:off x="777240" y="2898648"/>
            <a:ext cx="10652760" cy="502920"/>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Weekly methodology review · 9 October 2026</a:t>
            </a:r>
          </a:p>
        </p:txBody>
      </p:sp>
      <p:sp>
        <p:nvSpPr>
          <p:cNvPr id="5" name="body:One local ramp merge · common rate decisions · complete system time / Source review and analytical checks; the research task remains open."/>
          <p:cNvSpPr txBox="1"/>
          <p:nvPr/>
        </p:nvSpPr>
        <p:spPr>
          <a:xfrm>
            <a:off x="777240" y="3813048"/>
            <a:ext cx="10652760" cy="86868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One local ramp merge · common rate decisions · complete system time</a:t>
            </a:r>
          </a:p>
          <a:p>
            <a:pPr algn="l">
              <a:spcBef>
                <a:spcPts val="0"/>
              </a:spcBef>
              <a:spcAft>
                <a:spcPts val="0"/>
              </a:spcAft>
              <a:defRPr sz="1800" b="0">
                <a:solidFill>
                  <a:srgbClr val="243341"/>
                </a:solidFill>
                <a:latin typeface="Calibri"/>
              </a:defRPr>
            </a:pPr>
            <a:r>
              <a:t>Source review and analytical checks; the research task remains open.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Content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Contents</a:t>
            </a:r>
          </a:p>
        </p:txBody>
      </p:sp>
      <p:sp>
        <p:nvSpPr>
          <p:cNvPr id="3" name="body:Group meeting · slides 3–10"/>
          <p:cNvSpPr txBox="1"/>
          <p:nvPr/>
        </p:nvSpPr>
        <p:spPr>
          <a:xfrm>
            <a:off x="749808" y="182880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Group meeting · slides 3–10</a:t>
            </a:r>
          </a:p>
        </p:txBody>
      </p:sp>
      <p:sp>
        <p:nvSpPr>
          <p:cNvPr id="4" name="body:Hidden information: why the original chain did not close"/>
          <p:cNvSpPr txBox="1"/>
          <p:nvPr/>
        </p:nvSpPr>
        <p:spPr>
          <a:xfrm>
            <a:off x="749808" y="248716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Hidden information: why the original chain did not close</a:t>
            </a:r>
          </a:p>
        </p:txBody>
      </p:sp>
      <p:sp>
        <p:nvSpPr>
          <p:cNvPr id="5" name="body:Model adequacy: what the changed claim now lets us construct"/>
          <p:cNvSpPr txBox="1"/>
          <p:nvPr/>
        </p:nvSpPr>
        <p:spPr>
          <a:xfrm>
            <a:off x="749808" y="314553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Model adequacy: what the changed claim now lets us construct</a:t>
            </a:r>
          </a:p>
        </p:txBody>
      </p:sp>
      <p:sp>
        <p:nvSpPr>
          <p:cNvPr id="6" name="body:Technical discussion · slides 11–14"/>
          <p:cNvSpPr txBox="1"/>
          <p:nvPr/>
        </p:nvSpPr>
        <p:spPr>
          <a:xfrm>
            <a:off x="749808" y="380390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Technical discussion · slides 11–14</a:t>
            </a:r>
          </a:p>
        </p:txBody>
      </p:sp>
      <p:sp>
        <p:nvSpPr>
          <p:cNvPr id="7" name="body:Creation and recovery; shared service; spatial fields; control evidence"/>
          <p:cNvSpPr txBox="1"/>
          <p:nvPr/>
        </p:nvSpPr>
        <p:spPr>
          <a:xfrm>
            <a:off x="749808" y="44622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Creation and recovery; shared service; spatial fields; control evidence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Which traffic detail matters for control?"/>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Which traffic detail matters for control?</a:t>
            </a:r>
          </a:p>
        </p:txBody>
      </p:sp>
      <p:sp>
        <p:nvSpPr>
          <p:cNvPr id="3" name="body:The goal is a justified chain from traffic detail to useful rate decisions."/>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The goal is a justified chain from traffic detail to useful rate decisions.</a:t>
            </a:r>
          </a:p>
        </p:txBody>
      </p:sp>
      <p:sp>
        <p:nvSpPr>
          <p:cNvPr id="4" name="body:1. What traffic detail survives the full declared aggregate history?"/>
          <p:cNvSpPr txBox="1"/>
          <p:nvPr/>
        </p:nvSpPr>
        <p:spPr>
          <a:xfrm>
            <a:off x="749808" y="201168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1. What traffic detail survives the full declared aggregate history?</a:t>
            </a:r>
          </a:p>
        </p:txBody>
      </p:sp>
      <p:sp>
        <p:nvSpPr>
          <p:cNvPr id="5" name="body:2. Does retaining that detail change useful common ramp-rate decisions?"/>
          <p:cNvSpPr txBox="1"/>
          <p:nvPr/>
        </p:nvSpPr>
        <p:spPr>
          <a:xfrm>
            <a:off x="749808" y="274320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2. Does retaining that detail change useful common ramp-rate decisions?</a:t>
            </a:r>
          </a:p>
        </p:txBody>
      </p:sp>
      <p:sp>
        <p:nvSpPr>
          <p:cNvPr id="6" name="body:3. Can its gradient predict lower complete system time?"/>
          <p:cNvSpPr txBox="1"/>
          <p:nvPr/>
        </p:nvSpPr>
        <p:spPr>
          <a:xfrm>
            <a:off x="749808" y="34747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3. Can its gradient predict lower complete system time?</a:t>
            </a:r>
          </a:p>
        </p:txBody>
      </p:sp>
      <p:sp>
        <p:nvSpPr>
          <p:cNvPr id="7" name="body:Keep genuine tasks and strong rivals; add assumptions only with justification."/>
          <p:cNvSpPr txBox="1"/>
          <p:nvPr/>
        </p:nvSpPr>
        <p:spPr>
          <a:xfrm>
            <a:off x="749808" y="498348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Keep genuine tasks and strong rivals; add assumptions only with justification.</a:t>
            </a:r>
          </a:p>
        </p:txBody>
      </p:sp>
      <p:sp>
        <p:nvSpPr>
          <p:cNvPr id="8" name="body:Separate physical support, state adequacy, control relevance and useful gradients."/>
          <p:cNvSpPr txBox="1"/>
          <p:nvPr/>
        </p:nvSpPr>
        <p:spPr>
          <a:xfrm>
            <a:off x="749808" y="55046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Separate physical support, state adequacy, control relevance and useful gradients.</a:t>
            </a:r>
          </a:p>
        </p:txBody>
      </p:sp>
      <p:sp>
        <p:nvSpPr>
          <p:cNvPr id="9" name="argument:The original history claim motivates a search for genuine unresolved traffic detail."/>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 original history claim motivates a search for genuine unresolved traffic detail.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Last week made full history the obstacle"/>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Last week made full history the obstacle</a:t>
            </a:r>
          </a:p>
        </p:txBody>
      </p:sp>
      <p:sp>
        <p:nvSpPr>
          <p:cNvPr id="3" name="body:Equal density alone was too weak: flow and earlier knowledge can reveal the split."/>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Equal density alone was too weak: flow and earlier knowledge can reveal the split.</a:t>
            </a:r>
          </a:p>
        </p:txBody>
      </p:sp>
      <p:grpSp>
        <p:nvGrpSpPr>
          <p:cNvPr id="9" name="diagram:causal sensitivity chain"/>
          <p:cNvGrpSpPr/>
          <p:nvPr/>
        </p:nvGrpSpPr>
        <p:grpSpPr>
          <a:xfrm>
            <a:off x="713232" y="2423160"/>
            <a:ext cx="10789920" cy="704088"/>
            <a:chOff x="713232" y="2423160"/>
            <a:chExt cx="10789920" cy="704088"/>
          </a:xfrm>
        </p:grpSpPr>
        <p:sp>
          <p:nvSpPr>
            <p:cNvPr id="4" name="plot:Last week's obstacle / Mass + flow reveal split"/>
            <p:cNvSpPr txBox="1"/>
            <p:nvPr/>
          </p:nvSpPr>
          <p:spPr>
            <a:xfrm>
              <a:off x="713232" y="2423160"/>
              <a:ext cx="338328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Last week's obstacle</a:t>
              </a:r>
            </a:p>
            <a:p>
              <a:pPr algn="ctr">
                <a:spcBef>
                  <a:spcPts val="0"/>
                </a:spcBef>
                <a:spcAft>
                  <a:spcPts val="0"/>
                </a:spcAft>
                <a:defRPr sz="1800" b="1">
                  <a:solidFill>
                    <a:srgbClr val="267D86"/>
                  </a:solidFill>
                  <a:latin typeface="Calibri"/>
                </a:defRPr>
              </a:pPr>
              <a:r>
                <a:t>Mass + flow reveal split</a:t>
              </a:r>
            </a:p>
          </p:txBody>
        </p:sp>
        <p:sp>
          <p:nvSpPr>
            <p:cNvPr id="5" name="Right Arrow 4"/>
            <p:cNvSpPr/>
            <p:nvPr/>
          </p:nvSpPr>
          <p:spPr>
            <a:xfrm>
              <a:off x="4119372" y="2697479"/>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ot:Required evidence / Detail survives history"/>
            <p:cNvSpPr txBox="1"/>
            <p:nvPr/>
          </p:nvSpPr>
          <p:spPr>
            <a:xfrm>
              <a:off x="4416552" y="2423160"/>
              <a:ext cx="338328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Required evidence</a:t>
              </a:r>
            </a:p>
            <a:p>
              <a:pPr algn="ctr">
                <a:spcBef>
                  <a:spcPts val="0"/>
                </a:spcBef>
                <a:spcAft>
                  <a:spcPts val="0"/>
                </a:spcAft>
                <a:defRPr sz="1800" b="1">
                  <a:solidFill>
                    <a:srgbClr val="267D86"/>
                  </a:solidFill>
                  <a:latin typeface="Calibri"/>
                </a:defRPr>
              </a:pPr>
              <a:r>
                <a:t>Detail survives history</a:t>
              </a:r>
            </a:p>
          </p:txBody>
        </p:sp>
        <p:sp>
          <p:nvSpPr>
            <p:cNvPr id="7" name="Right Arrow 6"/>
            <p:cNvSpPr/>
            <p:nvPr/>
          </p:nvSpPr>
          <p:spPr>
            <a:xfrm>
              <a:off x="7822692" y="2697479"/>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ot:This week's search / Genuine mechanisms"/>
            <p:cNvSpPr txBox="1"/>
            <p:nvPr/>
          </p:nvSpPr>
          <p:spPr>
            <a:xfrm>
              <a:off x="8119872" y="2423160"/>
              <a:ext cx="338328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This week's search</a:t>
              </a:r>
            </a:p>
            <a:p>
              <a:pPr algn="ctr">
                <a:spcBef>
                  <a:spcPts val="0"/>
                </a:spcBef>
                <a:spcAft>
                  <a:spcPts val="0"/>
                </a:spcAft>
                <a:defRPr sz="1800" b="1">
                  <a:solidFill>
                    <a:srgbClr val="267D86"/>
                  </a:solidFill>
                  <a:latin typeface="Calibri"/>
                </a:defRPr>
              </a:pPr>
              <a:r>
                <a:t>Genuine mechanisms</a:t>
              </a:r>
            </a:p>
          </p:txBody>
        </p:sp>
      </p:grpSp>
      <p:sp>
        <p:nvSpPr>
          <p:cNvPr id="10" name="body:A known complete past state and exact public dynamics can determine later detail."/>
          <p:cNvSpPr txBox="1"/>
          <p:nvPr/>
        </p:nvSpPr>
        <p:spPr>
          <a:xfrm>
            <a:off x="749808" y="4169663"/>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 known complete past state and exact public dynamics can determine later detail.</a:t>
            </a:r>
          </a:p>
        </p:txBody>
      </p:sp>
      <p:sp>
        <p:nvSpPr>
          <p:cNvPr id="11" name="body:We therefore need more than different lane snapshots to establish useful hiddenness."/>
          <p:cNvSpPr txBox="1"/>
          <p:nvPr/>
        </p:nvSpPr>
        <p:spPr>
          <a:xfrm>
            <a:off x="749808" y="473659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We therefore need more than different lane snapshots to establish useful hiddenness.</a:t>
            </a:r>
          </a:p>
        </p:txBody>
      </p:sp>
      <p:sp>
        <p:nvSpPr>
          <p:cNvPr id="12" name="body:This is a conditional obstruction; aggregate initial statistics need not reveal everything."/>
          <p:cNvSpPr txBox="1"/>
          <p:nvPr/>
        </p:nvSpPr>
        <p:spPr>
          <a:xfrm>
            <a:off x="749808" y="53035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This is a conditional obstruction; aggregate initial statistics need not reveal everything.</a:t>
            </a:r>
          </a:p>
        </p:txBody>
      </p:sp>
      <p:sp>
        <p:nvSpPr>
          <p:cNvPr id="13" name="argument:Therefore we tested recovery and finite merge space before changing the claim."/>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Therefore we tested recovery and finite merge space before changing the claim.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eal mechanisms do not prove hidden detail"/>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Real mechanisms do not prove hidden detail</a:t>
            </a:r>
          </a:p>
        </p:txBody>
      </p:sp>
      <p:sp>
        <p:nvSpPr>
          <p:cNvPr id="3" name="body:The candidate detail was recovery state and merge opportunity, not total mass."/>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The candidate detail was recovery state and merge opportunity, not total mass.</a:t>
            </a:r>
          </a:p>
        </p:txBody>
      </p:sp>
      <p:grpSp>
        <p:nvGrpSpPr>
          <p:cNvPr id="20" name="diagram:candidate recovery state and finite merge opportunity"/>
          <p:cNvGrpSpPr/>
          <p:nvPr/>
        </p:nvGrpSpPr>
        <p:grpSpPr>
          <a:xfrm>
            <a:off x="841248" y="1920240"/>
            <a:ext cx="10543032" cy="2715768"/>
            <a:chOff x="841248" y="1920240"/>
            <a:chExt cx="10543032" cy="2715768"/>
          </a:xfrm>
        </p:grpSpPr>
        <p:sp>
          <p:nvSpPr>
            <p:cNvPr id="4" name="plot:Recovery detail"/>
            <p:cNvSpPr txBox="1"/>
            <p:nvPr/>
          </p:nvSpPr>
          <p:spPr>
            <a:xfrm>
              <a:off x="841248" y="1920240"/>
              <a:ext cx="512064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Recovery detail</a:t>
              </a:r>
            </a:p>
          </p:txBody>
        </p:sp>
        <p:sp>
          <p:nvSpPr>
            <p:cNvPr id="5" name="plot:Slow entrants' location + speed"/>
            <p:cNvSpPr txBox="1"/>
            <p:nvPr/>
          </p:nvSpPr>
          <p:spPr>
            <a:xfrm>
              <a:off x="841248" y="2423160"/>
              <a:ext cx="5120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Slow entrants' location + speed</a:t>
              </a:r>
            </a:p>
          </p:txBody>
        </p:sp>
        <p:sp>
          <p:nvSpPr>
            <p:cNvPr id="6" name="Rectangle 5"/>
            <p:cNvSpPr/>
            <p:nvPr/>
          </p:nvSpPr>
          <p:spPr>
            <a:xfrm>
              <a:off x="960120" y="2971800"/>
              <a:ext cx="4114800"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3003804"/>
              <a:ext cx="1417320"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5184648" y="3099816"/>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2560320" y="2752344"/>
              <a:ext cx="0" cy="905256"/>
            </a:xfrm>
            <a:prstGeom prst="line">
              <a:avLst/>
            </a:prstGeom>
            <a:ln w="29209">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724912" y="3172968"/>
              <a:ext cx="1042416" cy="0"/>
            </a:xfrm>
            <a:prstGeom prst="line">
              <a:avLst/>
            </a:prstGeom>
            <a:ln w="25400">
              <a:solidFill>
                <a:srgbClr val="A87532"/>
              </a:solidFill>
              <a:tailEnd type="triangle"/>
            </a:ln>
          </p:spPr>
          <p:style>
            <a:lnRef idx="2">
              <a:schemeClr val="accent1"/>
            </a:lnRef>
            <a:fillRef idx="0">
              <a:schemeClr val="accent1"/>
            </a:fillRef>
            <a:effectRef idx="1">
              <a:schemeClr val="accent1"/>
            </a:effectRef>
            <a:fontRef idx="minor">
              <a:schemeClr val="tx1"/>
            </a:fontRef>
          </p:style>
        </p:cxnSp>
        <p:sp>
          <p:nvSpPr>
            <p:cNvPr id="11" name="plot:Remaining acceleration changes service"/>
            <p:cNvSpPr txBox="1"/>
            <p:nvPr/>
          </p:nvSpPr>
          <p:spPr>
            <a:xfrm>
              <a:off x="960120" y="3794760"/>
              <a:ext cx="502920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Remaining acceleration changes service</a:t>
              </a:r>
            </a:p>
          </p:txBody>
        </p:sp>
        <p:sp>
          <p:nvSpPr>
            <p:cNvPr id="12" name="plot:Merge-opportunity detail"/>
            <p:cNvSpPr txBox="1"/>
            <p:nvPr/>
          </p:nvSpPr>
          <p:spPr>
            <a:xfrm>
              <a:off x="6263640" y="1920240"/>
              <a:ext cx="512064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Merge-opportunity detail</a:t>
              </a:r>
            </a:p>
          </p:txBody>
        </p:sp>
        <p:sp>
          <p:nvSpPr>
            <p:cNvPr id="13" name="plot:Distance to lane end + gap timing"/>
            <p:cNvSpPr txBox="1"/>
            <p:nvPr/>
          </p:nvSpPr>
          <p:spPr>
            <a:xfrm>
              <a:off x="6263640" y="2423160"/>
              <a:ext cx="5120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Distance to lane end + gap timing</a:t>
              </a:r>
            </a:p>
          </p:txBody>
        </p:sp>
        <p:sp>
          <p:nvSpPr>
            <p:cNvPr id="14" name="Rectangle 13"/>
            <p:cNvSpPr/>
            <p:nvPr/>
          </p:nvSpPr>
          <p:spPr>
            <a:xfrm>
              <a:off x="6373368" y="2971800"/>
              <a:ext cx="4251960" cy="32918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2980944"/>
              <a:ext cx="841248"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73368" y="3648456"/>
              <a:ext cx="2834640" cy="329184"/>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8412480" y="3300984"/>
              <a:ext cx="0" cy="493776"/>
            </a:xfrm>
            <a:prstGeom prst="line">
              <a:avLst/>
            </a:prstGeom>
            <a:ln w="25400">
              <a:solidFill>
                <a:srgbClr val="267D86"/>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208008" y="3648456"/>
              <a:ext cx="0" cy="329183"/>
            </a:xfrm>
            <a:prstGeom prst="line">
              <a:avLst/>
            </a:prstGeom>
            <a:ln w="25400">
              <a:solidFill>
                <a:srgbClr val="7D8791"/>
              </a:solidFill>
            </a:ln>
          </p:spPr>
          <p:style>
            <a:lnRef idx="2">
              <a:schemeClr val="accent1"/>
            </a:lnRef>
            <a:fillRef idx="0">
              <a:schemeClr val="accent1"/>
            </a:fillRef>
            <a:effectRef idx="1">
              <a:schemeClr val="accent1"/>
            </a:effectRef>
            <a:fontRef idx="minor">
              <a:schemeClr val="tx1"/>
            </a:fontRef>
          </p:style>
        </p:cxnSp>
        <p:sp>
          <p:nvSpPr>
            <p:cNvPr id="19" name="plot:Spatial models can retain opportunity"/>
            <p:cNvSpPr txBox="1"/>
            <p:nvPr/>
          </p:nvSpPr>
          <p:spPr>
            <a:xfrm>
              <a:off x="6419088" y="4251960"/>
              <a:ext cx="47548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Spatial models can retain opportunity</a:t>
              </a:r>
            </a:p>
          </p:txBody>
        </p:sp>
      </p:grpSp>
      <p:sp>
        <p:nvSpPr>
          <p:cNvPr id="21" name="body:The sources support these effects on traffic, not their absence from all available history."/>
          <p:cNvSpPr txBox="1"/>
          <p:nvPr/>
        </p:nvSpPr>
        <p:spPr>
          <a:xfrm>
            <a:off x="749808" y="49194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The sources support these effects on traffic, not their absence from all available history.</a:t>
            </a:r>
          </a:p>
        </p:txBody>
      </p:sp>
      <p:sp>
        <p:nvSpPr>
          <p:cNvPr id="22" name="body:Known motion or a spatial aggregate state can already retain part of this information."/>
          <p:cNvSpPr txBox="1"/>
          <p:nvPr/>
        </p:nvSpPr>
        <p:spPr>
          <a:xfrm>
            <a:off x="749808" y="5358383"/>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Known motion or a spatial aggregate state can already retain part of this information.</a:t>
            </a:r>
          </a:p>
        </p:txBody>
      </p:sp>
      <p:sp>
        <p:nvSpPr>
          <p:cNvPr id="23" name="body:Neither reviewed lead supplied the full-history distinction and its useful common-rate effect."/>
          <p:cNvSpPr txBox="1"/>
          <p:nvPr/>
        </p:nvSpPr>
        <p:spPr>
          <a:xfrm>
            <a:off x="749808" y="579729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Neither reviewed lead supplied the full-history distinction and its useful common-rate effect.</a:t>
            </a:r>
          </a:p>
        </p:txBody>
      </p:sp>
      <p:sp>
        <p:nvSpPr>
          <p:cNvPr id="24" name="argument:Because the full-history link remained missing, we reconsidered that claim."/>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Because the full-history link remained missing, we reconsidered that claim.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Backtrack from hiddenness to model adequacy"/>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Backtrack from hiddenness to model adequacy</a:t>
            </a:r>
          </a:p>
        </p:txBody>
      </p:sp>
      <p:sp>
        <p:nvSpPr>
          <p:cNvPr id="3" name="body:Known traffic can be public yet omitted from a model's retained state."/>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Known traffic can be public yet omitted from a model's retained state.</a:t>
            </a:r>
          </a:p>
        </p:txBody>
      </p:sp>
      <p:grpSp>
        <p:nvGrpSpPr>
          <p:cNvPr id="24" name="diagram:information-domain audit then common-scenario projection"/>
          <p:cNvGrpSpPr/>
          <p:nvPr/>
        </p:nvGrpSpPr>
        <p:grpSpPr>
          <a:xfrm>
            <a:off x="868680" y="1965960"/>
            <a:ext cx="10680192" cy="3072384"/>
            <a:chOff x="868680" y="1965960"/>
            <a:chExt cx="10680192" cy="3072384"/>
          </a:xfrm>
        </p:grpSpPr>
        <p:sp>
          <p:nvSpPr>
            <p:cNvPr id="4" name="plot:First: ground operational knowledge"/>
            <p:cNvSpPr txBox="1"/>
            <p:nvPr/>
          </p:nvSpPr>
          <p:spPr>
            <a:xfrm>
              <a:off x="868680" y="1965960"/>
              <a:ext cx="50292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First: ground operational knowledge</a:t>
              </a:r>
            </a:p>
          </p:txBody>
        </p:sp>
        <p:sp>
          <p:nvSpPr>
            <p:cNvPr id="5" name="Rectangle 4"/>
            <p:cNvSpPr/>
            <p:nvPr/>
          </p:nvSpPr>
          <p:spPr>
            <a:xfrm>
              <a:off x="1005840" y="2834640"/>
              <a:ext cx="4206240" cy="164592"/>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2331720" y="2560320"/>
              <a:ext cx="0" cy="649224"/>
            </a:xfrm>
            <a:prstGeom prst="line">
              <a:avLst/>
            </a:prstGeom>
            <a:ln w="34290">
              <a:solidFill>
                <a:srgbClr val="267D86"/>
              </a:solidFill>
            </a:ln>
          </p:spPr>
          <p:style>
            <a:lnRef idx="2">
              <a:schemeClr val="accent1"/>
            </a:lnRef>
            <a:fillRef idx="0">
              <a:schemeClr val="accent1"/>
            </a:fillRef>
            <a:effectRef idx="1">
              <a:schemeClr val="accent1"/>
            </a:effectRef>
            <a:fontRef idx="minor">
              <a:schemeClr val="tx1"/>
            </a:fontRef>
          </p:style>
        </p:cxnSp>
        <p:sp>
          <p:nvSpPr>
            <p:cNvPr id="7" name="plot:Detector inputs ≠ all accessible history"/>
            <p:cNvSpPr txBox="1"/>
            <p:nvPr/>
          </p:nvSpPr>
          <p:spPr>
            <a:xfrm>
              <a:off x="960120" y="3456432"/>
              <a:ext cx="48920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Detector inputs ≠ all accessible history</a:t>
              </a:r>
            </a:p>
          </p:txBody>
        </p:sp>
        <p:sp>
          <p:nvSpPr>
            <p:cNvPr id="8" name="plot:Knowledge contract stayed incomplete"/>
            <p:cNvSpPr txBox="1"/>
            <p:nvPr/>
          </p:nvSpPr>
          <p:spPr>
            <a:xfrm>
              <a:off x="960120" y="3959352"/>
              <a:ext cx="48463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Knowledge contract stayed incomplete</a:t>
              </a:r>
            </a:p>
          </p:txBody>
        </p:sp>
        <p:cxnSp>
          <p:nvCxnSpPr>
            <p:cNvPr id="9" name="Connector 8"/>
            <p:cNvCxnSpPr/>
            <p:nvPr/>
          </p:nvCxnSpPr>
          <p:spPr>
            <a:xfrm>
              <a:off x="5394960" y="3154680"/>
              <a:ext cx="612648" cy="0"/>
            </a:xfrm>
            <a:prstGeom prst="line">
              <a:avLst/>
            </a:prstGeom>
            <a:ln w="26670">
              <a:solidFill>
                <a:srgbClr val="267D86"/>
              </a:solidFill>
              <a:tailEnd type="triangle"/>
            </a:ln>
          </p:spPr>
          <p:style>
            <a:lnRef idx="2">
              <a:schemeClr val="accent1"/>
            </a:lnRef>
            <a:fillRef idx="0">
              <a:schemeClr val="accent1"/>
            </a:fillRef>
            <a:effectRef idx="1">
              <a:schemeClr val="accent1"/>
            </a:effectRef>
            <a:fontRef idx="minor">
              <a:schemeClr val="tx1"/>
            </a:fontRef>
          </p:style>
        </p:cxnSp>
        <p:sp>
          <p:nvSpPr>
            <p:cNvPr id="10" name="plot:Then: test representation adequacy"/>
            <p:cNvSpPr txBox="1"/>
            <p:nvPr/>
          </p:nvSpPr>
          <p:spPr>
            <a:xfrm>
              <a:off x="6236208" y="1965960"/>
              <a:ext cx="50292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Then: test representation adequacy</a:t>
              </a:r>
            </a:p>
          </p:txBody>
        </p:sp>
        <p:sp>
          <p:nvSpPr>
            <p:cNvPr id="11" name="Rectangle 10"/>
            <p:cNvSpPr/>
            <p:nvPr/>
          </p:nvSpPr>
          <p:spPr>
            <a:xfrm>
              <a:off x="6400800" y="2670048"/>
              <a:ext cx="3822191"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400800" y="2702052"/>
              <a:ext cx="1371600"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10332719" y="2798064"/>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7955279" y="2532888"/>
              <a:ext cx="0" cy="713232"/>
            </a:xfrm>
            <a:prstGeom prst="line">
              <a:avLst/>
            </a:prstGeom>
            <a:ln w="2540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7223760" y="3291840"/>
              <a:ext cx="685800" cy="457199"/>
            </a:xfrm>
            <a:prstGeom prst="line">
              <a:avLst/>
            </a:prstGeom>
            <a:ln w="20320">
              <a:solidFill>
                <a:srgbClr val="7D8791"/>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909560" y="3291840"/>
              <a:ext cx="1673352" cy="457199"/>
            </a:xfrm>
            <a:prstGeom prst="line">
              <a:avLst/>
            </a:prstGeom>
            <a:ln w="2032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446520" y="3931920"/>
              <a:ext cx="1755648" cy="301752"/>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64808" y="3950208"/>
              <a:ext cx="658368" cy="265176"/>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7150608" y="3767328"/>
              <a:ext cx="0" cy="640080"/>
            </a:xfrm>
            <a:prstGeom prst="line">
              <a:avLst/>
            </a:prstGeom>
            <a:ln w="25400">
              <a:solidFill>
                <a:srgbClr val="A87532"/>
              </a:solidFill>
            </a:ln>
          </p:spPr>
          <p:style>
            <a:lnRef idx="2">
              <a:schemeClr val="accent1"/>
            </a:lnRef>
            <a:fillRef idx="0">
              <a:schemeClr val="accent1"/>
            </a:fillRef>
            <a:effectRef idx="1">
              <a:schemeClr val="accent1"/>
            </a:effectRef>
            <a:fontRef idx="minor">
              <a:schemeClr val="tx1"/>
            </a:fontRef>
          </p:style>
        </p:cxnSp>
        <p:sp>
          <p:nvSpPr>
            <p:cNvPr id="20" name="plot:Field + exact effects"/>
            <p:cNvSpPr txBox="1"/>
            <p:nvPr/>
          </p:nvSpPr>
          <p:spPr>
            <a:xfrm>
              <a:off x="6144768" y="4654296"/>
              <a:ext cx="26517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Field + exact effects</a:t>
              </a:r>
            </a:p>
          </p:txBody>
        </p:sp>
        <p:sp>
          <p:nvSpPr>
            <p:cNvPr id="21" name="Rectangle 20"/>
            <p:cNvSpPr/>
            <p:nvPr/>
          </p:nvSpPr>
          <p:spPr>
            <a:xfrm>
              <a:off x="9162288" y="3931920"/>
              <a:ext cx="1755648" cy="301752"/>
            </a:xfrm>
            <a:prstGeom prst="rect">
              <a:avLst/>
            </a:prstGeom>
            <a:solidFill>
              <a:srgbClr val="F1F4F6"/>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 name="Connector 21"/>
            <p:cNvCxnSpPr/>
            <p:nvPr/>
          </p:nvCxnSpPr>
          <p:spPr>
            <a:xfrm>
              <a:off x="9217152" y="4462272"/>
              <a:ext cx="1453896" cy="0"/>
            </a:xfrm>
            <a:prstGeom prst="line">
              <a:avLst/>
            </a:prstGeom>
            <a:ln w="20320">
              <a:solidFill>
                <a:srgbClr val="416F9B"/>
              </a:solidFill>
              <a:tailEnd type="triangle"/>
            </a:ln>
          </p:spPr>
          <p:style>
            <a:lnRef idx="2">
              <a:schemeClr val="accent1"/>
            </a:lnRef>
            <a:fillRef idx="0">
              <a:schemeClr val="accent1"/>
            </a:fillRef>
            <a:effectRef idx="1">
              <a:schemeClr val="accent1"/>
            </a:effectRef>
            <a:fontRef idx="minor">
              <a:schemeClr val="tx1"/>
            </a:fontRef>
          </p:style>
        </p:cxnSp>
        <p:sp>
          <p:nvSpPr>
            <p:cNvPr id="23" name="plot:Field + memory"/>
            <p:cNvSpPr txBox="1"/>
            <p:nvPr/>
          </p:nvSpPr>
          <p:spPr>
            <a:xfrm>
              <a:off x="8714232" y="4654296"/>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Field + memory</a:t>
              </a:r>
            </a:p>
          </p:txBody>
        </p:sp>
      </p:grpSp>
      <p:sp>
        <p:nvSpPr>
          <p:cNvPr id="25" name="body:Changed claim: which independent model preserves the response to the same rate change?"/>
          <p:cNvSpPr txBox="1"/>
          <p:nvPr/>
        </p:nvSpPr>
        <p:spPr>
          <a:xfrm>
            <a:off x="749808" y="513892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Changed claim: which independent model preserves the response to the same rate change?</a:t>
            </a:r>
          </a:p>
        </p:txBody>
      </p:sp>
      <p:sp>
        <p:nvSpPr>
          <p:cNvPr id="26" name="body:Same public traffic, forcing and full objective; no model receives future reference answers."/>
          <p:cNvSpPr txBox="1"/>
          <p:nvPr/>
        </p:nvSpPr>
        <p:spPr>
          <a:xfrm>
            <a:off x="749808" y="55046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Same public traffic, forcing and full objective; no model receives future reference answers.</a:t>
            </a:r>
          </a:p>
        </p:txBody>
      </p:sp>
      <p:sp>
        <p:nvSpPr>
          <p:cNvPr id="27" name="body:A sufficient compact summary is a positive outcome; hiddenness is not assumed."/>
          <p:cNvSpPr txBox="1"/>
          <p:nvPr/>
        </p:nvSpPr>
        <p:spPr>
          <a:xfrm>
            <a:off x="749808" y="587044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 sufficient compact summary is a positive outcome; hiddenness is not assumed.</a:t>
            </a:r>
          </a:p>
        </p:txBody>
      </p:sp>
      <p:sp>
        <p:nvSpPr>
          <p:cNvPr id="28" name="argument:This change lets us audit a shared physical model before asking what can be removed."/>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This change lets us audit a shared physical model before asking what can be removed.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Ramp entrants create a lasting moving effect"/>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Ramp entrants create a lasting moving effect</a:t>
            </a:r>
          </a:p>
        </p:txBody>
      </p:sp>
      <p:sp>
        <p:nvSpPr>
          <p:cNvPr id="3" name="body:After merging, a slow ramp entrant can continue to restrict the receiving lane."/>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After merging, a slow ramp entrant can continue to restrict the receiving lane.</a:t>
            </a:r>
          </a:p>
        </p:txBody>
      </p:sp>
      <p:grpSp>
        <p:nvGrpSpPr>
          <p:cNvPr id="24" name="diagram:connected ramp entry becomes downstream moving restriction"/>
          <p:cNvGrpSpPr/>
          <p:nvPr/>
        </p:nvGrpSpPr>
        <p:grpSpPr>
          <a:xfrm>
            <a:off x="841248" y="2057400"/>
            <a:ext cx="10396728" cy="3374136"/>
            <a:chOff x="841248" y="2057400"/>
            <a:chExt cx="10396728" cy="3374136"/>
          </a:xfrm>
        </p:grpSpPr>
        <p:sp>
          <p:nvSpPr>
            <p:cNvPr id="4" name="plot:Mainline lanes"/>
            <p:cNvSpPr txBox="1"/>
            <p:nvPr/>
          </p:nvSpPr>
          <p:spPr>
            <a:xfrm>
              <a:off x="841248" y="2057400"/>
              <a:ext cx="20574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Mainline lanes</a:t>
              </a:r>
            </a:p>
          </p:txBody>
        </p:sp>
        <p:sp>
          <p:nvSpPr>
            <p:cNvPr id="5" name="Rectangle 4"/>
            <p:cNvSpPr/>
            <p:nvPr/>
          </p:nvSpPr>
          <p:spPr>
            <a:xfrm>
              <a:off x="2834640" y="2121408"/>
              <a:ext cx="7863840" cy="402336"/>
            </a:xfrm>
            <a:prstGeom prst="rect">
              <a:avLst/>
            </a:prstGeom>
            <a:solidFill>
              <a:srgbClr val="E4E8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834640" y="3017520"/>
              <a:ext cx="7863840" cy="512064"/>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862072" y="3044952"/>
              <a:ext cx="4690872" cy="45720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10835640" y="2267712"/>
              <a:ext cx="402336" cy="15544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10835640" y="3218688"/>
              <a:ext cx="402336" cy="15544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1325880" y="3529584"/>
              <a:ext cx="3840480" cy="1133856"/>
            </a:xfrm>
            <a:prstGeom prst="line">
              <a:avLst/>
            </a:prstGeom>
            <a:ln w="2667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325880" y="3529584"/>
              <a:ext cx="4270248" cy="1527048"/>
            </a:xfrm>
            <a:prstGeom prst="line">
              <a:avLst/>
            </a:prstGeom>
            <a:ln w="2667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965960" y="4590288"/>
              <a:ext cx="128016" cy="256032"/>
            </a:xfrm>
            <a:prstGeom prst="line">
              <a:avLst/>
            </a:prstGeom>
            <a:ln w="3810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514600" y="3401568"/>
              <a:ext cx="2916936" cy="1115568"/>
            </a:xfrm>
            <a:prstGeom prst="line">
              <a:avLst/>
            </a:prstGeom>
            <a:ln w="31750">
              <a:solidFill>
                <a:srgbClr val="A87532"/>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87568" y="3300984"/>
              <a:ext cx="1563624" cy="0"/>
            </a:xfrm>
            <a:prstGeom prst="line">
              <a:avLst/>
            </a:prstGeom>
            <a:ln w="31750">
              <a:solidFill>
                <a:srgbClr val="A87532"/>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589520" y="2816352"/>
              <a:ext cx="0" cy="868680"/>
            </a:xfrm>
            <a:prstGeom prst="line">
              <a:avLst/>
            </a:prstGeom>
            <a:ln w="34290">
              <a:solidFill>
                <a:srgbClr val="A87532"/>
              </a:solidFill>
            </a:ln>
          </p:spPr>
          <p:style>
            <a:lnRef idx="2">
              <a:schemeClr val="accent1"/>
            </a:lnRef>
            <a:fillRef idx="0">
              <a:schemeClr val="accent1"/>
            </a:fillRef>
            <a:effectRef idx="1">
              <a:schemeClr val="accent1"/>
            </a:effectRef>
            <a:fontRef idx="minor">
              <a:schemeClr val="tx1"/>
            </a:fontRef>
          </p:style>
        </p:cxnSp>
        <p:sp>
          <p:nvSpPr>
            <p:cNvPr id="16" name="Right Arrow 15"/>
            <p:cNvSpPr/>
            <p:nvPr/>
          </p:nvSpPr>
          <p:spPr>
            <a:xfrm>
              <a:off x="7772400" y="3209544"/>
              <a:ext cx="502920" cy="164592"/>
            </a:xfrm>
            <a:prstGeom prst="rightArrow">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ot:Slow entrant after merging"/>
            <p:cNvSpPr txBox="1"/>
            <p:nvPr/>
          </p:nvSpPr>
          <p:spPr>
            <a:xfrm>
              <a:off x="6309360" y="2587752"/>
              <a:ext cx="466344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A87532"/>
                  </a:solidFill>
                  <a:latin typeface="Calibri"/>
                </a:defRPr>
              </a:pPr>
              <a:r>
                <a:t>Slow entrant after merging</a:t>
              </a:r>
            </a:p>
          </p:txBody>
        </p:sp>
        <p:sp>
          <p:nvSpPr>
            <p:cNvPr id="18" name="plot:Gap ahead"/>
            <p:cNvSpPr txBox="1"/>
            <p:nvPr/>
          </p:nvSpPr>
          <p:spPr>
            <a:xfrm>
              <a:off x="8330183" y="3822191"/>
              <a:ext cx="23317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Gap ahead</a:t>
              </a:r>
            </a:p>
          </p:txBody>
        </p:sp>
        <p:sp>
          <p:nvSpPr>
            <p:cNvPr id="19" name="plot:Slowed followers"/>
            <p:cNvSpPr txBox="1"/>
            <p:nvPr/>
          </p:nvSpPr>
          <p:spPr>
            <a:xfrm>
              <a:off x="2926080" y="3081528"/>
              <a:ext cx="31546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FFFFFF"/>
                  </a:solidFill>
                  <a:latin typeface="Calibri"/>
                </a:defRPr>
              </a:pPr>
              <a:r>
                <a:t>Slowed followers</a:t>
              </a:r>
            </a:p>
          </p:txBody>
        </p:sp>
        <p:sp>
          <p:nvSpPr>
            <p:cNvPr id="20" name="plot:Actual ramp merge"/>
            <p:cNvSpPr txBox="1"/>
            <p:nvPr/>
          </p:nvSpPr>
          <p:spPr>
            <a:xfrm>
              <a:off x="4187952" y="4343400"/>
              <a:ext cx="35204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Actual ramp merge</a:t>
              </a:r>
            </a:p>
          </p:txBody>
        </p:sp>
        <p:cxnSp>
          <p:nvCxnSpPr>
            <p:cNvPr id="21" name="Connector 20"/>
            <p:cNvCxnSpPr/>
            <p:nvPr/>
          </p:nvCxnSpPr>
          <p:spPr>
            <a:xfrm flipV="1">
              <a:off x="5257800" y="3584448"/>
              <a:ext cx="182880" cy="667512"/>
            </a:xfrm>
            <a:prstGeom prst="line">
              <a:avLst/>
            </a:prstGeom>
            <a:ln w="20320">
              <a:solidFill>
                <a:srgbClr val="A87532"/>
              </a:solidFill>
              <a:tailEnd type="triangle"/>
            </a:ln>
          </p:spPr>
          <p:style>
            <a:lnRef idx="2">
              <a:schemeClr val="accent1"/>
            </a:lnRef>
            <a:fillRef idx="0">
              <a:schemeClr val="accent1"/>
            </a:fillRef>
            <a:effectRef idx="1">
              <a:schemeClr val="accent1"/>
            </a:effectRef>
            <a:fontRef idx="minor">
              <a:schemeClr val="tx1"/>
            </a:fontRef>
          </p:style>
        </p:cxnSp>
        <p:sp>
          <p:nvSpPr>
            <p:cNvPr id="22" name="plot:Upstream rate permission"/>
            <p:cNvSpPr txBox="1"/>
            <p:nvPr/>
          </p:nvSpPr>
          <p:spPr>
            <a:xfrm>
              <a:off x="941832" y="5047488"/>
              <a:ext cx="32918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Upstream rate permission</a:t>
              </a:r>
            </a:p>
          </p:txBody>
        </p:sp>
        <p:sp>
          <p:nvSpPr>
            <p:cNvPr id="23" name="plot:Finite ramp; travel and queue"/>
            <p:cNvSpPr txBox="1"/>
            <p:nvPr/>
          </p:nvSpPr>
          <p:spPr>
            <a:xfrm>
              <a:off x="2788920" y="4590288"/>
              <a:ext cx="3749039"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Finite ramp; travel and queue</a:t>
              </a:r>
            </a:p>
          </p:txBody>
        </p:sp>
      </p:grpSp>
      <p:sp>
        <p:nvSpPr>
          <p:cNvPr id="25" name="body:Population stays continuous and conserved; a restriction adds no extra vehicle mass."/>
          <p:cNvSpPr txBox="1"/>
          <p:nvPr/>
        </p:nvSpPr>
        <p:spPr>
          <a:xfrm>
            <a:off x="749808" y="55046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Population stays continuous and conserved; a restriction adds no extra vehicle mass.</a:t>
            </a:r>
          </a:p>
        </p:txBody>
      </p:sp>
      <p:sp>
        <p:nvSpPr>
          <p:cNvPr id="26" name="body:Basis: Laval–Daganzo flow and moving effects; the joined task uses explicit adaptations."/>
          <p:cNvSpPr txBox="1"/>
          <p:nvPr/>
        </p:nvSpPr>
        <p:spPr>
          <a:xfrm>
            <a:off x="749808" y="592531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Basis: Laval–Daganzo flow and moving effects; the joined task uses explicit adaptations.</a:t>
            </a:r>
          </a:p>
        </p:txBody>
      </p:sp>
      <p:sp>
        <p:nvSpPr>
          <p:cNvPr id="27" name="argument:The next question is what state remembers the entrant's continuing traffic effect."/>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 next question is what state remembers the entrant's continuing traffic effect.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 mean model needs recovery memory"/>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A mean model needs recovery memory</a:t>
            </a:r>
          </a:p>
        </p:txBody>
      </p:sp>
      <p:sp>
        <p:nvSpPr>
          <p:cNvPr id="3" name="body:Zero new entries does not specify what old slow entrants still do."/>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Zero new entries does not specify what old slow entrants still do.</a:t>
            </a:r>
          </a:p>
        </p:txBody>
      </p:sp>
      <p:grpSp>
        <p:nvGrpSpPr>
          <p:cNvPr id="19" name="diagram:two recovery phases with the same current zero entry rate"/>
          <p:cNvGrpSpPr/>
          <p:nvPr/>
        </p:nvGrpSpPr>
        <p:grpSpPr>
          <a:xfrm>
            <a:off x="886968" y="1847088"/>
            <a:ext cx="10058400" cy="3410712"/>
            <a:chOff x="886968" y="1847088"/>
            <a:chExt cx="10058400" cy="3410712"/>
          </a:xfrm>
        </p:grpSpPr>
        <p:sp>
          <p:nvSpPr>
            <p:cNvPr id="4" name="plot:After actual entries stop: the current entry rate is zero in both phases"/>
            <p:cNvSpPr txBox="1"/>
            <p:nvPr/>
          </p:nvSpPr>
          <p:spPr>
            <a:xfrm>
              <a:off x="886968" y="1847088"/>
              <a:ext cx="100584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After actual entries stop: the current entry rate is zero in both phases</a:t>
              </a:r>
            </a:p>
          </p:txBody>
        </p:sp>
        <p:sp>
          <p:nvSpPr>
            <p:cNvPr id="5" name="plot:Soon after the last merge"/>
            <p:cNvSpPr txBox="1"/>
            <p:nvPr/>
          </p:nvSpPr>
          <p:spPr>
            <a:xfrm>
              <a:off x="941832" y="2505456"/>
              <a:ext cx="320040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Soon after the last merge</a:t>
              </a:r>
            </a:p>
          </p:txBody>
        </p:sp>
        <p:sp>
          <p:nvSpPr>
            <p:cNvPr id="6" name="Rectangle 5"/>
            <p:cNvSpPr/>
            <p:nvPr/>
          </p:nvSpPr>
          <p:spPr>
            <a:xfrm>
              <a:off x="4251960" y="2514600"/>
              <a:ext cx="5230368"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51960" y="2546604"/>
              <a:ext cx="1691640"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9592056" y="2642616"/>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5998464" y="2331720"/>
              <a:ext cx="0" cy="850392"/>
            </a:xfrm>
            <a:prstGeom prst="line">
              <a:avLst/>
            </a:prstGeom>
            <a:ln w="3175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190488" y="2724912"/>
              <a:ext cx="493776" cy="0"/>
            </a:xfrm>
            <a:prstGeom prst="line">
              <a:avLst/>
            </a:prstGeom>
            <a:ln w="25400">
              <a:solidFill>
                <a:srgbClr val="A87532"/>
              </a:solidFill>
              <a:tailEnd type="triangle"/>
            </a:ln>
          </p:spPr>
          <p:style>
            <a:lnRef idx="2">
              <a:schemeClr val="accent1"/>
            </a:lnRef>
            <a:fillRef idx="0">
              <a:schemeClr val="accent1"/>
            </a:fillRef>
            <a:effectRef idx="1">
              <a:schemeClr val="accent1"/>
            </a:effectRef>
            <a:fontRef idx="minor">
              <a:schemeClr val="tx1"/>
            </a:fontRef>
          </p:style>
        </p:cxnSp>
        <p:sp>
          <p:nvSpPr>
            <p:cNvPr id="11" name="plot:Old entrant still slows followers"/>
            <p:cNvSpPr txBox="1"/>
            <p:nvPr/>
          </p:nvSpPr>
          <p:spPr>
            <a:xfrm>
              <a:off x="4251960" y="3227832"/>
              <a:ext cx="64922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Old entrant still slows followers</a:t>
              </a:r>
            </a:p>
          </p:txBody>
        </p:sp>
        <p:cxnSp>
          <p:nvCxnSpPr>
            <p:cNvPr id="12" name="Connector 11"/>
            <p:cNvCxnSpPr/>
            <p:nvPr/>
          </p:nvCxnSpPr>
          <p:spPr>
            <a:xfrm>
              <a:off x="1078992" y="3163824"/>
              <a:ext cx="0" cy="795528"/>
            </a:xfrm>
            <a:prstGeom prst="line">
              <a:avLst/>
            </a:prstGeom>
            <a:ln w="22860">
              <a:solidFill>
                <a:srgbClr val="7D8791"/>
              </a:solidFill>
              <a:tailEnd type="triangle"/>
            </a:ln>
          </p:spPr>
          <p:style>
            <a:lnRef idx="2">
              <a:schemeClr val="accent1"/>
            </a:lnRef>
            <a:fillRef idx="0">
              <a:schemeClr val="accent1"/>
            </a:fillRef>
            <a:effectRef idx="1">
              <a:schemeClr val="accent1"/>
            </a:effectRef>
            <a:fontRef idx="minor">
              <a:schemeClr val="tx1"/>
            </a:fontRef>
          </p:style>
        </p:cxnSp>
        <p:sp>
          <p:nvSpPr>
            <p:cNvPr id="13" name="plot:Traffic + acceleration"/>
            <p:cNvSpPr txBox="1"/>
            <p:nvPr/>
          </p:nvSpPr>
          <p:spPr>
            <a:xfrm>
              <a:off x="1417320" y="3547872"/>
              <a:ext cx="26517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Traffic + acceleration</a:t>
              </a:r>
            </a:p>
          </p:txBody>
        </p:sp>
        <p:sp>
          <p:nvSpPr>
            <p:cNvPr id="14" name="plot:After recovery"/>
            <p:cNvSpPr txBox="1"/>
            <p:nvPr/>
          </p:nvSpPr>
          <p:spPr>
            <a:xfrm>
              <a:off x="941832" y="4142232"/>
              <a:ext cx="31546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After recovery</a:t>
              </a:r>
            </a:p>
          </p:txBody>
        </p:sp>
        <p:sp>
          <p:nvSpPr>
            <p:cNvPr id="15" name="Rectangle 14"/>
            <p:cNvSpPr/>
            <p:nvPr/>
          </p:nvSpPr>
          <p:spPr>
            <a:xfrm>
              <a:off x="4251960" y="4160520"/>
              <a:ext cx="5230368" cy="429768"/>
            </a:xfrm>
            <a:prstGeom prst="rect">
              <a:avLst/>
            </a:prstGeom>
            <a:solidFill>
              <a:srgbClr val="F1F4F6"/>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8513064" y="3986784"/>
              <a:ext cx="0" cy="804672"/>
            </a:xfrm>
            <a:prstGeom prst="line">
              <a:avLst/>
            </a:prstGeom>
            <a:ln w="2286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677656" y="4379976"/>
              <a:ext cx="594360" cy="0"/>
            </a:xfrm>
            <a:prstGeom prst="line">
              <a:avLst/>
            </a:prstGeom>
            <a:ln w="25400">
              <a:solidFill>
                <a:srgbClr val="267D86"/>
              </a:solidFill>
              <a:tailEnd type="triangle"/>
            </a:ln>
          </p:spPr>
          <p:style>
            <a:lnRef idx="2">
              <a:schemeClr val="accent1"/>
            </a:lnRef>
            <a:fillRef idx="0">
              <a:schemeClr val="accent1"/>
            </a:fillRef>
            <a:effectRef idx="1">
              <a:schemeClr val="accent1"/>
            </a:effectRef>
            <a:fontRef idx="minor">
              <a:schemeClr val="tx1"/>
            </a:fontRef>
          </p:style>
        </p:cxnSp>
        <p:sp>
          <p:nvSpPr>
            <p:cNvPr id="18" name="plot:Entrant no longer adds a service restriction"/>
            <p:cNvSpPr txBox="1"/>
            <p:nvPr/>
          </p:nvSpPr>
          <p:spPr>
            <a:xfrm>
              <a:off x="4251960" y="4873752"/>
              <a:ext cx="64922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Entrant no longer adds a service restriction</a:t>
              </a:r>
            </a:p>
          </p:txBody>
        </p:sp>
      </p:grpSp>
      <p:sp>
        <p:nvSpPr>
          <p:cNvPr id="20" name="body:A mean law based on current entries can miss the continuing effect of an earlier merge."/>
          <p:cNvSpPr txBox="1"/>
          <p:nvPr/>
        </p:nvSpPr>
        <p:spPr>
          <a:xfrm>
            <a:off x="749808" y="535838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 mean law based on current entries can miss the continuing effect of an earlier merge.</a:t>
            </a:r>
          </a:p>
        </p:txBody>
      </p:sp>
      <p:sp>
        <p:nvSpPr>
          <p:cNvPr id="21" name="body:Event counters remember creation; traffic ahead determines later motion and release."/>
          <p:cNvSpPr txBox="1"/>
          <p:nvPr/>
        </p:nvSpPr>
        <p:spPr>
          <a:xfrm>
            <a:off x="749808" y="571500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Event counters remember creation; traffic ahead determines later motion and release.</a:t>
            </a:r>
          </a:p>
        </p:txBody>
      </p:sp>
      <p:sp>
        <p:nvSpPr>
          <p:cNvPr id="22" name="body:We kept distinct effects first; whether a smaller summary suffices remains open."/>
          <p:cNvSpPr txBox="1"/>
          <p:nvPr/>
        </p:nvSpPr>
        <p:spPr>
          <a:xfrm>
            <a:off x="749808" y="607161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We kept distinct effects first; whether a smaller summary suffices remains open.</a:t>
            </a:r>
          </a:p>
        </p:txBody>
      </p:sp>
      <p:sp>
        <p:nvSpPr>
          <p:cNvPr id="23" name="argument:We retained exact effects to qualify the chain before testing smaller summaries."/>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We retained exact effects to qualify the chain before testing smaller summaries.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One traffic state must drive every component"/>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One traffic state must drive every component</a:t>
            </a:r>
          </a:p>
        </p:txBody>
      </p:sp>
      <p:sp>
        <p:nvSpPr>
          <p:cNvPr id="3" name="body:Retaining effects is useful only if their motion and traffic service share one state."/>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Retaining effects is useful only if their motion and traffic service share one state.</a:t>
            </a:r>
          </a:p>
        </p:txBody>
      </p:sp>
      <p:grpSp>
        <p:nvGrpSpPr>
          <p:cNvPr id="18" name="diagram:gap-preserving field versus cell average"/>
          <p:cNvGrpSpPr/>
          <p:nvPr/>
        </p:nvGrpSpPr>
        <p:grpSpPr>
          <a:xfrm>
            <a:off x="868680" y="1810512"/>
            <a:ext cx="9829800" cy="2825496"/>
            <a:chOff x="868680" y="1810512"/>
            <a:chExt cx="9829800" cy="2825496"/>
          </a:xfrm>
        </p:grpSpPr>
        <p:sp>
          <p:nvSpPr>
            <p:cNvPr id="4" name="plot:Completed spatial field"/>
            <p:cNvSpPr txBox="1"/>
            <p:nvPr/>
          </p:nvSpPr>
          <p:spPr>
            <a:xfrm>
              <a:off x="868680" y="1938528"/>
              <a:ext cx="32004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Completed spatial field</a:t>
              </a:r>
            </a:p>
          </p:txBody>
        </p:sp>
        <p:sp>
          <p:nvSpPr>
            <p:cNvPr id="5" name="Rectangle 4"/>
            <p:cNvSpPr/>
            <p:nvPr/>
          </p:nvSpPr>
          <p:spPr>
            <a:xfrm>
              <a:off x="4251960" y="1984248"/>
              <a:ext cx="6446520" cy="457200"/>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270248" y="2002536"/>
              <a:ext cx="1298448" cy="420624"/>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12280" y="2002536"/>
              <a:ext cx="1344168" cy="420624"/>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5596128" y="1810512"/>
              <a:ext cx="0" cy="850392"/>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165592" y="1810512"/>
              <a:ext cx="0" cy="850392"/>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sp>
          <p:nvSpPr>
            <p:cNvPr id="10" name="plot:Retained empty gap"/>
            <p:cNvSpPr txBox="1"/>
            <p:nvPr/>
          </p:nvSpPr>
          <p:spPr>
            <a:xfrm>
              <a:off x="5760720" y="2724912"/>
              <a:ext cx="2423160" cy="384048"/>
            </a:xfrm>
            <a:prstGeom prst="rect">
              <a:avLst/>
            </a:prstGeom>
            <a:noFill/>
          </p:spPr>
          <p:txBody>
            <a:bodyPr wrap="none" lIns="32004" rIns="32004" tIns="18288" bIns="18288" anchor="t">
              <a:spAutoFit/>
            </a:bodyPr>
            <a:lstStyle/>
            <a:p>
              <a:pPr algn="ctr">
                <a:spcBef>
                  <a:spcPts val="0"/>
                </a:spcBef>
                <a:spcAft>
                  <a:spcPts val="0"/>
                </a:spcAft>
                <a:defRPr sz="1800" b="0">
                  <a:solidFill>
                    <a:srgbClr val="243341"/>
                  </a:solidFill>
                  <a:latin typeface="Calibri"/>
                </a:defRPr>
              </a:pPr>
              <a:r>
                <a:t>Retained empty gap</a:t>
              </a:r>
            </a:p>
          </p:txBody>
        </p:sp>
        <p:cxnSp>
          <p:nvCxnSpPr>
            <p:cNvPr id="11" name="Connector 10"/>
            <p:cNvCxnSpPr/>
            <p:nvPr/>
          </p:nvCxnSpPr>
          <p:spPr>
            <a:xfrm>
              <a:off x="3703320" y="2697480"/>
              <a:ext cx="0" cy="621792"/>
            </a:xfrm>
            <a:prstGeom prst="line">
              <a:avLst/>
            </a:prstGeom>
            <a:ln w="22860">
              <a:solidFill>
                <a:srgbClr val="A87532"/>
              </a:solidFill>
              <a:tailEnd type="triangle"/>
            </a:ln>
          </p:spPr>
          <p:style>
            <a:lnRef idx="2">
              <a:schemeClr val="accent1"/>
            </a:lnRef>
            <a:fillRef idx="0">
              <a:schemeClr val="accent1"/>
            </a:fillRef>
            <a:effectRef idx="1">
              <a:schemeClr val="accent1"/>
            </a:effectRef>
            <a:fontRef idx="minor">
              <a:schemeClr val="tx1"/>
            </a:fontRef>
          </p:style>
        </p:cxnSp>
        <p:sp>
          <p:nvSpPr>
            <p:cNvPr id="12" name="plot:Averaging projection"/>
            <p:cNvSpPr txBox="1"/>
            <p:nvPr/>
          </p:nvSpPr>
          <p:spPr>
            <a:xfrm>
              <a:off x="868680" y="2898648"/>
              <a:ext cx="26517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Averaging projection</a:t>
              </a:r>
            </a:p>
          </p:txBody>
        </p:sp>
        <p:sp>
          <p:nvSpPr>
            <p:cNvPr id="13" name="plot:Whole-cell averaging"/>
            <p:cNvSpPr txBox="1"/>
            <p:nvPr/>
          </p:nvSpPr>
          <p:spPr>
            <a:xfrm>
              <a:off x="868680" y="3511296"/>
              <a:ext cx="32004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Whole-cell averaging</a:t>
              </a:r>
            </a:p>
          </p:txBody>
        </p:sp>
        <p:sp>
          <p:nvSpPr>
            <p:cNvPr id="14" name="Rectangle 13"/>
            <p:cNvSpPr/>
            <p:nvPr/>
          </p:nvSpPr>
          <p:spPr>
            <a:xfrm>
              <a:off x="4251960" y="3557016"/>
              <a:ext cx="6446520" cy="457200"/>
            </a:xfrm>
            <a:prstGeom prst="rect">
              <a:avLst/>
            </a:prstGeom>
            <a:solidFill>
              <a:srgbClr val="F1F4F6"/>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5596128" y="3383280"/>
              <a:ext cx="0" cy="859536"/>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165592" y="3383280"/>
              <a:ext cx="0" cy="859536"/>
            </a:xfrm>
            <a:prstGeom prst="line">
              <a:avLst/>
            </a:prstGeom>
            <a:ln w="26670">
              <a:solidFill>
                <a:srgbClr val="A87532"/>
              </a:solidFill>
            </a:ln>
          </p:spPr>
          <p:style>
            <a:lnRef idx="2">
              <a:schemeClr val="accent1"/>
            </a:lnRef>
            <a:fillRef idx="0">
              <a:schemeClr val="accent1"/>
            </a:fillRef>
            <a:effectRef idx="1">
              <a:schemeClr val="accent1"/>
            </a:effectRef>
            <a:fontRef idx="minor">
              <a:schemeClr val="tx1"/>
            </a:fontRef>
          </p:style>
        </p:cxnSp>
        <p:sp>
          <p:nvSpPr>
            <p:cNvPr id="17" name="plot:Same total mass; wrong traffic between effects"/>
            <p:cNvSpPr txBox="1"/>
            <p:nvPr/>
          </p:nvSpPr>
          <p:spPr>
            <a:xfrm>
              <a:off x="4709160" y="4251960"/>
              <a:ext cx="56235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A87532"/>
                  </a:solidFill>
                  <a:latin typeface="Calibri"/>
                </a:defRPr>
              </a:pPr>
              <a:r>
                <a:t>Same total mass; wrong traffic between effects</a:t>
              </a:r>
            </a:p>
          </p:txBody>
        </p:sp>
      </p:grpSp>
      <p:sp>
        <p:nvSpPr>
          <p:cNvPr id="19" name="body:Births and braking now have local checks; ordinary waves still govern the effects' motion."/>
          <p:cNvSpPr txBox="1"/>
          <p:nvPr/>
        </p:nvSpPr>
        <p:spPr>
          <a:xfrm>
            <a:off x="749808" y="496519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Births and braking now have local checks; ordinary waves still govern the effects' motion.</a:t>
            </a:r>
          </a:p>
        </p:txBody>
      </p:sp>
      <p:sp>
        <p:nvSpPr>
          <p:cNvPr id="20" name="body:Unchanged averaging loses the gaps; restriction-aware fields give local coupled evolution."/>
          <p:cNvSpPr txBox="1"/>
          <p:nvPr/>
        </p:nvSpPr>
        <p:spPr>
          <a:xfrm>
            <a:off x="749808" y="540410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Unchanged averaging loses the gaps; restriction-aware fields give local coupled evolution.</a:t>
            </a:r>
          </a:p>
        </p:txBody>
      </p:sp>
      <p:sp>
        <p:nvSpPr>
          <p:cNvPr id="21" name="body:The remaining issue is a complete shared update of motion, transfers and the next field."/>
          <p:cNvSpPr txBox="1"/>
          <p:nvPr/>
        </p:nvSpPr>
        <p:spPr>
          <a:xfrm>
            <a:off x="749808" y="584301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The remaining issue is a complete shared update of motion, transfers and the next field.</a:t>
            </a:r>
          </a:p>
        </p:txBody>
      </p:sp>
      <p:sp>
        <p:nvSpPr>
          <p:cNvPr id="22" name="argument:Information value can only be tested after the shared update predicts its own next state."/>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Information value can only be tested after the shared update predicts its own next state.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A candidate chain; the task remains open"/>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A candidate chain; the task remains open</a:t>
            </a:r>
          </a:p>
        </p:txBody>
      </p:sp>
      <p:sp>
        <p:nvSpPr>
          <p:cNvPr id="3" name="body:Local checks support the chain; useful gradients are not established."/>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Local checks support the chain; useful gradients are not established.</a:t>
            </a:r>
          </a:p>
        </p:txBody>
      </p:sp>
      <p:grpSp>
        <p:nvGrpSpPr>
          <p:cNvPr id="16" name="diagram:forward chain with explicit own-state update feedback"/>
          <p:cNvGrpSpPr/>
          <p:nvPr/>
        </p:nvGrpSpPr>
        <p:grpSpPr>
          <a:xfrm>
            <a:off x="713232" y="1920240"/>
            <a:ext cx="10789920" cy="1371600"/>
            <a:chOff x="713232" y="1920240"/>
            <a:chExt cx="10789920" cy="1371600"/>
          </a:xfrm>
        </p:grpSpPr>
        <p:grpSp>
          <p:nvGrpSpPr>
            <p:cNvPr id="11" name="diagram:causal sensitivity chain"/>
            <p:cNvGrpSpPr/>
            <p:nvPr/>
          </p:nvGrpSpPr>
          <p:grpSpPr>
            <a:xfrm>
              <a:off x="713232" y="1920240"/>
              <a:ext cx="10789920" cy="704088"/>
              <a:chOff x="713232" y="1920240"/>
              <a:chExt cx="10789920" cy="704088"/>
            </a:xfrm>
          </p:grpSpPr>
          <p:sp>
            <p:nvSpPr>
              <p:cNvPr id="4" name="plot:Rate permission / + finite ramp"/>
              <p:cNvSpPr txBox="1"/>
              <p:nvPr/>
            </p:nvSpPr>
            <p:spPr>
              <a:xfrm>
                <a:off x="713232" y="1920240"/>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Rate permission</a:t>
                </a:r>
              </a:p>
              <a:p>
                <a:pPr algn="ctr">
                  <a:spcBef>
                    <a:spcPts val="0"/>
                  </a:spcBef>
                  <a:spcAft>
                    <a:spcPts val="0"/>
                  </a:spcAft>
                  <a:defRPr sz="1800" b="1">
                    <a:solidFill>
                      <a:srgbClr val="267D86"/>
                    </a:solidFill>
                    <a:latin typeface="Calibri"/>
                  </a:defRPr>
                </a:pPr>
                <a:r>
                  <a:t>+ finite ramp</a:t>
                </a:r>
              </a:p>
            </p:txBody>
          </p:sp>
          <p:sp>
            <p:nvSpPr>
              <p:cNvPr id="5" name="Right Arrow 4"/>
              <p:cNvSpPr/>
              <p:nvPr/>
            </p:nvSpPr>
            <p:spPr>
              <a:xfrm>
                <a:off x="3193542" y="2194560"/>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ot:Lane-wise field / ↔ moving effects"/>
              <p:cNvSpPr txBox="1"/>
              <p:nvPr/>
            </p:nvSpPr>
            <p:spPr>
              <a:xfrm>
                <a:off x="3490722" y="1920240"/>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Lane-wise field</a:t>
                </a:r>
              </a:p>
              <a:p>
                <a:pPr algn="ctr">
                  <a:spcBef>
                    <a:spcPts val="0"/>
                  </a:spcBef>
                  <a:spcAft>
                    <a:spcPts val="0"/>
                  </a:spcAft>
                  <a:defRPr sz="1800" b="1">
                    <a:solidFill>
                      <a:srgbClr val="267D86"/>
                    </a:solidFill>
                    <a:latin typeface="Calibri"/>
                  </a:defRPr>
                </a:pPr>
                <a:r>
                  <a:t>↔ moving effects</a:t>
                </a:r>
              </a:p>
            </p:txBody>
          </p:sp>
          <p:sp>
            <p:nvSpPr>
              <p:cNvPr id="7" name="Right Arrow 6"/>
              <p:cNvSpPr/>
              <p:nvPr/>
            </p:nvSpPr>
            <p:spPr>
              <a:xfrm>
                <a:off x="5971032" y="2194560"/>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ot:Shared transfers / + own counts"/>
              <p:cNvSpPr txBox="1"/>
              <p:nvPr/>
            </p:nvSpPr>
            <p:spPr>
              <a:xfrm>
                <a:off x="6268212" y="1920240"/>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Shared transfers</a:t>
                </a:r>
              </a:p>
              <a:p>
                <a:pPr algn="ctr">
                  <a:spcBef>
                    <a:spcPts val="0"/>
                  </a:spcBef>
                  <a:spcAft>
                    <a:spcPts val="0"/>
                  </a:spcAft>
                  <a:defRPr sz="1800" b="1">
                    <a:solidFill>
                      <a:srgbClr val="267D86"/>
                    </a:solidFill>
                    <a:latin typeface="Calibri"/>
                  </a:defRPr>
                </a:pPr>
                <a:r>
                  <a:t>+ own counts</a:t>
                </a:r>
              </a:p>
            </p:txBody>
          </p:sp>
          <p:sp>
            <p:nvSpPr>
              <p:cNvPr id="9" name="Right Arrow 8"/>
              <p:cNvSpPr/>
              <p:nvPr/>
            </p:nvSpPr>
            <p:spPr>
              <a:xfrm>
                <a:off x="8748522" y="2194560"/>
                <a:ext cx="274320" cy="201168"/>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lot:Sampled births / + next state"/>
              <p:cNvSpPr txBox="1"/>
              <p:nvPr/>
            </p:nvSpPr>
            <p:spPr>
              <a:xfrm>
                <a:off x="9045702" y="1920240"/>
                <a:ext cx="2457450" cy="704088"/>
              </a:xfrm>
              <a:prstGeom prst="rect">
                <a:avLst/>
              </a:prstGeom>
              <a:noFill/>
            </p:spPr>
            <p:txBody>
              <a:bodyPr wrap="none" lIns="32004" rIns="32004" tIns="18288" bIns="18288" anchor="ctr">
                <a:spAutoFit/>
              </a:bodyPr>
              <a:lstStyle/>
              <a:p>
                <a:pPr algn="ctr">
                  <a:spcBef>
                    <a:spcPts val="0"/>
                  </a:spcBef>
                  <a:spcAft>
                    <a:spcPts val="0"/>
                  </a:spcAft>
                  <a:defRPr sz="1800" b="1">
                    <a:solidFill>
                      <a:srgbClr val="267D86"/>
                    </a:solidFill>
                    <a:latin typeface="Calibri"/>
                  </a:defRPr>
                </a:pPr>
                <a:r>
                  <a:t>Sampled births</a:t>
                </a:r>
              </a:p>
              <a:p>
                <a:pPr algn="ctr">
                  <a:spcBef>
                    <a:spcPts val="0"/>
                  </a:spcBef>
                  <a:spcAft>
                    <a:spcPts val="0"/>
                  </a:spcAft>
                  <a:defRPr sz="1800" b="1">
                    <a:solidFill>
                      <a:srgbClr val="267D86"/>
                    </a:solidFill>
                    <a:latin typeface="Calibri"/>
                  </a:defRPr>
                </a:pPr>
                <a:r>
                  <a:t>+ next state</a:t>
                </a:r>
              </a:p>
            </p:txBody>
          </p:sp>
        </p:grpSp>
        <p:cxnSp>
          <p:nvCxnSpPr>
            <p:cNvPr id="12" name="Connector 11"/>
            <p:cNvCxnSpPr/>
            <p:nvPr/>
          </p:nvCxnSpPr>
          <p:spPr>
            <a:xfrm>
              <a:off x="10277856" y="2706624"/>
              <a:ext cx="0" cy="219456"/>
            </a:xfrm>
            <a:prstGeom prst="line">
              <a:avLst/>
            </a:prstGeom>
            <a:ln w="20320">
              <a:solidFill>
                <a:srgbClr val="267D8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4718304" y="2926080"/>
              <a:ext cx="5559552" cy="0"/>
            </a:xfrm>
            <a:prstGeom prst="line">
              <a:avLst/>
            </a:prstGeom>
            <a:ln w="20320">
              <a:solidFill>
                <a:srgbClr val="267D8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4718304" y="2706624"/>
              <a:ext cx="0" cy="219456"/>
            </a:xfrm>
            <a:prstGeom prst="line">
              <a:avLst/>
            </a:prstGeom>
            <a:ln w="20320">
              <a:solidFill>
                <a:srgbClr val="267D86"/>
              </a:solidFill>
              <a:tailEnd type="triangle"/>
            </a:ln>
          </p:spPr>
          <p:style>
            <a:lnRef idx="2">
              <a:schemeClr val="accent1"/>
            </a:lnRef>
            <a:fillRef idx="0">
              <a:schemeClr val="accent1"/>
            </a:fillRef>
            <a:effectRef idx="1">
              <a:schemeClr val="accent1"/>
            </a:effectRef>
            <a:fontRef idx="minor">
              <a:schemeClr val="tx1"/>
            </a:fontRef>
          </p:style>
        </p:cxnSp>
        <p:sp>
          <p:nvSpPr>
            <p:cNvPr id="15" name="plot:Completed own state → next interval"/>
            <p:cNvSpPr txBox="1"/>
            <p:nvPr/>
          </p:nvSpPr>
          <p:spPr>
            <a:xfrm>
              <a:off x="4910328" y="2980944"/>
              <a:ext cx="5943600"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Completed own state → next interval</a:t>
              </a:r>
            </a:p>
          </p:txBody>
        </p:sp>
      </p:grpSp>
      <p:sp>
        <p:nvSpPr>
          <p:cNvPr id="17" name="body:Established: continuous accounting, selected service rules and local coupled certificates."/>
          <p:cNvSpPr txBox="1"/>
          <p:nvPr/>
        </p:nvSpPr>
        <p:spPr>
          <a:xfrm>
            <a:off x="749808" y="337413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Established: continuous accounting, selected service rules and local coupled certificates.</a:t>
            </a:r>
          </a:p>
        </p:txBody>
      </p:sp>
      <p:sp>
        <p:nvSpPr>
          <p:cNvPr id="18" name="body:Static shared-service check: queue growth alone does not earn extra priority."/>
          <p:cNvSpPr txBox="1"/>
          <p:nvPr/>
        </p:nvSpPr>
        <p:spPr>
          <a:xfrm>
            <a:off x="749808" y="393192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Static shared-service check: queue growth alone does not earn extra priority.</a:t>
            </a:r>
          </a:p>
        </p:txBody>
      </p:sp>
      <p:sp>
        <p:nvSpPr>
          <p:cNvPr id="19" name="body:Open now: the ordinary traffic profile preserved at the next timestep."/>
          <p:cNvSpPr txBox="1"/>
          <p:nvPr/>
        </p:nvSpPr>
        <p:spPr>
          <a:xfrm>
            <a:off x="749808" y="448970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Open now: the ordinary traffic profile preserved at the next timestep.</a:t>
            </a:r>
          </a:p>
        </p:txBody>
      </p:sp>
      <p:sp>
        <p:nvSpPr>
          <p:cNvPr id="20" name="body:Still needed: repeated evolution, clearance and full-system control response."/>
          <p:cNvSpPr txBox="1"/>
          <p:nvPr/>
        </p:nvSpPr>
        <p:spPr>
          <a:xfrm>
            <a:off x="749808" y="50474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Still needed: repeated evolution, clearance and full-system control response.</a:t>
            </a:r>
          </a:p>
        </p:txBody>
      </p:sp>
      <p:sp>
        <p:nvSpPr>
          <p:cNvPr id="21" name="body:Then: fair independent reductions, gradient correctness and decision usefulness."/>
          <p:cNvSpPr txBox="1"/>
          <p:nvPr/>
        </p:nvSpPr>
        <p:spPr>
          <a:xfrm>
            <a:off x="749808" y="560527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Then: fair independent reductions, gradient correctness and decision usefulness.</a:t>
            </a:r>
          </a:p>
        </p:txBody>
      </p:sp>
      <p:sp>
        <p:nvSpPr>
          <p:cNvPr id="22" name="argument:Local construction is supported; full control-response and gradient claims remain open."/>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Local construction is supported; full control-response and gradient claims remain open.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effect creation and recovery"/>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effect creation and recovery</a:t>
            </a:r>
          </a:p>
        </p:txBody>
      </p:sp>
      <p:sp>
        <p:nvSpPr>
          <p:cNvPr id="3" name="body:A transfer counter creates an effect record; it never creates extra traffic."/>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transfer counter creates an effect record; it never creates extra traffic.</a:t>
            </a:r>
          </a:p>
        </p:txBody>
      </p:sp>
      <p:grpSp>
        <p:nvGrpSpPr>
          <p:cNvPr id="12" name="diagram:continuous actual mass and sampled descriptor threshold"/>
          <p:cNvGrpSpPr/>
          <p:nvPr/>
        </p:nvGrpSpPr>
        <p:grpSpPr>
          <a:xfrm>
            <a:off x="914400" y="1920240"/>
            <a:ext cx="9966960" cy="1728216"/>
            <a:chOff x="914400" y="1920240"/>
            <a:chExt cx="9966960" cy="1728216"/>
          </a:xfrm>
        </p:grpSpPr>
        <p:sp>
          <p:nvSpPr>
            <p:cNvPr id="4" name="plot:Illustrative threshold: 1 equivalent"/>
            <p:cNvSpPr txBox="1"/>
            <p:nvPr/>
          </p:nvSpPr>
          <p:spPr>
            <a:xfrm>
              <a:off x="914400" y="1920240"/>
              <a:ext cx="502920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Illustrative threshold: 1 equivalent</a:t>
              </a:r>
            </a:p>
          </p:txBody>
        </p:sp>
        <p:sp>
          <p:nvSpPr>
            <p:cNvPr id="5" name="Rectangle 4"/>
            <p:cNvSpPr/>
            <p:nvPr/>
          </p:nvSpPr>
          <p:spPr>
            <a:xfrm>
              <a:off x="932688" y="2660904"/>
              <a:ext cx="7772400" cy="219456"/>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32688" y="2660904"/>
              <a:ext cx="3108960" cy="219456"/>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041648" y="2660904"/>
              <a:ext cx="4663440" cy="219456"/>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 name="Connector 7"/>
            <p:cNvCxnSpPr/>
            <p:nvPr/>
          </p:nvCxnSpPr>
          <p:spPr>
            <a:xfrm>
              <a:off x="4041648" y="2523744"/>
              <a:ext cx="0" cy="649224"/>
            </a:xfrm>
            <a:prstGeom prst="line">
              <a:avLst/>
            </a:prstGeom>
            <a:ln w="21590">
              <a:solidFill>
                <a:srgbClr val="7D879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705088" y="2523744"/>
              <a:ext cx="0" cy="649224"/>
            </a:xfrm>
            <a:prstGeom prst="line">
              <a:avLst/>
            </a:prstGeom>
            <a:ln w="27940">
              <a:solidFill>
                <a:srgbClr val="A87532"/>
              </a:solidFill>
            </a:ln>
          </p:spPr>
          <p:style>
            <a:lnRef idx="2">
              <a:schemeClr val="accent1"/>
            </a:lnRef>
            <a:fillRef idx="0">
              <a:schemeClr val="accent1"/>
            </a:fillRef>
            <a:effectRef idx="1">
              <a:schemeClr val="accent1"/>
            </a:effectRef>
            <a:fontRef idx="minor">
              <a:schemeClr val="tx1"/>
            </a:fontRef>
          </p:style>
        </p:cxnSp>
        <p:sp>
          <p:nvSpPr>
            <p:cNvPr id="10" name="plot:0.4: no new record"/>
            <p:cNvSpPr txBox="1"/>
            <p:nvPr/>
          </p:nvSpPr>
          <p:spPr>
            <a:xfrm>
              <a:off x="932688" y="3264408"/>
              <a:ext cx="32918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0.4: no new record</a:t>
              </a:r>
            </a:p>
          </p:txBody>
        </p:sp>
        <p:sp>
          <p:nvSpPr>
            <p:cNvPr id="11" name="plot:Then 0.6: one record at the next update"/>
            <p:cNvSpPr txBox="1"/>
            <p:nvPr/>
          </p:nvSpPr>
          <p:spPr>
            <a:xfrm>
              <a:off x="4572000" y="3264408"/>
              <a:ext cx="63093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Then 0.6: one record at the next update</a:t>
              </a:r>
            </a:p>
          </p:txBody>
        </p:sp>
      </p:grpSp>
      <p:sp>
        <p:nvSpPr>
          <p:cNvPr id="13" name="body:Counter progress persists when entries pause; all accepted mass stays accounted for."/>
          <p:cNvSpPr txBox="1"/>
          <p:nvPr/>
        </p:nvSpPr>
        <p:spPr>
          <a:xfrm>
            <a:off x="749808" y="4014215"/>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Counter progress persists when entries pause; all accepted mass stays accounted for.</a:t>
            </a:r>
          </a:p>
        </p:txBody>
      </p:sp>
      <p:sp>
        <p:nvSpPr>
          <p:cNvPr id="14" name="body:Recovery also needs the traffic ahead: identical mean speeds can evolve differently."/>
          <p:cNvSpPr txBox="1"/>
          <p:nvPr/>
        </p:nvSpPr>
        <p:spPr>
          <a:xfrm>
            <a:off x="749808" y="451713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Recovery also needs the traffic ahead: identical mean speeds can evolve differently.</a:t>
            </a:r>
          </a:p>
        </p:txBody>
      </p:sp>
      <p:pic>
        <p:nvPicPr>
          <p:cNvPr id="15" name="math:mean_braking" descr="mean_braking.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58805" y="5138928"/>
            <a:ext cx="5062197" cy="978408"/>
          </a:xfrm>
          <a:prstGeom prst="rect">
            <a:avLst/>
          </a:prstGeom>
        </p:spPr>
      </p:pic>
      <p:sp>
        <p:nvSpPr>
          <p:cNvPr id="16" name="argument:Creation memory is qualified locally; recovery still needs the surrounding traffic field."/>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Creation memory is qualified locally; recovery still needs the surrounding traffic field.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amounts versus rate ceilings"/>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amounts versus rate ceilings</a:t>
            </a:r>
          </a:p>
        </p:txBody>
      </p:sp>
      <p:sp>
        <p:nvSpPr>
          <p:cNvPr id="3" name="body:A 25% lane-change request limits mass; it need not limit instantaneous sending."/>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25% lane-change request limits mass; it need not limit instantaneous sending.</a:t>
            </a:r>
          </a:p>
        </p:txBody>
      </p:sp>
      <p:pic>
        <p:nvPicPr>
          <p:cNvPr id="4" name="math:amount_and_service" descr="amount_and_service.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8648" y="1828800"/>
            <a:ext cx="8457374" cy="1115568"/>
          </a:xfrm>
          <a:prstGeom prst="rect">
            <a:avLst/>
          </a:prstGeom>
        </p:spPr>
      </p:pic>
      <p:grpSp>
        <p:nvGrpSpPr>
          <p:cNvPr id="12" name="diagram:same late arrival under two explicit sender rules"/>
          <p:cNvGrpSpPr/>
          <p:nvPr/>
        </p:nvGrpSpPr>
        <p:grpSpPr>
          <a:xfrm>
            <a:off x="941832" y="3520440"/>
            <a:ext cx="9848088" cy="1801368"/>
            <a:chOff x="941832" y="3520440"/>
            <a:chExt cx="9848088" cy="1801368"/>
          </a:xfrm>
        </p:grpSpPr>
        <p:sp>
          <p:nvSpPr>
            <p:cNvPr id="5" name="plot:Extra direction-specific rate cap"/>
            <p:cNvSpPr txBox="1"/>
            <p:nvPr/>
          </p:nvSpPr>
          <p:spPr>
            <a:xfrm>
              <a:off x="941832" y="3520440"/>
              <a:ext cx="42062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Extra direction-specific rate cap</a:t>
              </a:r>
            </a:p>
          </p:txBody>
        </p:sp>
        <p:sp>
          <p:nvSpPr>
            <p:cNvPr id="6" name="plot:Accepted: shared sending"/>
            <p:cNvSpPr txBox="1"/>
            <p:nvPr/>
          </p:nvSpPr>
          <p:spPr>
            <a:xfrm>
              <a:off x="941832" y="4343400"/>
              <a:ext cx="4553712"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67D86"/>
                  </a:solidFill>
                  <a:latin typeface="Calibri"/>
                </a:defRPr>
              </a:pPr>
              <a:r>
                <a:t>Accepted: shared sending</a:t>
              </a:r>
            </a:p>
          </p:txBody>
        </p:sp>
        <p:sp>
          <p:nvSpPr>
            <p:cNvPr id="7" name="Rectangle 6"/>
            <p:cNvSpPr/>
            <p:nvPr/>
          </p:nvSpPr>
          <p:spPr>
            <a:xfrm>
              <a:off x="5577840" y="3602736"/>
              <a:ext cx="4315968" cy="256032"/>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577840" y="3602736"/>
              <a:ext cx="1078992" cy="256032"/>
            </a:xfrm>
            <a:prstGeom prst="rect">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4425696"/>
              <a:ext cx="4315968" cy="256032"/>
            </a:xfrm>
            <a:prstGeom prst="rect">
              <a:avLst/>
            </a:prstGeom>
            <a:solidFill>
              <a:srgbClr val="F1F4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0" y="4425696"/>
              <a:ext cx="4315968" cy="256032"/>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lot:Accepted mass in the final 0.1 s"/>
            <p:cNvSpPr txBox="1"/>
            <p:nvPr/>
          </p:nvSpPr>
          <p:spPr>
            <a:xfrm>
              <a:off x="5577840" y="4937760"/>
              <a:ext cx="52120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Accepted mass in the final 0.1 s</a:t>
              </a:r>
            </a:p>
          </p:txBody>
        </p:sp>
      </p:grpSp>
      <p:sp>
        <p:nvSpPr>
          <p:cNvPr id="13" name="body:Through is blocked; the lateral target is free; the amount allowance is not exhausted."/>
          <p:cNvSpPr txBox="1"/>
          <p:nvPr/>
        </p:nvSpPr>
        <p:spPr>
          <a:xfrm>
            <a:off x="749808" y="5541264"/>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Through is blocked; the lateral target is free; the amount allowance is not exhausted.</a:t>
            </a:r>
          </a:p>
        </p:txBody>
      </p:sp>
      <p:sp>
        <p:nvSpPr>
          <p:cNvPr id="14" name="body:Queue growth changes availability, not the fixed competition weight or allowed mass."/>
          <p:cNvSpPr txBox="1"/>
          <p:nvPr/>
        </p:nvSpPr>
        <p:spPr>
          <a:xfrm>
            <a:off x="749808" y="6007607"/>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Queue growth changes availability, not the fixed competition weight or allowed mass.</a:t>
            </a:r>
          </a:p>
        </p:txBody>
      </p:sp>
      <p:sp>
        <p:nvSpPr>
          <p:cNvPr id="15" name="argument:The accepted service rule helps join disturbance state to conservative traffic flow."/>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The accepted service rule helps join disturbance state to conservative traffic flow.</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records do not preserve the field"/>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records do not preserve the field</a:t>
            </a:r>
          </a:p>
        </p:txBody>
      </p:sp>
      <p:sp>
        <p:nvSpPr>
          <p:cNvPr id="3" name="body:Where the same mass sits determines when it can reach the transfer port."/>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Where the same mass sits determines when it can reach the transfer port.</a:t>
            </a:r>
          </a:p>
        </p:txBody>
      </p:sp>
      <p:grpSp>
        <p:nvGrpSpPr>
          <p:cNvPr id="16" name="diagram:same cell totals different physical arrival times"/>
          <p:cNvGrpSpPr/>
          <p:nvPr/>
        </p:nvGrpSpPr>
        <p:grpSpPr>
          <a:xfrm>
            <a:off x="950976" y="1938528"/>
            <a:ext cx="10058400" cy="3621024"/>
            <a:chOff x="950976" y="1938528"/>
            <a:chExt cx="10058400" cy="3621024"/>
          </a:xfrm>
        </p:grpSpPr>
        <p:sp>
          <p:nvSpPr>
            <p:cNvPr id="4" name="plot:Same 30 m cell; 0.45 equivalents; same request and boundary counts"/>
            <p:cNvSpPr txBox="1"/>
            <p:nvPr/>
          </p:nvSpPr>
          <p:spPr>
            <a:xfrm>
              <a:off x="950976" y="1938528"/>
              <a:ext cx="9966960" cy="384048"/>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Same 30 m cell; 0.45 equivalents; same request and boundary counts</a:t>
              </a:r>
            </a:p>
          </p:txBody>
        </p:sp>
        <p:sp>
          <p:nvSpPr>
            <p:cNvPr id="5" name="plot:Traffic at the exit"/>
            <p:cNvSpPr txBox="1"/>
            <p:nvPr/>
          </p:nvSpPr>
          <p:spPr>
            <a:xfrm>
              <a:off x="950976" y="2761488"/>
              <a:ext cx="28803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Traffic at the exit</a:t>
              </a:r>
            </a:p>
          </p:txBody>
        </p:sp>
        <p:sp>
          <p:nvSpPr>
            <p:cNvPr id="6" name="Rectangle 5"/>
            <p:cNvSpPr/>
            <p:nvPr/>
          </p:nvSpPr>
          <p:spPr>
            <a:xfrm>
              <a:off x="3968496" y="2770632"/>
              <a:ext cx="5989320"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358884" y="2802636"/>
              <a:ext cx="598932" cy="365760"/>
            </a:xfrm>
            <a:prstGeom prst="rect">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Arrow 7"/>
            <p:cNvSpPr/>
            <p:nvPr/>
          </p:nvSpPr>
          <p:spPr>
            <a:xfrm>
              <a:off x="10067544" y="2898648"/>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lot:Immediate service; 0.1125 equivalents transferred"/>
            <p:cNvSpPr txBox="1"/>
            <p:nvPr/>
          </p:nvSpPr>
          <p:spPr>
            <a:xfrm>
              <a:off x="3968496" y="3429000"/>
              <a:ext cx="6729984"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Immediate service; 0.1125 equivalents transferred</a:t>
              </a:r>
            </a:p>
          </p:txBody>
        </p:sp>
        <p:sp>
          <p:nvSpPr>
            <p:cNvPr id="10" name="plot:Traffic at the entrance"/>
            <p:cNvSpPr txBox="1"/>
            <p:nvPr/>
          </p:nvSpPr>
          <p:spPr>
            <a:xfrm>
              <a:off x="950976" y="4187952"/>
              <a:ext cx="288036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Traffic at the entrance</a:t>
              </a:r>
            </a:p>
          </p:txBody>
        </p:sp>
        <p:sp>
          <p:nvSpPr>
            <p:cNvPr id="11" name="Rectangle 10"/>
            <p:cNvSpPr/>
            <p:nvPr/>
          </p:nvSpPr>
          <p:spPr>
            <a:xfrm>
              <a:off x="3968496" y="4197096"/>
              <a:ext cx="5989320" cy="429768"/>
            </a:xfrm>
            <a:prstGeom prst="rect">
              <a:avLst/>
            </a:prstGeom>
            <a:solidFill>
              <a:srgbClr val="FFFFFF"/>
            </a:solidFill>
            <a:ln w="16510">
              <a:solidFill>
                <a:srgbClr val="7D879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68496" y="4229100"/>
              <a:ext cx="598932" cy="365760"/>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10067544" y="4325112"/>
              <a:ext cx="329184" cy="164592"/>
            </a:xfrm>
            <a:prstGeom prst="rightArrow">
              <a:avLst/>
            </a:prstGeom>
            <a:solidFill>
              <a:srgbClr val="267D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4736592" y="4919472"/>
              <a:ext cx="5212080" cy="0"/>
            </a:xfrm>
            <a:prstGeom prst="line">
              <a:avLst/>
            </a:prstGeom>
            <a:ln w="22860">
              <a:solidFill>
                <a:srgbClr val="416F9B"/>
              </a:solidFill>
              <a:tailEnd type="triangle"/>
            </a:ln>
          </p:spPr>
          <p:style>
            <a:lnRef idx="2">
              <a:schemeClr val="accent1"/>
            </a:lnRef>
            <a:fillRef idx="0">
              <a:schemeClr val="accent1"/>
            </a:fillRef>
            <a:effectRef idx="1">
              <a:schemeClr val="accent1"/>
            </a:effectRef>
            <a:fontRef idx="minor">
              <a:schemeClr val="tx1"/>
            </a:fontRef>
          </p:style>
        </p:cxnSp>
        <p:sp>
          <p:nvSpPr>
            <p:cNvPr id="15" name="plot:Arrival at 0.9 s; 0.0643 equivalents transferred"/>
            <p:cNvSpPr txBox="1"/>
            <p:nvPr/>
          </p:nvSpPr>
          <p:spPr>
            <a:xfrm>
              <a:off x="3968496" y="5175504"/>
              <a:ext cx="704088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416F9B"/>
                  </a:solidFill>
                  <a:latin typeface="Calibri"/>
                </a:defRPr>
              </a:pPr>
              <a:r>
                <a:t>Arrival at 0.9 s; 0.0643 equivalents transferred</a:t>
              </a:r>
            </a:p>
          </p:txBody>
        </p:sp>
      </p:grpSp>
      <p:sp>
        <p:nvSpPr>
          <p:cNvPr id="17" name="body:A spatial macro model can retain this difference; it is not an identity-necessity result."/>
          <p:cNvSpPr txBox="1"/>
          <p:nvPr/>
        </p:nvSpPr>
        <p:spPr>
          <a:xfrm>
            <a:off x="749808" y="5577840"/>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A spatial macro model can retain this difference; it is not an identity-necessity result.</a:t>
            </a:r>
          </a:p>
        </p:txBody>
      </p:sp>
      <p:sp>
        <p:nvSpPr>
          <p:cNvPr id="18" name="body:Open choice: carry the completed profile, or qualify an explicit numerical reconstruction."/>
          <p:cNvSpPr txBox="1"/>
          <p:nvPr/>
        </p:nvSpPr>
        <p:spPr>
          <a:xfrm>
            <a:off x="749808" y="5980176"/>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Open choice: carry the completed profile, or qualify an explicit numerical reconstruction.</a:t>
            </a:r>
          </a:p>
        </p:txBody>
      </p:sp>
      <p:sp>
        <p:nvSpPr>
          <p:cNvPr id="19" name="argument:A faithful reference is needed before errors can be attributed to omitted effect records."/>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A faithful reference is needed before errors can be attributed to omitted effect records.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Technical: the useful-gradient evidence chain"/>
          <p:cNvSpPr txBox="1"/>
          <p:nvPr/>
        </p:nvSpPr>
        <p:spPr>
          <a:xfrm>
            <a:off x="594360" y="365760"/>
            <a:ext cx="10991088" cy="658368"/>
          </a:xfrm>
          <a:prstGeom prst="rect">
            <a:avLst/>
          </a:prstGeom>
          <a:noFill/>
        </p:spPr>
        <p:txBody>
          <a:bodyPr wrap="none" lIns="32004" rIns="32004" tIns="18288" bIns="18288" anchor="t">
            <a:spAutoFit/>
          </a:bodyPr>
          <a:lstStyle/>
          <a:p>
            <a:pPr algn="l">
              <a:spcBef>
                <a:spcPts val="0"/>
              </a:spcBef>
              <a:spcAft>
                <a:spcPts val="0"/>
              </a:spcAft>
              <a:defRPr sz="3200" b="1">
                <a:solidFill>
                  <a:srgbClr val="243341"/>
                </a:solidFill>
                <a:latin typeface="Calibri"/>
              </a:defRPr>
            </a:pPr>
            <a:r>
              <a:t>Technical: the useful-gradient evidence chain</a:t>
            </a:r>
          </a:p>
        </p:txBody>
      </p:sp>
      <p:sp>
        <p:nvSpPr>
          <p:cNvPr id="3" name="body:A useful direction must improve complete exit timing, including traffic held back."/>
          <p:cNvSpPr txBox="1"/>
          <p:nvPr/>
        </p:nvSpPr>
        <p:spPr>
          <a:xfrm>
            <a:off x="731520" y="1261872"/>
            <a:ext cx="10835640" cy="438912"/>
          </a:xfrm>
          <a:prstGeom prst="rect">
            <a:avLst/>
          </a:prstGeom>
          <a:noFill/>
        </p:spPr>
        <p:txBody>
          <a:bodyPr wrap="none" lIns="32004" rIns="32004" tIns="18288" bIns="18288" anchor="t">
            <a:spAutoFit/>
          </a:bodyPr>
          <a:lstStyle/>
          <a:p>
            <a:pPr algn="l">
              <a:spcBef>
                <a:spcPts val="0"/>
              </a:spcBef>
              <a:spcAft>
                <a:spcPts val="0"/>
              </a:spcAft>
              <a:defRPr sz="1800" b="1">
                <a:solidFill>
                  <a:srgbClr val="243341"/>
                </a:solidFill>
                <a:latin typeface="Calibri"/>
              </a:defRPr>
            </a:pPr>
            <a:r>
              <a:t>A useful direction must improve complete exit timing, including traffic held back.</a:t>
            </a:r>
          </a:p>
        </p:txBody>
      </p:sp>
      <p:grpSp>
        <p:nvGrpSpPr>
          <p:cNvPr id="11" name="diagram:all-stream population included in system time"/>
          <p:cNvGrpSpPr/>
          <p:nvPr/>
        </p:nvGrpSpPr>
        <p:grpSpPr>
          <a:xfrm>
            <a:off x="941832" y="2002536"/>
            <a:ext cx="9802368" cy="2276856"/>
            <a:chOff x="941832" y="2002536"/>
            <a:chExt cx="9802368" cy="2276856"/>
          </a:xfrm>
        </p:grpSpPr>
        <p:sp>
          <p:nvSpPr>
            <p:cNvPr id="4" name="plot:Waiting outside"/>
            <p:cNvSpPr txBox="1"/>
            <p:nvPr/>
          </p:nvSpPr>
          <p:spPr>
            <a:xfrm>
              <a:off x="941832" y="2002536"/>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Waiting outside</a:t>
              </a:r>
            </a:p>
          </p:txBody>
        </p:sp>
        <p:sp>
          <p:nvSpPr>
            <p:cNvPr id="5" name="Rectangle 4"/>
            <p:cNvSpPr/>
            <p:nvPr/>
          </p:nvSpPr>
          <p:spPr>
            <a:xfrm>
              <a:off x="4069080" y="2020824"/>
              <a:ext cx="3977639" cy="283464"/>
            </a:xfrm>
            <a:prstGeom prst="rect">
              <a:avLst/>
            </a:prstGeom>
            <a:solidFill>
              <a:srgbClr val="7D87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plot:On the ramp"/>
            <p:cNvSpPr txBox="1"/>
            <p:nvPr/>
          </p:nvSpPr>
          <p:spPr>
            <a:xfrm>
              <a:off x="941832" y="2688336"/>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 the ramp</a:t>
              </a:r>
            </a:p>
          </p:txBody>
        </p:sp>
        <p:sp>
          <p:nvSpPr>
            <p:cNvPr id="7" name="Rectangle 6"/>
            <p:cNvSpPr/>
            <p:nvPr/>
          </p:nvSpPr>
          <p:spPr>
            <a:xfrm>
              <a:off x="4069080" y="2706624"/>
              <a:ext cx="3063240" cy="283464"/>
            </a:xfrm>
            <a:prstGeom prst="rect">
              <a:avLst/>
            </a:prstGeom>
            <a:solidFill>
              <a:srgbClr val="A87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lot:On the mainline"/>
            <p:cNvSpPr txBox="1"/>
            <p:nvPr/>
          </p:nvSpPr>
          <p:spPr>
            <a:xfrm>
              <a:off x="941832" y="3374136"/>
              <a:ext cx="283464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On the mainline</a:t>
              </a:r>
            </a:p>
          </p:txBody>
        </p:sp>
        <p:sp>
          <p:nvSpPr>
            <p:cNvPr id="9" name="Rectangle 8"/>
            <p:cNvSpPr/>
            <p:nvPr/>
          </p:nvSpPr>
          <p:spPr>
            <a:xfrm>
              <a:off x="4069080" y="3392424"/>
              <a:ext cx="5715000" cy="283464"/>
            </a:xfrm>
            <a:prstGeom prst="rect">
              <a:avLst/>
            </a:prstGeom>
            <a:solidFill>
              <a:srgbClr val="416F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lot:Count every not-yet-exited stream (schematic)"/>
            <p:cNvSpPr txBox="1"/>
            <p:nvPr/>
          </p:nvSpPr>
          <p:spPr>
            <a:xfrm>
              <a:off x="4069080" y="3895344"/>
              <a:ext cx="6675120" cy="384048"/>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Count every not-yet-exited stream (schematic)</a:t>
              </a:r>
            </a:p>
          </p:txBody>
        </p:sp>
      </p:grpSp>
      <p:pic>
        <p:nvPicPr>
          <p:cNvPr id="12" name="math:complete_tst" descr="complete_tst.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991411" y="4498848"/>
            <a:ext cx="4270137" cy="658368"/>
          </a:xfrm>
          <a:prstGeom prst="rect">
            <a:avLst/>
          </a:prstGeom>
        </p:spPr>
      </p:pic>
      <p:sp>
        <p:nvSpPr>
          <p:cNvPr id="13" name="body:N: remaining vehicle-equivalent mass; J: total system time until every stream clears."/>
          <p:cNvSpPr txBox="1"/>
          <p:nvPr/>
        </p:nvSpPr>
        <p:spPr>
          <a:xfrm>
            <a:off x="749808" y="5504688"/>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N: remaining vehicle-equivalent mass; J: total system time until every stream clears.</a:t>
            </a:r>
          </a:p>
        </p:txBody>
      </p:sp>
      <p:sp>
        <p:nvSpPr>
          <p:cNvPr id="14" name="body:Finish the forward chain and fair reductions, then verify derivatives and decision gains."/>
          <p:cNvSpPr txBox="1"/>
          <p:nvPr/>
        </p:nvSpPr>
        <p:spPr>
          <a:xfrm>
            <a:off x="749808" y="5925312"/>
            <a:ext cx="10744200" cy="365760"/>
          </a:xfrm>
          <a:prstGeom prst="rect">
            <a:avLst/>
          </a:prstGeom>
          <a:noFill/>
        </p:spPr>
        <p:txBody>
          <a:bodyPr wrap="none" lIns="32004" rIns="32004" tIns="18288" bIns="18288" anchor="t">
            <a:spAutoFit/>
          </a:bodyPr>
          <a:lstStyle/>
          <a:p>
            <a:pPr algn="l">
              <a:spcBef>
                <a:spcPts val="0"/>
              </a:spcBef>
              <a:spcAft>
                <a:spcPts val="0"/>
              </a:spcAft>
              <a:defRPr sz="1800" b="0">
                <a:solidFill>
                  <a:srgbClr val="243341"/>
                </a:solidFill>
                <a:latin typeface="Calibri"/>
              </a:defRPr>
            </a:pPr>
            <a:r>
              <a:t>Finish the forward chain and fair reductions, then verify derivatives and decision gains.</a:t>
            </a:r>
          </a:p>
        </p:txBody>
      </p:sp>
      <p:sp>
        <p:nvSpPr>
          <p:cNvPr id="15" name="argument:A correct forward model and a useful control direction require separate evidence."/>
          <p:cNvSpPr txBox="1"/>
          <p:nvPr/>
        </p:nvSpPr>
        <p:spPr>
          <a:xfrm>
            <a:off x="731520" y="6428232"/>
            <a:ext cx="10863072" cy="310896"/>
          </a:xfrm>
          <a:prstGeom prst="rect">
            <a:avLst/>
          </a:prstGeom>
          <a:noFill/>
        </p:spPr>
        <p:txBody>
          <a:bodyPr wrap="none" lIns="32004" rIns="32004" tIns="18288" bIns="18288" anchor="t">
            <a:spAutoFit/>
          </a:bodyPr>
          <a:lstStyle/>
          <a:p>
            <a:pPr algn="l">
              <a:spcBef>
                <a:spcPts val="0"/>
              </a:spcBef>
              <a:spcAft>
                <a:spcPts val="0"/>
              </a:spcAft>
              <a:defRPr sz="1800" b="0">
                <a:solidFill>
                  <a:srgbClr val="267D86"/>
                </a:solidFill>
                <a:latin typeface="Calibri"/>
              </a:defRPr>
            </a:pPr>
            <a:r>
              <a:t>A correct forward model and a useful control direction require separate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Ramp metering: from hidden information to an adequate control model</dc:title>
  <dc:subject>Method-first ramp-metering task and model-reduction review, through 9 October 2026</dc:subject>
  <dc:creator>Research review</dc:creator>
  <cp:keywords>VSL, ramp metering, hidden information, useful gradients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